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999" cy="6858000" type="wide"/>
  <p:notesSz cx="6858000" cy="9144000"/>
</p:presentation>
</file>

<file path=ppt/_rels/presentation.xml.rels><?xml version="1.0" encoding="UTF-8" standalone="yes"?>
<Relationships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slide" Target="slides/slide1.xml"/>
<Relationship Id="rId3" Type="http://schemas.openxmlformats.org/officeDocument/2006/relationships/theme" Target="theme/theme1.xml"/>
</Relationships>
</file>

<file path=ppt/slideLayouts/_rels/slideLayout1.xml.rels><?xml version="1.0" encoding="UTF-8" standalone="yes"?>
<Relationships xmlns="http://schemas.openxmlformats.org/package/2006/relationships">
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
<Relationship Id="rId1" Type="http://schemas.openxmlformats.org/officeDocument/2006/relationships/image" Target="../media/right_visual.png"/>
<Relationship Id="rId2" Type="http://schemas.openxmlformats.org/officeDocument/2006/relationships/image" Target="../media/ai_motif.png"/>
<Relationship Id="rId3" Type="http://schemas.openxmlformats.org/officeDocument/2006/relationships/image" Target="../media/circuit.png"/>
<Relationship Id="rId4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center circuit texture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5104306" y="546599"/>
            <a:ext cx="3208421" cy="3643996"/>
          </a:xfrm>
          <a:prstGeom prst="rect">
            <a:avLst/>
          </a:prstGeom>
        </p:spPr>
      </p:pic>
      <p:pic>
        <p:nvPicPr>
          <p:cNvPr id="4" name="bottom-left AI circuit texture"/>
          <p:cNvPicPr>
            <a:picLocks noChangeAspect="1"/>
          </p:cNvPicPr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>
            <a:off x="0" y="4445675"/>
            <a:ext cx="2588612" cy="1851150"/>
          </a:xfrm>
          <a:prstGeom prst="rect">
            <a:avLst/>
          </a:prstGeom>
        </p:spPr>
      </p:pic>
      <p:pic>
        <p:nvPicPr>
          <p:cNvPr id="5" name="right infrastructure photo coll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062" y="0"/>
            <a:ext cx="6868938" cy="6296825"/>
          </a:xfrm>
          <a:prstGeom prst="rect">
            <a:avLst/>
          </a:prstGeom>
        </p:spPr>
      </p:pic>
      <p:sp>
        <p:nvSpPr>
          <p:cNvPr id="6" name="subtitle cleanup mask"/>
          <p:cNvSpPr/>
          <p:nvPr/>
        </p:nvSpPr>
        <p:spPr>
          <a:xfrm>
            <a:off x="4958469" y="2900621"/>
            <a:ext cx="1531292" cy="6704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op page number tile"/>
          <p:cNvSpPr/>
          <p:nvPr/>
        </p:nvSpPr>
        <p:spPr>
          <a:xfrm>
            <a:off x="160421" y="189488"/>
            <a:ext cx="787522" cy="685071"/>
          </a:xfrm>
          <a:prstGeom prst="roundRect">
            <a:avLst/>
          </a:prstGeom>
          <a:solidFill>
            <a:srgbClr val="073F8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op page number"/>
          <p:cNvSpPr txBox="1"/>
          <p:nvPr/>
        </p:nvSpPr>
        <p:spPr>
          <a:xfrm>
            <a:off x="269799" y="349824"/>
            <a:ext cx="568766" cy="3935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/>
          </a:p>
        </p:txBody>
      </p:sp>
      <p:sp>
        <p:nvSpPr>
          <p:cNvPr id="9" name="main title"/>
          <p:cNvSpPr txBox="1"/>
          <p:nvPr/>
        </p:nvSpPr>
        <p:spPr>
          <a:xfrm>
            <a:off x="772938" y="1136927"/>
            <a:ext cx="4302201" cy="96201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5500" b="1">
                <a:solidFill>
                  <a:srgbClr val="04316F"/>
                </a:solidFill>
                <a:latin typeface="Microsoft YaHei"/>
                <a:ea typeface="Microsoft YaHei"/>
                <a:cs typeface="Microsoft YaHei"/>
              </a:rPr>
              <a:t>智爪识损</a:t>
            </a:r>
            <a:endParaRPr lang="zh-CN"/>
          </a:p>
        </p:txBody>
      </p:sp>
      <p:cxnSp>
        <p:nvCxnSpPr>
          <p:cNvPr id="10" name="teal title underline"/>
          <p:cNvCxnSpPr/>
          <p:nvPr/>
        </p:nvCxnSpPr>
        <p:spPr>
          <a:xfrm>
            <a:off x="787522" y="2375885"/>
            <a:ext cx="306258" cy="0"/>
          </a:xfrm>
          <a:prstGeom prst="line">
            <a:avLst/>
          </a:prstGeom>
          <a:ln w="53340" cap="sq">
            <a:solidFill>
              <a:srgbClr val="129C92"/>
            </a:solidFill>
          </a:ln>
        </p:spPr>
      </p:cxnSp>
      <p:sp>
        <p:nvSpPr>
          <p:cNvPr id="11" name="subtitle"/>
          <p:cNvSpPr txBox="1"/>
          <p:nvPr/>
        </p:nvSpPr>
        <p:spPr>
          <a:xfrm>
            <a:off x="787522" y="2623677"/>
            <a:ext cx="4739713" cy="83811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基于 OpenClaw 的</a:t>
            </a:r>
            <a:endParaRPr lang="zh-CN"/>
          </a:p>
          <a:p>
            <a:pPr algn="l"/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基础设施巡检图像智能识别系统</a:t>
            </a:r>
            <a:endParaRPr lang="zh-CN"/>
          </a:p>
        </p:txBody>
      </p:sp>
      <p:sp>
        <p:nvSpPr>
          <p:cNvPr id="20" name="cap icon 1"/>
          <p:cNvSpPr txBox="1"/>
          <p:nvPr/>
        </p:nvSpPr>
        <p:spPr>
          <a:xfrm>
            <a:off x="786384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lang="zh-CN"/>
          </a:p>
        </p:txBody>
      </p:sp>
      <p:sp>
        <p:nvSpPr>
          <p:cNvPr id="21" name="cap label 1"/>
          <p:cNvSpPr txBox="1"/>
          <p:nvPr/>
        </p:nvSpPr>
        <p:spPr>
          <a:xfrm>
            <a:off x="640080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上传巡检图像</a:t>
            </a:r>
            <a:endParaRPr lang="zh-CN"/>
          </a:p>
        </p:txBody>
      </p:sp>
      <p:cxnSp>
        <p:nvCxnSpPr>
          <p:cNvPr id="22" name="cap line 1"/>
          <p:cNvCxnSpPr/>
          <p:nvPr/>
        </p:nvCxnSpPr>
        <p:spPr>
          <a:xfrm>
            <a:off x="1014984" y="3867912"/>
            <a:ext cx="201168" cy="0"/>
          </a:xfrm>
          <a:prstGeom prst="line">
            <a:avLst/>
          </a:prstGeom>
          <a:ln w="8890" cap="sq">
            <a:solidFill>
              <a:srgbClr val="6EAFCB"/>
            </a:solidFill>
          </a:ln>
        </p:spPr>
      </p:cxnSp>
      <p:sp>
        <p:nvSpPr>
          <p:cNvPr id="23" name="cap icon 2"/>
          <p:cNvSpPr txBox="1"/>
          <p:nvPr/>
        </p:nvSpPr>
        <p:spPr>
          <a:xfrm>
            <a:off x="1344168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◇</a:t>
            </a:r>
            <a:endParaRPr lang="zh-CN"/>
          </a:p>
        </p:txBody>
      </p:sp>
      <p:sp>
        <p:nvSpPr>
          <p:cNvPr id="24" name="cap label 2"/>
          <p:cNvSpPr txBox="1"/>
          <p:nvPr/>
        </p:nvSpPr>
        <p:spPr>
          <a:xfrm>
            <a:off x="1197864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生成识别</a:t>
            </a:r>
            <a:endParaRPr lang="zh-CN"/>
          </a:p>
        </p:txBody>
      </p:sp>
      <p:cxnSp>
        <p:nvCxnSpPr>
          <p:cNvPr id="25" name="cap line 2"/>
          <p:cNvCxnSpPr/>
          <p:nvPr/>
        </p:nvCxnSpPr>
        <p:spPr>
          <a:xfrm>
            <a:off x="1572768" y="3867912"/>
            <a:ext cx="201168" cy="0"/>
          </a:xfrm>
          <a:prstGeom prst="line">
            <a:avLst/>
          </a:prstGeom>
          <a:ln w="8890" cap="sq">
            <a:solidFill>
              <a:srgbClr val="6EAFCB"/>
            </a:solidFill>
          </a:ln>
        </p:spPr>
      </p:cxnSp>
      <p:sp>
        <p:nvSpPr>
          <p:cNvPr id="26" name="cap icon 3"/>
          <p:cNvSpPr txBox="1"/>
          <p:nvPr/>
        </p:nvSpPr>
        <p:spPr>
          <a:xfrm>
            <a:off x="1901952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◎</a:t>
            </a:r>
            <a:endParaRPr lang="zh-CN"/>
          </a:p>
        </p:txBody>
      </p:sp>
      <p:sp>
        <p:nvSpPr>
          <p:cNvPr id="27" name="cap label 3"/>
          <p:cNvSpPr txBox="1"/>
          <p:nvPr/>
        </p:nvSpPr>
        <p:spPr>
          <a:xfrm>
            <a:off x="1755648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评估</a:t>
            </a:r>
            <a:endParaRPr lang="zh-CN"/>
          </a:p>
        </p:txBody>
      </p:sp>
      <p:cxnSp>
        <p:nvCxnSpPr>
          <p:cNvPr id="28" name="cap line 3"/>
          <p:cNvCxnSpPr/>
          <p:nvPr/>
        </p:nvCxnSpPr>
        <p:spPr>
          <a:xfrm>
            <a:off x="2130552" y="3867912"/>
            <a:ext cx="201168" cy="0"/>
          </a:xfrm>
          <a:prstGeom prst="line">
            <a:avLst/>
          </a:prstGeom>
          <a:ln w="8890" cap="sq">
            <a:solidFill>
              <a:srgbClr val="6EAFCB"/>
            </a:solidFill>
          </a:ln>
        </p:spPr>
      </p:cxnSp>
      <p:sp>
        <p:nvSpPr>
          <p:cNvPr id="29" name="cap icon 4"/>
          <p:cNvSpPr txBox="1"/>
          <p:nvPr/>
        </p:nvSpPr>
        <p:spPr>
          <a:xfrm>
            <a:off x="2459736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✓</a:t>
            </a:r>
            <a:endParaRPr lang="zh-CN"/>
          </a:p>
        </p:txBody>
      </p:sp>
      <p:sp>
        <p:nvSpPr>
          <p:cNvPr id="30" name="cap label 4"/>
          <p:cNvSpPr txBox="1"/>
          <p:nvPr/>
        </p:nvSpPr>
        <p:spPr>
          <a:xfrm>
            <a:off x="2313432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复核</a:t>
            </a:r>
            <a:endParaRPr lang="zh-CN"/>
          </a:p>
        </p:txBody>
      </p:sp>
      <p:cxnSp>
        <p:nvCxnSpPr>
          <p:cNvPr id="31" name="cap line 4"/>
          <p:cNvCxnSpPr/>
          <p:nvPr/>
        </p:nvCxnSpPr>
        <p:spPr>
          <a:xfrm>
            <a:off x="2688336" y="3867912"/>
            <a:ext cx="201168" cy="0"/>
          </a:xfrm>
          <a:prstGeom prst="line">
            <a:avLst/>
          </a:prstGeom>
          <a:ln w="8890" cap="sq">
            <a:solidFill>
              <a:srgbClr val="6EAFCB"/>
            </a:solidFill>
          </a:ln>
        </p:spPr>
      </p:cxnSp>
      <p:sp>
        <p:nvSpPr>
          <p:cNvPr id="32" name="cap icon 5"/>
          <p:cNvSpPr txBox="1"/>
          <p:nvPr/>
        </p:nvSpPr>
        <p:spPr>
          <a:xfrm>
            <a:off x="3017520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▣</a:t>
            </a:r>
            <a:endParaRPr lang="zh-CN"/>
          </a:p>
        </p:txBody>
      </p:sp>
      <p:sp>
        <p:nvSpPr>
          <p:cNvPr id="33" name="cap label 5"/>
          <p:cNvSpPr txBox="1"/>
          <p:nvPr/>
        </p:nvSpPr>
        <p:spPr>
          <a:xfrm>
            <a:off x="2871216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归档</a:t>
            </a:r>
            <a:endParaRPr lang="zh-CN"/>
          </a:p>
        </p:txBody>
      </p:sp>
      <p:cxnSp>
        <p:nvCxnSpPr>
          <p:cNvPr id="34" name="cap line 5"/>
          <p:cNvCxnSpPr/>
          <p:nvPr/>
        </p:nvCxnSpPr>
        <p:spPr>
          <a:xfrm>
            <a:off x="3246120" y="3867912"/>
            <a:ext cx="201168" cy="0"/>
          </a:xfrm>
          <a:prstGeom prst="line">
            <a:avLst/>
          </a:prstGeom>
          <a:ln w="8890" cap="sq">
            <a:solidFill>
              <a:srgbClr val="6EAFCB"/>
            </a:solidFill>
          </a:ln>
        </p:spPr>
      </p:cxnSp>
      <p:sp>
        <p:nvSpPr>
          <p:cNvPr id="35" name="cap icon 6"/>
          <p:cNvSpPr txBox="1"/>
          <p:nvPr/>
        </p:nvSpPr>
        <p:spPr>
          <a:xfrm>
            <a:off x="3575304" y="3785616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1050" b="1">
                <a:solidFill>
                  <a:srgbClr val="129C92"/>
                </a:solidFill>
                <a:latin typeface="Microsoft YaHei"/>
                <a:ea typeface="Microsoft YaHei"/>
                <a:cs typeface="Microsoft YaHei"/>
              </a:rPr>
              <a:t>▤</a:t>
            </a:r>
            <a:endParaRPr lang="zh-CN"/>
          </a:p>
        </p:txBody>
      </p:sp>
      <p:sp>
        <p:nvSpPr>
          <p:cNvPr id="36" name="cap label 6"/>
          <p:cNvSpPr txBox="1"/>
          <p:nvPr/>
        </p:nvSpPr>
        <p:spPr>
          <a:xfrm>
            <a:off x="3429000" y="3995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4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报告导出</a:t>
            </a:r>
            <a:endParaRPr lang="zh-CN"/>
          </a:p>
        </p:txBody>
      </p:sp>
      <p:sp>
        <p:nvSpPr>
          <p:cNvPr id="60" name="footer white band"/>
          <p:cNvSpPr/>
          <p:nvPr/>
        </p:nvSpPr>
        <p:spPr>
          <a:xfrm>
            <a:off x="0" y="6296825"/>
            <a:ext cx="12192000" cy="561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61" name="footer top hairline"/>
          <p:cNvCxnSpPr/>
          <p:nvPr/>
        </p:nvCxnSpPr>
        <p:spPr>
          <a:xfrm>
            <a:off x="0" y="6296825"/>
            <a:ext cx="12192000" cy="0"/>
          </a:xfrm>
          <a:prstGeom prst="line">
            <a:avLst/>
          </a:prstGeom>
          <a:ln w="10160" cap="sq">
            <a:solidFill>
              <a:srgbClr val="E4EFF7"/>
            </a:solidFill>
          </a:ln>
        </p:spPr>
      </p:cxnSp>
      <p:sp>
        <p:nvSpPr>
          <p:cNvPr id="62" name="footer brand"/>
          <p:cNvSpPr txBox="1"/>
          <p:nvPr/>
        </p:nvSpPr>
        <p:spPr>
          <a:xfrm>
            <a:off x="306258" y="6471736"/>
            <a:ext cx="947943" cy="189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50" b="1">
                <a:solidFill>
                  <a:srgbClr val="073F83"/>
                </a:solidFill>
                <a:latin typeface="Microsoft YaHei"/>
                <a:ea typeface="Microsoft YaHei"/>
                <a:cs typeface="Microsoft YaHei"/>
              </a:rPr>
              <a:t>智爪识损</a:t>
            </a:r>
            <a:endParaRPr lang="zh-CN"/>
          </a:p>
        </p:txBody>
      </p:sp>
      <p:cxnSp>
        <p:nvCxnSpPr>
          <p:cNvPr id="63" name="footer divider"/>
          <p:cNvCxnSpPr/>
          <p:nvPr/>
        </p:nvCxnSpPr>
        <p:spPr>
          <a:xfrm>
            <a:off x="1297952" y="6500888"/>
            <a:ext cx="0" cy="0"/>
          </a:xfrm>
          <a:prstGeom prst="line">
            <a:avLst/>
          </a:prstGeom>
          <a:ln w="11430" cap="sq">
            <a:solidFill>
              <a:srgbClr val="AFCBE3"/>
            </a:solidFill>
          </a:ln>
        </p:spPr>
      </p:cxnSp>
      <p:sp>
        <p:nvSpPr>
          <p:cNvPr id="64" name="footer description"/>
          <p:cNvSpPr txBox="1"/>
          <p:nvPr/>
        </p:nvSpPr>
        <p:spPr>
          <a:xfrm>
            <a:off x="1458373" y="6493600"/>
            <a:ext cx="3791770" cy="174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150">
                <a:solidFill>
                  <a:srgbClr val="205E9F"/>
                </a:solidFill>
                <a:latin typeface="Microsoft YaHei"/>
                <a:ea typeface="Microsoft YaHei"/>
                <a:cs typeface="Microsoft YaHei"/>
              </a:rPr>
              <a:t>基于 OpenClaw 的基础设施巡检图像智能识别系统</a:t>
            </a:r>
            <a:endParaRPr lang="zh-CN"/>
          </a:p>
        </p:txBody>
      </p:sp>
      <p:sp>
        <p:nvSpPr>
          <p:cNvPr id="65" name="bottom page number"/>
          <p:cNvSpPr txBox="1"/>
          <p:nvPr/>
        </p:nvSpPr>
        <p:spPr>
          <a:xfrm>
            <a:off x="11579483" y="6406145"/>
            <a:ext cx="452096" cy="327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zh-CN" sz="2300" b="1">
                <a:solidFill>
                  <a:srgbClr val="073F83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izhua Clean">
  <a:themeElements>
    <a:clrScheme name="Office">
      <a:dk1>
        <a:srgbClr val="000000"/>
      </a:dk1>
      <a:lt1>
        <a:srgbClr val="FFFFFF"/>
      </a:lt1>
      <a:dk2>
        <a:srgbClr val="1F4E79"/>
      </a:dk2>
      <a:lt2>
        <a:srgbClr val="EAF4FB"/>
      </a:lt2>
      <a:accent1>
        <a:srgbClr val="073F83"/>
      </a:accent1>
      <a:accent2>
        <a:srgbClr val="129C92"/>
      </a:accent2>
      <a:accent3>
        <a:srgbClr val="2C7CC9"/>
      </a:accent3>
      <a:accent4>
        <a:srgbClr val="F6A21A"/>
      </a:accent4>
      <a:accent5>
        <a:srgbClr val="6EAFCB"/>
      </a:accent5>
      <a:accent6>
        <a:srgbClr val="93A9C4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Clean">
      <a:fillStyleLst>
        <a:solidFill>
          <a:srgbClr val="FFFFFF"/>
        </a:solidFill>
      </a:fillStyleLst>
      <a:lnStyleLst>
        <a:ln w="9525">
          <a:solidFill>
            <a:srgbClr val="D9E8F4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Builder</Application>
  <PresentationFormat>Wide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智爪识损 第1页复刻</dc:title>
  <dc:creator>Codex</dc:creator>
  <cp:lastModifiedBy>Codex</cp:lastModifiedBy>
  <dcterms:created xsi:type="dcterms:W3CDTF">2026-06-01T11:56:07.368654+00:00</dcterms:created>
  <dcterms:modified xsi:type="dcterms:W3CDTF">2026-06-01T11:56:07.368654+00:00</dcterms:modified>
</cp:coreProperties>
</file>