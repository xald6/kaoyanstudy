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3" r:id="rId1"/>
  </p:sldMasterIdLst>
  <p:notesMasterIdLst>
    <p:notesMasterId r:id="rId9"/>
  </p:notesMasterIdLst>
  <p:sldIdLst>
    <p:sldId id="437" r:id="rId2"/>
    <p:sldId id="438" r:id="rId3"/>
    <p:sldId id="439" r:id="rId4"/>
    <p:sldId id="440" r:id="rId5"/>
    <p:sldId id="441" r:id="rId6"/>
    <p:sldId id="442" r:id="rId7"/>
    <p:sldId id="443" r:id="rId8"/>
  </p:sldIdLst>
  <p:sldSz cx="9144000" cy="5143500" type="screen16x9"/>
  <p:notesSz cx="6858000" cy="9144000"/>
  <p:custDataLst>
    <p:tags r:id="rId10"/>
  </p:custDataLst>
  <p:defaultTextStyle>
    <a:defPPr>
      <a:defRPr lang="zh-CN"/>
    </a:defPPr>
    <a:lvl1pPr marL="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58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3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192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259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16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374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44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503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47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CCB040-F2E1-46D6-909F-F8994B2FD52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8EFB27F4-F3E3-416A-92BA-98EB4962AB98}">
      <dgm:prSet phldrT="[文本]" custT="1"/>
      <dgm:spPr/>
      <dgm:t>
        <a:bodyPr/>
        <a:lstStyle/>
        <a:p>
          <a:pPr>
            <a:lnSpc>
              <a:spcPct val="200000"/>
            </a:lnSpc>
          </a:pPr>
          <a:r>
            <a:rPr lang="zh-CN" altLang="en-US" sz="22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确定坡度的大小应考虑</a:t>
          </a:r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：</a:t>
          </a:r>
        </a:p>
      </dgm:t>
    </dgm:pt>
    <dgm:pt modelId="{945F981C-93CD-470A-A770-BD87AC54A4DC}" type="parTrans" cxnId="{E7899FF0-A4DF-4520-A211-0D51B182B85C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6DF5CF92-6871-409A-8DB9-2C324F221624}" type="sibTrans" cxnId="{E7899FF0-A4DF-4520-A211-0D51B182B85C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2C04CDA-0CC9-4F74-85E0-4ACEB23154A8}">
      <dgm:prSet phldrT="[文本]" custT="1"/>
      <dgm:spPr/>
      <dgm:t>
        <a:bodyPr/>
        <a:lstStyle/>
        <a:p>
          <a:pPr>
            <a:lnSpc>
              <a:spcPct val="200000"/>
            </a:lnSpc>
          </a:pPr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土质情况、地下水位、开挖深度、使用情况（堆载）、使用时间、相邻建筑物情况等。</a:t>
          </a:r>
        </a:p>
      </dgm:t>
    </dgm:pt>
    <dgm:pt modelId="{56D93AFA-206B-4C3E-8CF9-748E5EDFB23C}" type="parTrans" cxnId="{8756357B-6B0C-4177-81D9-54034BDD7B4A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CB32ADA5-FBA2-4491-B50C-A60AA653CD2F}" type="sibTrans" cxnId="{8756357B-6B0C-4177-81D9-54034BDD7B4A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675A5E2E-CC28-4A37-A8B0-B83F23ED30FC}" type="pres">
      <dgm:prSet presAssocID="{10CCB040-F2E1-46D6-909F-F8994B2FD527}" presName="linear" presStyleCnt="0">
        <dgm:presLayoutVars>
          <dgm:animLvl val="lvl"/>
          <dgm:resizeHandles val="exact"/>
        </dgm:presLayoutVars>
      </dgm:prSet>
      <dgm:spPr/>
    </dgm:pt>
    <dgm:pt modelId="{64AF327D-141F-478B-874B-87CEA1BACD52}" type="pres">
      <dgm:prSet presAssocID="{8EFB27F4-F3E3-416A-92BA-98EB4962AB9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76F04D96-9D64-4837-8FE9-2A522E556F9F}" type="pres">
      <dgm:prSet presAssocID="{8EFB27F4-F3E3-416A-92BA-98EB4962AB9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410EA4F-3FB0-4645-9543-1B21DB9E410B}" type="presOf" srcId="{8EFB27F4-F3E3-416A-92BA-98EB4962AB98}" destId="{64AF327D-141F-478B-874B-87CEA1BACD52}" srcOrd="0" destOrd="0" presId="urn:microsoft.com/office/officeart/2005/8/layout/vList2"/>
    <dgm:cxn modelId="{02BB1757-60C9-47E0-9CF0-447A56745BFB}" type="presOf" srcId="{42C04CDA-0CC9-4F74-85E0-4ACEB23154A8}" destId="{76F04D96-9D64-4837-8FE9-2A522E556F9F}" srcOrd="0" destOrd="0" presId="urn:microsoft.com/office/officeart/2005/8/layout/vList2"/>
    <dgm:cxn modelId="{8756357B-6B0C-4177-81D9-54034BDD7B4A}" srcId="{8EFB27F4-F3E3-416A-92BA-98EB4962AB98}" destId="{42C04CDA-0CC9-4F74-85E0-4ACEB23154A8}" srcOrd="0" destOrd="0" parTransId="{56D93AFA-206B-4C3E-8CF9-748E5EDFB23C}" sibTransId="{CB32ADA5-FBA2-4491-B50C-A60AA653CD2F}"/>
    <dgm:cxn modelId="{7887A3D7-0F61-4307-BA39-976948FCF3D2}" type="presOf" srcId="{10CCB040-F2E1-46D6-909F-F8994B2FD527}" destId="{675A5E2E-CC28-4A37-A8B0-B83F23ED30FC}" srcOrd="0" destOrd="0" presId="urn:microsoft.com/office/officeart/2005/8/layout/vList2"/>
    <dgm:cxn modelId="{E7899FF0-A4DF-4520-A211-0D51B182B85C}" srcId="{10CCB040-F2E1-46D6-909F-F8994B2FD527}" destId="{8EFB27F4-F3E3-416A-92BA-98EB4962AB98}" srcOrd="0" destOrd="0" parTransId="{945F981C-93CD-470A-A770-BD87AC54A4DC}" sibTransId="{6DF5CF92-6871-409A-8DB9-2C324F221624}"/>
    <dgm:cxn modelId="{9CC5AA6E-B8C7-4432-B857-3CEED0A7B075}" type="presParOf" srcId="{675A5E2E-CC28-4A37-A8B0-B83F23ED30FC}" destId="{64AF327D-141F-478B-874B-87CEA1BACD52}" srcOrd="0" destOrd="0" presId="urn:microsoft.com/office/officeart/2005/8/layout/vList2"/>
    <dgm:cxn modelId="{61429323-B3A0-471F-825E-98EDA68964D3}" type="presParOf" srcId="{675A5E2E-CC28-4A37-A8B0-B83F23ED30FC}" destId="{76F04D96-9D64-4837-8FE9-2A522E556F9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AF327D-141F-478B-874B-87CEA1BACD52}">
      <dsp:nvSpPr>
        <dsp:cNvPr id="0" name=""/>
        <dsp:cNvSpPr/>
      </dsp:nvSpPr>
      <dsp:spPr>
        <a:xfrm>
          <a:off x="0" y="4356"/>
          <a:ext cx="3139043" cy="9734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2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b="1" kern="1200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确定坡度的大小应考虑</a:t>
          </a: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：</a:t>
          </a:r>
        </a:p>
      </dsp:txBody>
      <dsp:txXfrm>
        <a:off x="47519" y="51875"/>
        <a:ext cx="3044005" cy="878402"/>
      </dsp:txXfrm>
    </dsp:sp>
    <dsp:sp modelId="{76F04D96-9D64-4837-8FE9-2A522E556F9F}">
      <dsp:nvSpPr>
        <dsp:cNvPr id="0" name=""/>
        <dsp:cNvSpPr/>
      </dsp:nvSpPr>
      <dsp:spPr>
        <a:xfrm>
          <a:off x="0" y="977796"/>
          <a:ext cx="3139043" cy="2906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665" tIns="27940" rIns="156464" bIns="27940" numCol="1" spcCol="1270" anchor="t" anchorCtr="0">
          <a:noAutofit/>
        </a:bodyPr>
        <a:lstStyle/>
        <a:p>
          <a:pPr marL="228600" lvl="1" indent="-228600" algn="l" defTabSz="9779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土质情况、地下水位、开挖深度、使用情况（堆载）、使用时间、相邻建筑物情况等。</a:t>
          </a:r>
        </a:p>
      </dsp:txBody>
      <dsp:txXfrm>
        <a:off x="0" y="977796"/>
        <a:ext cx="3139043" cy="2906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17AAB-FCBD-40B2-B028-268332E93037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3F446-A760-4077-983F-8A30C4399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46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t="12301" r="1751" b="1600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5133793" y="1806593"/>
            <a:ext cx="2945922" cy="3037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  <a:effectLst/>
                <a:latin typeface="+mn-ea"/>
                <a:ea typeface="+mn-ea"/>
              </a:defRPr>
            </a:lvl1pPr>
            <a:lvl2pPr marL="257175" indent="0" algn="ctr">
              <a:buNone/>
              <a:defRPr sz="1100"/>
            </a:lvl2pPr>
            <a:lvl3pPr marL="514350" indent="0" algn="ctr">
              <a:buNone/>
              <a:defRPr sz="1000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4822164" y="983400"/>
            <a:ext cx="3727691" cy="805914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2400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</a:p>
        </p:txBody>
      </p:sp>
    </p:spTree>
    <p:extLst>
      <p:ext uri="{BB962C8B-B14F-4D97-AF65-F5344CB8AC3E}">
        <p14:creationId xmlns:p14="http://schemas.microsoft.com/office/powerpoint/2010/main" val="489679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67">
          <p15:clr>
            <a:srgbClr val="FBAE40"/>
          </p15:clr>
        </p15:guide>
        <p15:guide id="0" orient="horz" pos="2160" userDrawn="1">
          <p15:clr>
            <a:srgbClr val="FBAE40"/>
          </p15:clr>
        </p15:guide>
        <p15:guide id="2" pos="66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1400" b="1"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05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574008" y="1581152"/>
            <a:ext cx="5995988" cy="926306"/>
          </a:xfrm>
        </p:spPr>
        <p:txBody>
          <a:bodyPr anchor="b">
            <a:normAutofit/>
          </a:bodyPr>
          <a:lstStyle>
            <a:lvl1pPr algn="ctr">
              <a:defRPr sz="2000">
                <a:solidFill>
                  <a:schemeClr val="tx1">
                    <a:lumMod val="50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3038171" y="2550318"/>
            <a:ext cx="3067663" cy="268109"/>
          </a:xfrm>
          <a:prstGeom prst="roundRect">
            <a:avLst>
              <a:gd name="adj" fmla="val 50000"/>
            </a:avLst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tx1"/>
                </a:solidFill>
              </a:defRPr>
            </a:lvl1pPr>
            <a:lvl2pPr marL="25717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341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049867" y="933453"/>
            <a:ext cx="3810000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889501" y="933453"/>
            <a:ext cx="3820587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90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727199" y="88899"/>
            <a:ext cx="6984076" cy="5377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8" y="1032272"/>
            <a:ext cx="3868340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8" y="16502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5" y="1032272"/>
            <a:ext cx="3887391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5" y="16502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08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76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79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58444" y="400052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4115992" y="797724"/>
            <a:ext cx="4629150" cy="3655219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858444" y="1600202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48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934644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4082125" y="740572"/>
            <a:ext cx="4629150" cy="3655219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600"/>
            </a:lvl2pPr>
            <a:lvl3pPr marL="514350" indent="0">
              <a:buNone/>
              <a:defRPr sz="1400"/>
            </a:lvl3pPr>
            <a:lvl4pPr marL="771525" indent="0">
              <a:buNone/>
              <a:defRPr sz="1100"/>
            </a:lvl4pPr>
            <a:lvl5pPr marL="1028700" indent="0">
              <a:buNone/>
              <a:defRPr sz="1100"/>
            </a:lvl5pPr>
            <a:lvl6pPr marL="1285875" indent="0">
              <a:buNone/>
              <a:defRPr sz="1100"/>
            </a:lvl6pPr>
            <a:lvl7pPr marL="1543050" indent="0">
              <a:buNone/>
              <a:defRPr sz="1100"/>
            </a:lvl7pPr>
            <a:lvl8pPr marL="1800225" indent="0">
              <a:buNone/>
              <a:defRPr sz="1100"/>
            </a:lvl8pPr>
            <a:lvl9pPr marL="2057400" indent="0">
              <a:buNone/>
              <a:defRPr sz="11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934644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00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06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9" y="273844"/>
            <a:ext cx="886883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585383" y="273844"/>
            <a:ext cx="5949952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96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" t="26028" r="6166" b="4484"/>
          <a:stretch/>
        </p:blipFill>
        <p:spPr>
          <a:xfrm>
            <a:off x="-2" y="1753372"/>
            <a:ext cx="5924552" cy="3390128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6286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1FE7BD1D-B284-4506-85BF-D02BB5BA5E47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028950" y="483870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854015" y="850107"/>
            <a:ext cx="7866654" cy="382510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04826" y="160440"/>
            <a:ext cx="8215844" cy="59700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6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</p:sldLayoutIdLst>
  <p:txStyles>
    <p:titleStyle>
      <a:lvl1pPr algn="ctr" defTabSz="514350" rtl="0" eaLnBrk="1" latinLnBrk="0" hangingPunct="1">
        <a:lnSpc>
          <a:spcPct val="90000"/>
        </a:lnSpc>
        <a:spcBef>
          <a:spcPct val="0"/>
        </a:spcBef>
        <a:buNone/>
        <a:defRPr sz="2400" b="0" i="0" kern="1200" baseline="0">
          <a:solidFill>
            <a:schemeClr val="tx1">
              <a:lumMod val="50000"/>
            </a:schemeClr>
          </a:solidFill>
          <a:effectLst/>
          <a:latin typeface="+mj-ea"/>
          <a:ea typeface="+mj-ea"/>
          <a:cs typeface="+mj-cs"/>
        </a:defRPr>
      </a:lvl1pPr>
    </p:titleStyle>
    <p:bodyStyle>
      <a:lvl1pPr marL="271463" indent="-271463" algn="just" defTabSz="51435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accent2"/>
        </a:buClr>
        <a:buSzPct val="50000"/>
        <a:buFont typeface="Wingdings 2" panose="05020102010507070707" pitchFamily="18" charset="2"/>
        <a:buChar char=""/>
        <a:defRPr lang="zh-CN" altLang="en-US" sz="1800" b="1" kern="1200" baseline="0" dirty="0" smtClean="0">
          <a:solidFill>
            <a:schemeClr val="accent1"/>
          </a:solidFill>
          <a:latin typeface="+mn-ea"/>
          <a:ea typeface="+mn-ea"/>
          <a:cs typeface="+mn-cs"/>
        </a:defRPr>
      </a:lvl1pPr>
      <a:lvl2pPr marL="271463" indent="-271463" algn="just" defTabSz="51435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400" b="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一、边坡开挖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92185"/>
            <a:ext cx="7992888" cy="4199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504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u="sng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土方边坡坡度</a:t>
            </a:r>
            <a:r>
              <a:rPr lang="en-US" altLang="zh-CN" sz="2400" b="1" u="sng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=H/B=1/(B/H)=1/m</a:t>
            </a:r>
          </a:p>
          <a:p>
            <a:pPr algn="ctr"/>
            <a:r>
              <a:rPr lang="zh-CN" altLang="en-US" sz="2400" b="1" u="sng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坡度系数</a:t>
            </a:r>
            <a:r>
              <a:rPr lang="en-US" altLang="zh-CN" sz="2400" b="1" u="sng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m=B/H</a:t>
            </a:r>
            <a:endParaRPr lang="zh-CN" altLang="en-US" sz="2400" b="1" u="sng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4" y="1199961"/>
            <a:ext cx="5834780" cy="2451909"/>
          </a:xfrm>
          <a:prstGeom prst="rect">
            <a:avLst/>
          </a:prstGeom>
        </p:spPr>
      </p:pic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2192963223"/>
              </p:ext>
            </p:extLst>
          </p:nvPr>
        </p:nvGraphicFramePr>
        <p:xfrm>
          <a:off x="5897452" y="1131590"/>
          <a:ext cx="3139043" cy="3888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9303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90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边坡稳定的条件：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153" y="830629"/>
            <a:ext cx="2606266" cy="19432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3608" y="2773897"/>
            <a:ext cx="7995174" cy="2059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lang="en-US" altLang="zh-CN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T——</a:t>
            </a:r>
            <a:r>
              <a:rPr lang="zh-CN" altLang="en-US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土体下滑力。下滑土体的分力，受坡上荷载、雨水、静水压力影响。</a:t>
            </a:r>
            <a:endParaRPr lang="en-US" altLang="zh-CN" sz="22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C——</a:t>
            </a:r>
            <a:r>
              <a:rPr lang="zh-CN" altLang="en-US" sz="22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土体抗剪力。由土质决定，受气候、含水量及动水压力影响。</a:t>
            </a:r>
          </a:p>
        </p:txBody>
      </p:sp>
    </p:spTree>
    <p:extLst>
      <p:ext uri="{BB962C8B-B14F-4D97-AF65-F5344CB8AC3E}">
        <p14:creationId xmlns:p14="http://schemas.microsoft.com/office/powerpoint/2010/main" val="369303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90" y="368964"/>
            <a:ext cx="89289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《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建筑地基基础工程施工质量验收标准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》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GB 50202-2018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），在边坡整体稳定的情况下，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临时性挖方工程的边坡坡率允许值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应符合下表的规定或经设计计算确定。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384626"/>
            <a:ext cx="7995174" cy="370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3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478648"/>
              </p:ext>
            </p:extLst>
          </p:nvPr>
        </p:nvGraphicFramePr>
        <p:xfrm>
          <a:off x="1043607" y="368963"/>
          <a:ext cx="7920881" cy="4651059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915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4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3169">
                <a:tc row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放坡开挖施工应符合下列要求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）应按先降低地下水位，然后开挖，再做坡面护理的工序进行施工；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357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）开挖前应校核开挖尺寸线，检查地面排水措施和降水场地的水位标高，符合要求后方可开挖；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53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）土方开挖应按先上后下的开挖顺序，分段、分层按设计要求开挖，分层、分段开挖尺寸应符合设计工况要求，开挖过程中应确保坡壁无超挖，坡面无虚土，坡面坡度与平整度应符合设计要求；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53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）黏性土分段开挖长度宜取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10m~15m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，分层开挖深度宜取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0.5m~1.0m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，砂土和碎石类土分段开挖长度宜取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5m~10m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，分层开挖深度宜取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0.3m~0.5m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，开挖时坡体土层宜预留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100mm~200mm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进行人工修坡；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357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）施工过程中应定时检查开挖的平面尺寸、竖向标高、坡面坡度、降水水位以及排水设施，并应随时巡视坡体周围的环境变化。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03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881873"/>
              </p:ext>
            </p:extLst>
          </p:nvPr>
        </p:nvGraphicFramePr>
        <p:xfrm>
          <a:off x="1043607" y="411508"/>
          <a:ext cx="7848873" cy="4608512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1051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7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1791">
                <a:tc rowSpan="7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7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放坡开挖施工的安全与防护应符合下列要求</a:t>
                      </a:r>
                    </a:p>
                  </a:txBody>
                  <a:tcPr marL="57239" marR="57239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）边坡顶面应设置有效的安全围护措施，边坡场地内应设置人员及设备上下的坡道，严禁在坡壁掏坑攀登上下；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1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）边坡分段、分层开挖时，不得超挖，严禁负坡开挖；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79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）重型机械在坡顶边缘作业宜设置专门平台，土方运输车辆应在设计安全防护距离以处行驶，应限制坡顶周围有振动荷载作用；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79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）在人工和机械同时作业的场地，作业人员应在机械作业状态下的回转半径以外工作；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1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）土方开挖较深时应采取防出坡底土层隆起的措施；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1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）雨季或冬期施工时，应做好排水和防冻措施；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179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r>
                        <a:rPr lang="zh-CN" sz="17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）土质及易风化的岩质坡壁，应根据土质条件、施工季节及边坡的使用时间对坡面和坡脚采取相应的保护措施。</a:t>
                      </a:r>
                    </a:p>
                  </a:txBody>
                  <a:tcPr marL="57239" marR="57239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03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342043"/>
              </p:ext>
            </p:extLst>
          </p:nvPr>
        </p:nvGraphicFramePr>
        <p:xfrm>
          <a:off x="1043607" y="411510"/>
          <a:ext cx="7920881" cy="4536504"/>
        </p:xfrm>
        <a:graphic>
          <a:graphicData uri="http://schemas.openxmlformats.org/drawingml/2006/table">
            <a:tbl>
              <a:tblPr firstRow="1" firstCol="1" bandRow="1">
                <a:tableStyleId>{0505E3EF-67EA-436B-97B2-0124C06EBD24}</a:tableStyleId>
              </a:tblPr>
              <a:tblGrid>
                <a:gridCol w="1278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2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12167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放坡开挖施工的排水措施应符合下列要求</a:t>
                      </a:r>
                    </a:p>
                  </a:txBody>
                  <a:tcPr marL="60716" marR="60716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）边坡场地应向远离边坡方向形成排水坡势，并应沿边坡外围设置排水沟及截水沟，严禁地表水浸入坡体及冲刷坡面；</a:t>
                      </a:r>
                    </a:p>
                  </a:txBody>
                  <a:tcPr marL="60716" marR="60716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1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）边坡坡底和坡脚处应根据具体情况设置排水系统，坡底不得积水及冲刷坡脚；</a:t>
                      </a:r>
                    </a:p>
                  </a:txBody>
                  <a:tcPr marL="60716" marR="60716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0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）有台阶型的边坡，应在过渡平台上设置防渗排水沟；</a:t>
                      </a:r>
                    </a:p>
                  </a:txBody>
                  <a:tcPr marL="60716" marR="60716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0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）坡面有渗水时，应根据实际情况设置泄水孔确保坡体内不积水。</a:t>
                      </a:r>
                    </a:p>
                  </a:txBody>
                  <a:tcPr marL="60716" marR="60716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03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LIBID_PRE" val="13076"/>
  <p:tag name="MH_CONTENTSID" val="264"/>
  <p:tag name="MH_SECTIONID" val="265,"/>
</p:tagLst>
</file>

<file path=ppt/theme/theme1.xml><?xml version="1.0" encoding="utf-8"?>
<a:theme xmlns:a="http://schemas.openxmlformats.org/drawingml/2006/main" name="A000120140530A99PPBG">
  <a:themeElements>
    <a:clrScheme name="KSO_BLUE9">
      <a:dk1>
        <a:srgbClr val="47494B"/>
      </a:dk1>
      <a:lt1>
        <a:srgbClr val="FFFFFF"/>
      </a:lt1>
      <a:dk2>
        <a:srgbClr val="454749"/>
      </a:dk2>
      <a:lt2>
        <a:srgbClr val="EAF5FC"/>
      </a:lt2>
      <a:accent1>
        <a:srgbClr val="046FB6"/>
      </a:accent1>
      <a:accent2>
        <a:srgbClr val="22B1DE"/>
      </a:accent2>
      <a:accent3>
        <a:srgbClr val="7B93D7"/>
      </a:accent3>
      <a:accent4>
        <a:srgbClr val="5D76BA"/>
      </a:accent4>
      <a:accent5>
        <a:srgbClr val="3DBFD1"/>
      </a:accent5>
      <a:accent6>
        <a:srgbClr val="FFC000"/>
      </a:accent6>
      <a:hlink>
        <a:srgbClr val="00B0F0"/>
      </a:hlink>
      <a:folHlink>
        <a:srgbClr val="AFB2B4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636869495982041620</Template>
  <TotalTime>5014</TotalTime>
  <Words>715</Words>
  <Application>Microsoft Office PowerPoint</Application>
  <PresentationFormat>全屏显示(16:9)</PresentationFormat>
  <Paragraphs>35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黑体</vt:lpstr>
      <vt:lpstr>华文行楷</vt:lpstr>
      <vt:lpstr>微软雅黑</vt:lpstr>
      <vt:lpstr>幼圆</vt:lpstr>
      <vt:lpstr>Arial</vt:lpstr>
      <vt:lpstr>Calibri</vt:lpstr>
      <vt:lpstr>Franklin Gothic Book</vt:lpstr>
      <vt:lpstr>Times New Roman</vt:lpstr>
      <vt:lpstr>Wingdings 2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632</cp:revision>
  <dcterms:created xsi:type="dcterms:W3CDTF">2019-02-28T02:56:41Z</dcterms:created>
  <dcterms:modified xsi:type="dcterms:W3CDTF">2026-03-16T01:32:08Z</dcterms:modified>
</cp:coreProperties>
</file>