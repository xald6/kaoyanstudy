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3" r:id="rId1"/>
  </p:sldMasterIdLst>
  <p:notesMasterIdLst>
    <p:notesMasterId r:id="rId13"/>
  </p:notesMasterIdLst>
  <p:sldIdLst>
    <p:sldId id="634" r:id="rId2"/>
    <p:sldId id="635" r:id="rId3"/>
    <p:sldId id="636" r:id="rId4"/>
    <p:sldId id="637" r:id="rId5"/>
    <p:sldId id="638" r:id="rId6"/>
    <p:sldId id="639" r:id="rId7"/>
    <p:sldId id="640" r:id="rId8"/>
    <p:sldId id="641" r:id="rId9"/>
    <p:sldId id="642" r:id="rId10"/>
    <p:sldId id="643" r:id="rId11"/>
    <p:sldId id="644" r:id="rId12"/>
  </p:sldIdLst>
  <p:sldSz cx="9144000" cy="5143500" type="screen16x9"/>
  <p:notesSz cx="6858000" cy="9144000"/>
  <p:custDataLst>
    <p:tags r:id="rId14"/>
  </p:custDataLst>
  <p:defaultTextStyle>
    <a:defPPr>
      <a:defRPr lang="zh-CN"/>
    </a:defPPr>
    <a:lvl1pPr marL="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58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13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192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259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316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374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44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503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151" d="100"/>
          <a:sy n="151" d="100"/>
        </p:scale>
        <p:origin x="474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8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F2625B-2516-4868-B287-7E58E840BA5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A31D24E5-5CB2-4E5D-87DC-F036979BE265}">
      <dgm:prSet phldrT="[文本]" custT="1"/>
      <dgm:spPr/>
      <dgm:t>
        <a:bodyPr/>
        <a:lstStyle/>
        <a:p>
          <a:pPr>
            <a:lnSpc>
              <a:spcPct val="100000"/>
            </a:lnSpc>
          </a:pP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先张法施工：</a:t>
          </a:r>
        </a:p>
      </dgm:t>
    </dgm:pt>
    <dgm:pt modelId="{17E32C1F-5446-4AF6-ADF9-E5BD63AFD86A}" type="parTrans" cxnId="{4BB1F881-9453-4F4B-B5FF-425C8789F907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18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038BB23F-BECD-47E9-855F-13D458E7665A}" type="sibTrans" cxnId="{4BB1F881-9453-4F4B-B5FF-425C8789F907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18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E05D667C-0E25-4109-ABF8-CDF238D5A0B3}">
      <dgm:prSet phldrT="[文本]" custT="1"/>
      <dgm:spPr/>
      <dgm:t>
        <a:bodyPr/>
        <a:lstStyle/>
        <a:p>
          <a:pPr>
            <a:lnSpc>
              <a:spcPct val="100000"/>
            </a:lnSpc>
          </a:pP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定义：</a:t>
          </a:r>
        </a:p>
      </dgm:t>
    </dgm:pt>
    <dgm:pt modelId="{8F7C1B1E-494E-4FD3-88D7-A037D3D7F9F7}" type="parTrans" cxnId="{000F4B99-327A-45C7-926D-24495DC9B83A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18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C8587B7E-9415-4F5A-8CF9-627DF30D8D83}" type="sibTrans" cxnId="{000F4B99-327A-45C7-926D-24495DC9B83A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18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C4463335-5F0F-4043-8470-0409A4CFEB87}">
      <dgm:prSet phldrT="[文本]" custT="1"/>
      <dgm:spPr/>
      <dgm:t>
        <a:bodyPr/>
        <a:lstStyle/>
        <a:p>
          <a:pPr>
            <a:lnSpc>
              <a:spcPct val="100000"/>
            </a:lnSpc>
          </a:pP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适用范围：</a:t>
          </a:r>
        </a:p>
      </dgm:t>
    </dgm:pt>
    <dgm:pt modelId="{675386E6-80DE-421F-8D01-C592CCA9BD37}" type="parTrans" cxnId="{772E2D92-B4DA-485C-93EE-75DE917AC1D8}">
      <dgm:prSet/>
      <dgm:spPr/>
      <dgm:t>
        <a:bodyPr/>
        <a:lstStyle/>
        <a:p>
          <a:endParaRPr lang="zh-CN" altLang="en-US"/>
        </a:p>
      </dgm:t>
    </dgm:pt>
    <dgm:pt modelId="{07D39730-A479-425E-9FEE-5832009FF36F}" type="sibTrans" cxnId="{772E2D92-B4DA-485C-93EE-75DE917AC1D8}">
      <dgm:prSet/>
      <dgm:spPr/>
      <dgm:t>
        <a:bodyPr/>
        <a:lstStyle/>
        <a:p>
          <a:endParaRPr lang="zh-CN" altLang="en-US"/>
        </a:p>
      </dgm:t>
    </dgm:pt>
    <dgm:pt modelId="{2D49D1E0-8818-4EDA-86F5-2F40B436C3EF}">
      <dgm:prSet phldrT="[文本]" custT="1"/>
      <dgm:spPr/>
      <dgm:t>
        <a:bodyPr/>
        <a:lstStyle/>
        <a:p>
          <a:pPr>
            <a:lnSpc>
              <a:spcPct val="100000"/>
            </a:lnSpc>
          </a:pP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        先张法是在台座或模板上先张拉预应力筋并用夹具临时固定，再浇筑混凝土，待混凝土达到一定强度后（一般不低于设计强度等级的</a:t>
          </a:r>
          <a:r>
            <a:rPr lang="en-US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75%</a:t>
          </a: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），放张预应力筋，通过预应力筋与混凝土的黏结力，使混凝土产生预压应力的施工方法。</a:t>
          </a:r>
        </a:p>
      </dgm:t>
    </dgm:pt>
    <dgm:pt modelId="{20FEA244-8D10-4DF2-B501-C6E250880B09}" type="parTrans" cxnId="{4AE0DFA8-4B53-4E41-8B64-E9E1CC197CD2}">
      <dgm:prSet/>
      <dgm:spPr/>
      <dgm:t>
        <a:bodyPr/>
        <a:lstStyle/>
        <a:p>
          <a:endParaRPr lang="zh-CN" altLang="en-US"/>
        </a:p>
      </dgm:t>
    </dgm:pt>
    <dgm:pt modelId="{58B49E15-0713-4F65-AD32-0A436D51C700}" type="sibTrans" cxnId="{4AE0DFA8-4B53-4E41-8B64-E9E1CC197CD2}">
      <dgm:prSet/>
      <dgm:spPr/>
      <dgm:t>
        <a:bodyPr/>
        <a:lstStyle/>
        <a:p>
          <a:endParaRPr lang="zh-CN" altLang="en-US"/>
        </a:p>
      </dgm:t>
    </dgm:pt>
    <dgm:pt modelId="{53A338CE-5A07-4D15-A184-9B94D21CD476}">
      <dgm:prSet phldrT="[文本]" custT="1"/>
      <dgm:spPr/>
      <dgm:t>
        <a:bodyPr/>
        <a:lstStyle/>
        <a:p>
          <a:pPr>
            <a:lnSpc>
              <a:spcPct val="100000"/>
            </a:lnSpc>
          </a:pP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        先张法多用于预制构件厂生产定型的中小型构件，也常用于生产预应力桥跨结构等。</a:t>
          </a:r>
        </a:p>
      </dgm:t>
    </dgm:pt>
    <dgm:pt modelId="{924E3981-159C-4608-93AA-1A065D46DB6E}" type="parTrans" cxnId="{1A912B50-E6D5-407D-9B57-12B0E712EBDE}">
      <dgm:prSet/>
      <dgm:spPr/>
      <dgm:t>
        <a:bodyPr/>
        <a:lstStyle/>
        <a:p>
          <a:endParaRPr lang="zh-CN" altLang="en-US"/>
        </a:p>
      </dgm:t>
    </dgm:pt>
    <dgm:pt modelId="{A0873C60-CF6C-4570-B195-64A3EC99B016}" type="sibTrans" cxnId="{1A912B50-E6D5-407D-9B57-12B0E712EBDE}">
      <dgm:prSet/>
      <dgm:spPr/>
      <dgm:t>
        <a:bodyPr/>
        <a:lstStyle/>
        <a:p>
          <a:endParaRPr lang="zh-CN" altLang="en-US"/>
        </a:p>
      </dgm:t>
    </dgm:pt>
    <dgm:pt modelId="{F28B2904-9902-419E-85FA-AC5CE1F43CD2}" type="pres">
      <dgm:prSet presAssocID="{1EF2625B-2516-4868-B287-7E58E840BA59}" presName="linear" presStyleCnt="0">
        <dgm:presLayoutVars>
          <dgm:animLvl val="lvl"/>
          <dgm:resizeHandles val="exact"/>
        </dgm:presLayoutVars>
      </dgm:prSet>
      <dgm:spPr/>
    </dgm:pt>
    <dgm:pt modelId="{3C297A09-FFB3-44A6-A487-4236640D36EE}" type="pres">
      <dgm:prSet presAssocID="{A31D24E5-5CB2-4E5D-87DC-F036979BE26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265C2F2-2CF9-4FF6-87BF-A76FF918AACE}" type="pres">
      <dgm:prSet presAssocID="{A31D24E5-5CB2-4E5D-87DC-F036979BE26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344B55C-F836-4C80-815E-AE2E5B86F923}" type="presOf" srcId="{C4463335-5F0F-4043-8470-0409A4CFEB87}" destId="{D265C2F2-2CF9-4FF6-87BF-A76FF918AACE}" srcOrd="0" destOrd="2" presId="urn:microsoft.com/office/officeart/2005/8/layout/vList2"/>
    <dgm:cxn modelId="{FCB34361-6A63-403C-91F4-C0538E4E3406}" type="presOf" srcId="{53A338CE-5A07-4D15-A184-9B94D21CD476}" destId="{D265C2F2-2CF9-4FF6-87BF-A76FF918AACE}" srcOrd="0" destOrd="3" presId="urn:microsoft.com/office/officeart/2005/8/layout/vList2"/>
    <dgm:cxn modelId="{1A912B50-E6D5-407D-9B57-12B0E712EBDE}" srcId="{A31D24E5-5CB2-4E5D-87DC-F036979BE265}" destId="{53A338CE-5A07-4D15-A184-9B94D21CD476}" srcOrd="3" destOrd="0" parTransId="{924E3981-159C-4608-93AA-1A065D46DB6E}" sibTransId="{A0873C60-CF6C-4570-B195-64A3EC99B016}"/>
    <dgm:cxn modelId="{4BB1F881-9453-4F4B-B5FF-425C8789F907}" srcId="{1EF2625B-2516-4868-B287-7E58E840BA59}" destId="{A31D24E5-5CB2-4E5D-87DC-F036979BE265}" srcOrd="0" destOrd="0" parTransId="{17E32C1F-5446-4AF6-ADF9-E5BD63AFD86A}" sibTransId="{038BB23F-BECD-47E9-855F-13D458E7665A}"/>
    <dgm:cxn modelId="{772E2D92-B4DA-485C-93EE-75DE917AC1D8}" srcId="{A31D24E5-5CB2-4E5D-87DC-F036979BE265}" destId="{C4463335-5F0F-4043-8470-0409A4CFEB87}" srcOrd="2" destOrd="0" parTransId="{675386E6-80DE-421F-8D01-C592CCA9BD37}" sibTransId="{07D39730-A479-425E-9FEE-5832009FF36F}"/>
    <dgm:cxn modelId="{000F4B99-327A-45C7-926D-24495DC9B83A}" srcId="{A31D24E5-5CB2-4E5D-87DC-F036979BE265}" destId="{E05D667C-0E25-4109-ABF8-CDF238D5A0B3}" srcOrd="0" destOrd="0" parTransId="{8F7C1B1E-494E-4FD3-88D7-A037D3D7F9F7}" sibTransId="{C8587B7E-9415-4F5A-8CF9-627DF30D8D83}"/>
    <dgm:cxn modelId="{86F567A3-36C0-40C8-85B9-4A177C2E4597}" type="presOf" srcId="{A31D24E5-5CB2-4E5D-87DC-F036979BE265}" destId="{3C297A09-FFB3-44A6-A487-4236640D36EE}" srcOrd="0" destOrd="0" presId="urn:microsoft.com/office/officeart/2005/8/layout/vList2"/>
    <dgm:cxn modelId="{4AE0DFA8-4B53-4E41-8B64-E9E1CC197CD2}" srcId="{A31D24E5-5CB2-4E5D-87DC-F036979BE265}" destId="{2D49D1E0-8818-4EDA-86F5-2F40B436C3EF}" srcOrd="1" destOrd="0" parTransId="{20FEA244-8D10-4DF2-B501-C6E250880B09}" sibTransId="{58B49E15-0713-4F65-AD32-0A436D51C700}"/>
    <dgm:cxn modelId="{21ECC4C3-F9C4-46CC-93C1-FFB3117FCA06}" type="presOf" srcId="{E05D667C-0E25-4109-ABF8-CDF238D5A0B3}" destId="{D265C2F2-2CF9-4FF6-87BF-A76FF918AACE}" srcOrd="0" destOrd="0" presId="urn:microsoft.com/office/officeart/2005/8/layout/vList2"/>
    <dgm:cxn modelId="{7583E2E2-78F3-4B4E-8FA0-DAE5F2DB3EC3}" type="presOf" srcId="{2D49D1E0-8818-4EDA-86F5-2F40B436C3EF}" destId="{D265C2F2-2CF9-4FF6-87BF-A76FF918AACE}" srcOrd="0" destOrd="1" presId="urn:microsoft.com/office/officeart/2005/8/layout/vList2"/>
    <dgm:cxn modelId="{6872E8E4-0666-452C-A453-B7C0948A9B31}" type="presOf" srcId="{1EF2625B-2516-4868-B287-7E58E840BA59}" destId="{F28B2904-9902-419E-85FA-AC5CE1F43CD2}" srcOrd="0" destOrd="0" presId="urn:microsoft.com/office/officeart/2005/8/layout/vList2"/>
    <dgm:cxn modelId="{5D30F061-DAE2-4B80-A711-E2168CFC7062}" type="presParOf" srcId="{F28B2904-9902-419E-85FA-AC5CE1F43CD2}" destId="{3C297A09-FFB3-44A6-A487-4236640D36EE}" srcOrd="0" destOrd="0" presId="urn:microsoft.com/office/officeart/2005/8/layout/vList2"/>
    <dgm:cxn modelId="{C69C8BE3-15C4-4C22-B3CF-8C946CB4812C}" type="presParOf" srcId="{F28B2904-9902-419E-85FA-AC5CE1F43CD2}" destId="{D265C2F2-2CF9-4FF6-87BF-A76FF918AACE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F2625B-2516-4868-B287-7E58E840BA5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A31D24E5-5CB2-4E5D-87DC-F036979BE265}">
      <dgm:prSet phldrT="[文本]" custT="1"/>
      <dgm:spPr/>
      <dgm:t>
        <a:bodyPr/>
        <a:lstStyle/>
        <a:p>
          <a:pPr>
            <a:lnSpc>
              <a:spcPct val="100000"/>
            </a:lnSpc>
          </a:pPr>
          <a:r>
            <a:rPr lang="zh-CN" altLang="en-US" sz="16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后张法施工：</a:t>
          </a:r>
        </a:p>
      </dgm:t>
    </dgm:pt>
    <dgm:pt modelId="{17E32C1F-5446-4AF6-ADF9-E5BD63AFD86A}" type="parTrans" cxnId="{4BB1F881-9453-4F4B-B5FF-425C8789F907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16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038BB23F-BECD-47E9-855F-13D458E7665A}" type="sibTrans" cxnId="{4BB1F881-9453-4F4B-B5FF-425C8789F907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16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E05D667C-0E25-4109-ABF8-CDF238D5A0B3}">
      <dgm:prSet phldrT="[文本]" custT="1"/>
      <dgm:spPr/>
      <dgm:t>
        <a:bodyPr/>
        <a:lstStyle/>
        <a:p>
          <a:pPr>
            <a:lnSpc>
              <a:spcPct val="100000"/>
            </a:lnSpc>
          </a:pPr>
          <a:r>
            <a:rPr lang="zh-CN" altLang="en-US" sz="16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定义：</a:t>
          </a:r>
        </a:p>
      </dgm:t>
    </dgm:pt>
    <dgm:pt modelId="{8F7C1B1E-494E-4FD3-88D7-A037D3D7F9F7}" type="parTrans" cxnId="{000F4B99-327A-45C7-926D-24495DC9B83A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16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C8587B7E-9415-4F5A-8CF9-627DF30D8D83}" type="sibTrans" cxnId="{000F4B99-327A-45C7-926D-24495DC9B83A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16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C4463335-5F0F-4043-8470-0409A4CFEB87}">
      <dgm:prSet phldrT="[文本]" custT="1"/>
      <dgm:spPr/>
      <dgm:t>
        <a:bodyPr/>
        <a:lstStyle/>
        <a:p>
          <a:pPr>
            <a:lnSpc>
              <a:spcPct val="100000"/>
            </a:lnSpc>
          </a:pPr>
          <a:r>
            <a:rPr lang="zh-CN" altLang="en-US" sz="16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适用范围：</a:t>
          </a:r>
        </a:p>
      </dgm:t>
    </dgm:pt>
    <dgm:pt modelId="{675386E6-80DE-421F-8D01-C592CCA9BD37}" type="parTrans" cxnId="{772E2D92-B4DA-485C-93EE-75DE917AC1D8}">
      <dgm:prSet/>
      <dgm:spPr/>
      <dgm:t>
        <a:bodyPr/>
        <a:lstStyle/>
        <a:p>
          <a:endParaRPr lang="zh-CN" altLang="en-US" sz="1600"/>
        </a:p>
      </dgm:t>
    </dgm:pt>
    <dgm:pt modelId="{07D39730-A479-425E-9FEE-5832009FF36F}" type="sibTrans" cxnId="{772E2D92-B4DA-485C-93EE-75DE917AC1D8}">
      <dgm:prSet/>
      <dgm:spPr/>
      <dgm:t>
        <a:bodyPr/>
        <a:lstStyle/>
        <a:p>
          <a:endParaRPr lang="zh-CN" altLang="en-US" sz="1600"/>
        </a:p>
      </dgm:t>
    </dgm:pt>
    <dgm:pt modelId="{2D49D1E0-8818-4EDA-86F5-2F40B436C3EF}">
      <dgm:prSet phldrT="[文本]" custT="1"/>
      <dgm:spPr/>
      <dgm:t>
        <a:bodyPr/>
        <a:lstStyle/>
        <a:p>
          <a:pPr>
            <a:lnSpc>
              <a:spcPct val="100000"/>
            </a:lnSpc>
          </a:pPr>
          <a:r>
            <a:rPr lang="zh-CN" altLang="en-US" sz="16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        后张法是先制作构件，并在预应力筋的位置预留出相应的孔道，待混凝土强度达到设计规定的数值后，穿入预应力筋并施加预应力。张拉力由锚具传给混凝土构件而使之产生预压力。张拉完毕几小时后，就可在孔道内灌浆。</a:t>
          </a:r>
        </a:p>
      </dgm:t>
    </dgm:pt>
    <dgm:pt modelId="{20FEA244-8D10-4DF2-B501-C6E250880B09}" type="parTrans" cxnId="{4AE0DFA8-4B53-4E41-8B64-E9E1CC197CD2}">
      <dgm:prSet/>
      <dgm:spPr/>
      <dgm:t>
        <a:bodyPr/>
        <a:lstStyle/>
        <a:p>
          <a:endParaRPr lang="zh-CN" altLang="en-US" sz="1600"/>
        </a:p>
      </dgm:t>
    </dgm:pt>
    <dgm:pt modelId="{58B49E15-0713-4F65-AD32-0A436D51C700}" type="sibTrans" cxnId="{4AE0DFA8-4B53-4E41-8B64-E9E1CC197CD2}">
      <dgm:prSet/>
      <dgm:spPr/>
      <dgm:t>
        <a:bodyPr/>
        <a:lstStyle/>
        <a:p>
          <a:endParaRPr lang="zh-CN" altLang="en-US" sz="1600"/>
        </a:p>
      </dgm:t>
    </dgm:pt>
    <dgm:pt modelId="{53A338CE-5A07-4D15-A184-9B94D21CD476}">
      <dgm:prSet phldrT="[文本]" custT="1"/>
      <dgm:spPr/>
      <dgm:t>
        <a:bodyPr/>
        <a:lstStyle/>
        <a:p>
          <a:pPr>
            <a:lnSpc>
              <a:spcPct val="100000"/>
            </a:lnSpc>
          </a:pPr>
          <a:r>
            <a:rPr lang="zh-CN" altLang="en-US" sz="16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        后张法适用于现场生产大型预应力构件、特种结构和构筑物，也可作为预制构件的一种拼装手段。</a:t>
          </a:r>
        </a:p>
      </dgm:t>
    </dgm:pt>
    <dgm:pt modelId="{924E3981-159C-4608-93AA-1A065D46DB6E}" type="parTrans" cxnId="{1A912B50-E6D5-407D-9B57-12B0E712EBDE}">
      <dgm:prSet/>
      <dgm:spPr/>
      <dgm:t>
        <a:bodyPr/>
        <a:lstStyle/>
        <a:p>
          <a:endParaRPr lang="zh-CN" altLang="en-US" sz="1600"/>
        </a:p>
      </dgm:t>
    </dgm:pt>
    <dgm:pt modelId="{A0873C60-CF6C-4570-B195-64A3EC99B016}" type="sibTrans" cxnId="{1A912B50-E6D5-407D-9B57-12B0E712EBDE}">
      <dgm:prSet/>
      <dgm:spPr/>
      <dgm:t>
        <a:bodyPr/>
        <a:lstStyle/>
        <a:p>
          <a:endParaRPr lang="zh-CN" altLang="en-US" sz="1600"/>
        </a:p>
      </dgm:t>
    </dgm:pt>
    <dgm:pt modelId="{73C7BAC2-2A39-41DA-AA64-2BC8CCFD35DE}">
      <dgm:prSet phldrT="[文本]" custT="1"/>
      <dgm:spPr/>
      <dgm:t>
        <a:bodyPr/>
        <a:lstStyle/>
        <a:p>
          <a:pPr>
            <a:lnSpc>
              <a:spcPct val="100000"/>
            </a:lnSpc>
          </a:pPr>
          <a:r>
            <a:rPr lang="zh-CN" altLang="en-US" sz="16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分类：</a:t>
          </a:r>
        </a:p>
      </dgm:t>
    </dgm:pt>
    <dgm:pt modelId="{5E1D4CA4-D024-4DBE-9541-828F640E4D63}" type="parTrans" cxnId="{20080187-431F-4877-A97D-ED7D94EE3F10}">
      <dgm:prSet/>
      <dgm:spPr/>
      <dgm:t>
        <a:bodyPr/>
        <a:lstStyle/>
        <a:p>
          <a:endParaRPr lang="zh-CN" altLang="en-US" sz="1600"/>
        </a:p>
      </dgm:t>
    </dgm:pt>
    <dgm:pt modelId="{116C0E6B-260D-4226-994F-0252ADE3909A}" type="sibTrans" cxnId="{20080187-431F-4877-A97D-ED7D94EE3F10}">
      <dgm:prSet/>
      <dgm:spPr/>
      <dgm:t>
        <a:bodyPr/>
        <a:lstStyle/>
        <a:p>
          <a:endParaRPr lang="zh-CN" altLang="en-US" sz="1600"/>
        </a:p>
      </dgm:t>
    </dgm:pt>
    <dgm:pt modelId="{E0BBA19B-60ED-457E-B950-EE9F5B9828BB}">
      <dgm:prSet phldrT="[文本]" custT="1"/>
      <dgm:spPr/>
      <dgm:t>
        <a:bodyPr/>
        <a:lstStyle/>
        <a:p>
          <a:pPr>
            <a:lnSpc>
              <a:spcPct val="100000"/>
            </a:lnSpc>
          </a:pPr>
          <a:r>
            <a:rPr lang="zh-CN" altLang="en-US" sz="16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        后张法施工分为有黏结后张法施工和无黏结预应力施工。</a:t>
          </a:r>
        </a:p>
      </dgm:t>
    </dgm:pt>
    <dgm:pt modelId="{21A3E78D-A0DB-4627-9A08-2320581B7845}" type="parTrans" cxnId="{F62C11BB-1EF6-491C-AD77-8240A3C07097}">
      <dgm:prSet/>
      <dgm:spPr/>
    </dgm:pt>
    <dgm:pt modelId="{DD730A3C-4A7F-4154-8BDC-A41BCCFD811E}" type="sibTrans" cxnId="{F62C11BB-1EF6-491C-AD77-8240A3C07097}">
      <dgm:prSet/>
      <dgm:spPr/>
    </dgm:pt>
    <dgm:pt modelId="{F28B2904-9902-419E-85FA-AC5CE1F43CD2}" type="pres">
      <dgm:prSet presAssocID="{1EF2625B-2516-4868-B287-7E58E840BA59}" presName="linear" presStyleCnt="0">
        <dgm:presLayoutVars>
          <dgm:animLvl val="lvl"/>
          <dgm:resizeHandles val="exact"/>
        </dgm:presLayoutVars>
      </dgm:prSet>
      <dgm:spPr/>
    </dgm:pt>
    <dgm:pt modelId="{3C297A09-FFB3-44A6-A487-4236640D36EE}" type="pres">
      <dgm:prSet presAssocID="{A31D24E5-5CB2-4E5D-87DC-F036979BE26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265C2F2-2CF9-4FF6-87BF-A76FF918AACE}" type="pres">
      <dgm:prSet presAssocID="{A31D24E5-5CB2-4E5D-87DC-F036979BE26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10AF317-286D-4E8E-B2CD-C0CC7BF26826}" type="presOf" srcId="{C4463335-5F0F-4043-8470-0409A4CFEB87}" destId="{D265C2F2-2CF9-4FF6-87BF-A76FF918AACE}" srcOrd="0" destOrd="2" presId="urn:microsoft.com/office/officeart/2005/8/layout/vList2"/>
    <dgm:cxn modelId="{FE38A264-62D1-4C1B-B8C9-BE22AC0DC863}" type="presOf" srcId="{E05D667C-0E25-4109-ABF8-CDF238D5A0B3}" destId="{D265C2F2-2CF9-4FF6-87BF-A76FF918AACE}" srcOrd="0" destOrd="0" presId="urn:microsoft.com/office/officeart/2005/8/layout/vList2"/>
    <dgm:cxn modelId="{9C701D4F-EA2B-498A-B335-BFF637EBF6E3}" type="presOf" srcId="{E0BBA19B-60ED-457E-B950-EE9F5B9828BB}" destId="{D265C2F2-2CF9-4FF6-87BF-A76FF918AACE}" srcOrd="0" destOrd="5" presId="urn:microsoft.com/office/officeart/2005/8/layout/vList2"/>
    <dgm:cxn modelId="{1A912B50-E6D5-407D-9B57-12B0E712EBDE}" srcId="{A31D24E5-5CB2-4E5D-87DC-F036979BE265}" destId="{53A338CE-5A07-4D15-A184-9B94D21CD476}" srcOrd="3" destOrd="0" parTransId="{924E3981-159C-4608-93AA-1A065D46DB6E}" sibTransId="{A0873C60-CF6C-4570-B195-64A3EC99B016}"/>
    <dgm:cxn modelId="{4BB1F881-9453-4F4B-B5FF-425C8789F907}" srcId="{1EF2625B-2516-4868-B287-7E58E840BA59}" destId="{A31D24E5-5CB2-4E5D-87DC-F036979BE265}" srcOrd="0" destOrd="0" parTransId="{17E32C1F-5446-4AF6-ADF9-E5BD63AFD86A}" sibTransId="{038BB23F-BECD-47E9-855F-13D458E7665A}"/>
    <dgm:cxn modelId="{20080187-431F-4877-A97D-ED7D94EE3F10}" srcId="{A31D24E5-5CB2-4E5D-87DC-F036979BE265}" destId="{73C7BAC2-2A39-41DA-AA64-2BC8CCFD35DE}" srcOrd="4" destOrd="0" parTransId="{5E1D4CA4-D024-4DBE-9541-828F640E4D63}" sibTransId="{116C0E6B-260D-4226-994F-0252ADE3909A}"/>
    <dgm:cxn modelId="{772E2D92-B4DA-485C-93EE-75DE917AC1D8}" srcId="{A31D24E5-5CB2-4E5D-87DC-F036979BE265}" destId="{C4463335-5F0F-4043-8470-0409A4CFEB87}" srcOrd="2" destOrd="0" parTransId="{675386E6-80DE-421F-8D01-C592CCA9BD37}" sibTransId="{07D39730-A479-425E-9FEE-5832009FF36F}"/>
    <dgm:cxn modelId="{B938F692-2C11-4D37-98C5-3DDA21F92066}" type="presOf" srcId="{2D49D1E0-8818-4EDA-86F5-2F40B436C3EF}" destId="{D265C2F2-2CF9-4FF6-87BF-A76FF918AACE}" srcOrd="0" destOrd="1" presId="urn:microsoft.com/office/officeart/2005/8/layout/vList2"/>
    <dgm:cxn modelId="{39D41695-D439-4DEE-8A54-165E84479065}" type="presOf" srcId="{1EF2625B-2516-4868-B287-7E58E840BA59}" destId="{F28B2904-9902-419E-85FA-AC5CE1F43CD2}" srcOrd="0" destOrd="0" presId="urn:microsoft.com/office/officeart/2005/8/layout/vList2"/>
    <dgm:cxn modelId="{000F4B99-327A-45C7-926D-24495DC9B83A}" srcId="{A31D24E5-5CB2-4E5D-87DC-F036979BE265}" destId="{E05D667C-0E25-4109-ABF8-CDF238D5A0B3}" srcOrd="0" destOrd="0" parTransId="{8F7C1B1E-494E-4FD3-88D7-A037D3D7F9F7}" sibTransId="{C8587B7E-9415-4F5A-8CF9-627DF30D8D83}"/>
    <dgm:cxn modelId="{D2FD2DA6-676D-4DCE-BBD7-7AE6510D7095}" type="presOf" srcId="{53A338CE-5A07-4D15-A184-9B94D21CD476}" destId="{D265C2F2-2CF9-4FF6-87BF-A76FF918AACE}" srcOrd="0" destOrd="3" presId="urn:microsoft.com/office/officeart/2005/8/layout/vList2"/>
    <dgm:cxn modelId="{4AE0DFA8-4B53-4E41-8B64-E9E1CC197CD2}" srcId="{A31D24E5-5CB2-4E5D-87DC-F036979BE265}" destId="{2D49D1E0-8818-4EDA-86F5-2F40B436C3EF}" srcOrd="1" destOrd="0" parTransId="{20FEA244-8D10-4DF2-B501-C6E250880B09}" sibTransId="{58B49E15-0713-4F65-AD32-0A436D51C700}"/>
    <dgm:cxn modelId="{F62C11BB-1EF6-491C-AD77-8240A3C07097}" srcId="{A31D24E5-5CB2-4E5D-87DC-F036979BE265}" destId="{E0BBA19B-60ED-457E-B950-EE9F5B9828BB}" srcOrd="5" destOrd="0" parTransId="{21A3E78D-A0DB-4627-9A08-2320581B7845}" sibTransId="{DD730A3C-4A7F-4154-8BDC-A41BCCFD811E}"/>
    <dgm:cxn modelId="{8C1A88C8-1115-4EE0-984F-F217203C9BE0}" type="presOf" srcId="{A31D24E5-5CB2-4E5D-87DC-F036979BE265}" destId="{3C297A09-FFB3-44A6-A487-4236640D36EE}" srcOrd="0" destOrd="0" presId="urn:microsoft.com/office/officeart/2005/8/layout/vList2"/>
    <dgm:cxn modelId="{62047AE5-B072-42AB-82AD-F0959884A79A}" type="presOf" srcId="{73C7BAC2-2A39-41DA-AA64-2BC8CCFD35DE}" destId="{D265C2F2-2CF9-4FF6-87BF-A76FF918AACE}" srcOrd="0" destOrd="4" presId="urn:microsoft.com/office/officeart/2005/8/layout/vList2"/>
    <dgm:cxn modelId="{F9DE0B11-BE8A-4101-B2DF-48800A1EF841}" type="presParOf" srcId="{F28B2904-9902-419E-85FA-AC5CE1F43CD2}" destId="{3C297A09-FFB3-44A6-A487-4236640D36EE}" srcOrd="0" destOrd="0" presId="urn:microsoft.com/office/officeart/2005/8/layout/vList2"/>
    <dgm:cxn modelId="{815B351F-7B4C-4DB8-8B4D-4C1C91C8D11C}" type="presParOf" srcId="{F28B2904-9902-419E-85FA-AC5CE1F43CD2}" destId="{D265C2F2-2CF9-4FF6-87BF-A76FF918AACE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297A09-FFB3-44A6-A487-4236640D36EE}">
      <dsp:nvSpPr>
        <dsp:cNvPr id="0" name=""/>
        <dsp:cNvSpPr/>
      </dsp:nvSpPr>
      <dsp:spPr>
        <a:xfrm>
          <a:off x="0" y="24457"/>
          <a:ext cx="4112413" cy="8798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先张法施工：</a:t>
          </a:r>
        </a:p>
      </dsp:txBody>
      <dsp:txXfrm>
        <a:off x="42950" y="67407"/>
        <a:ext cx="4026513" cy="793940"/>
      </dsp:txXfrm>
    </dsp:sp>
    <dsp:sp modelId="{D265C2F2-2CF9-4FF6-87BF-A76FF918AACE}">
      <dsp:nvSpPr>
        <dsp:cNvPr id="0" name=""/>
        <dsp:cNvSpPr/>
      </dsp:nvSpPr>
      <dsp:spPr>
        <a:xfrm>
          <a:off x="0" y="904297"/>
          <a:ext cx="4112413" cy="3794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569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定义：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        先张法是在台座或模板上先张拉预应力筋并用夹具临时固定，再浇筑混凝土，待混凝土达到一定强度后（一般不低于设计强度等级的</a:t>
          </a:r>
          <a:r>
            <a:rPr lang="en-US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75%</a:t>
          </a: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），放张预应力筋，通过预应力筋与混凝土的黏结力，使混凝土产生预压应力的施工方法。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适用范围：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        先张法多用于预制构件厂生产定型的中小型构件，也常用于生产预应力桥跨结构等。</a:t>
          </a:r>
        </a:p>
      </dsp:txBody>
      <dsp:txXfrm>
        <a:off x="0" y="904297"/>
        <a:ext cx="4112413" cy="3794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297A09-FFB3-44A6-A487-4236640D36EE}">
      <dsp:nvSpPr>
        <dsp:cNvPr id="0" name=""/>
        <dsp:cNvSpPr/>
      </dsp:nvSpPr>
      <dsp:spPr>
        <a:xfrm>
          <a:off x="0" y="12532"/>
          <a:ext cx="4112413" cy="6739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后张法施工：</a:t>
          </a:r>
        </a:p>
      </dsp:txBody>
      <dsp:txXfrm>
        <a:off x="32898" y="45430"/>
        <a:ext cx="4046617" cy="608124"/>
      </dsp:txXfrm>
    </dsp:sp>
    <dsp:sp modelId="{D265C2F2-2CF9-4FF6-87BF-A76FF918AACE}">
      <dsp:nvSpPr>
        <dsp:cNvPr id="0" name=""/>
        <dsp:cNvSpPr/>
      </dsp:nvSpPr>
      <dsp:spPr>
        <a:xfrm>
          <a:off x="0" y="686452"/>
          <a:ext cx="4112413" cy="4024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569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6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定义：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6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        后张法是先制作构件，并在预应力筋的位置预留出相应的孔道，待混凝土强度达到设计规定的数值后，穿入预应力筋并施加预应力。张拉力由锚具传给混凝土构件而使之产生预压力。张拉完毕几小时后，就可在孔道内灌浆。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6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适用范围：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6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        后张法适用于现场生产大型预应力构件、特种结构和构筑物，也可作为预制构件的一种拼装手段。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6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分类：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6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        后张法施工分为有黏结后张法施工和无黏结预应力施工。</a:t>
          </a:r>
        </a:p>
      </dsp:txBody>
      <dsp:txXfrm>
        <a:off x="0" y="686452"/>
        <a:ext cx="4112413" cy="40240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17AAB-FCBD-40B2-B028-268332E93037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3F446-A760-4077-983F-8A30C4399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467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" t="12301" r="1751" b="1600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0F58-3108-4415-857A-6D0360DF626E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85CE2-CEAD-46BB-861E-7D62265DC96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5133793" y="1806593"/>
            <a:ext cx="2945922" cy="303719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tx1"/>
                </a:solidFill>
                <a:effectLst/>
                <a:latin typeface="+mn-ea"/>
                <a:ea typeface="+mn-ea"/>
              </a:defRPr>
            </a:lvl1pPr>
            <a:lvl2pPr marL="257175" indent="0" algn="ctr">
              <a:buNone/>
              <a:defRPr sz="1100"/>
            </a:lvl2pPr>
            <a:lvl3pPr marL="514350" indent="0" algn="ctr">
              <a:buNone/>
              <a:defRPr sz="1000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 dirty="0"/>
              <a:t>单击此处添加您的副标题</a:t>
            </a:r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4822164" y="983400"/>
            <a:ext cx="3727691" cy="805914"/>
          </a:xfrm>
        </p:spPr>
        <p:txBody>
          <a:bodyPr vert="horz" anchor="b">
            <a:noAutofit/>
          </a:bodyPr>
          <a:lstStyle>
            <a:lvl1pPr algn="ctr">
              <a:lnSpc>
                <a:spcPct val="100000"/>
              </a:lnSpc>
              <a:defRPr sz="2400" b="1" kern="1000" baseline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单击此处添加您的标题文字</a:t>
            </a:r>
          </a:p>
        </p:txBody>
      </p:sp>
    </p:spTree>
    <p:extLst>
      <p:ext uri="{BB962C8B-B14F-4D97-AF65-F5344CB8AC3E}">
        <p14:creationId xmlns:p14="http://schemas.microsoft.com/office/powerpoint/2010/main" val="489679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67">
          <p15:clr>
            <a:srgbClr val="FBAE40"/>
          </p15:clr>
        </p15:guide>
        <p15:guide id="0" orient="horz" pos="2160" userDrawn="1">
          <p15:clr>
            <a:srgbClr val="FBAE40"/>
          </p15:clr>
        </p15:guide>
        <p15:guide id="2" pos="66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200" b="1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defRPr>
            </a:lvl1pPr>
            <a:lvl2pPr>
              <a:defRPr sz="1400" b="1"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05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1574008" y="1581152"/>
            <a:ext cx="5995988" cy="926306"/>
          </a:xfrm>
        </p:spPr>
        <p:txBody>
          <a:bodyPr anchor="b">
            <a:normAutofit/>
          </a:bodyPr>
          <a:lstStyle>
            <a:lvl1pPr algn="ctr">
              <a:defRPr sz="2000">
                <a:solidFill>
                  <a:schemeClr val="tx1">
                    <a:lumMod val="50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3038171" y="2550318"/>
            <a:ext cx="3067663" cy="268109"/>
          </a:xfrm>
          <a:prstGeom prst="roundRect">
            <a:avLst>
              <a:gd name="adj" fmla="val 50000"/>
            </a:avLst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tx1"/>
                </a:solidFill>
              </a:defRPr>
            </a:lvl1pPr>
            <a:lvl2pPr marL="25717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341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049867" y="933453"/>
            <a:ext cx="3810000" cy="369927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4889501" y="933453"/>
            <a:ext cx="3820587" cy="369927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907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727199" y="88899"/>
            <a:ext cx="6984076" cy="5377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8" y="1032272"/>
            <a:ext cx="3868340" cy="617934"/>
          </a:xfrm>
        </p:spPr>
        <p:txBody>
          <a:bodyPr anchor="b">
            <a:normAutofit/>
          </a:bodyPr>
          <a:lstStyle>
            <a:lvl1pPr marL="0" indent="0">
              <a:buNone/>
              <a:defRPr sz="10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8" y="16502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5" y="1032272"/>
            <a:ext cx="3887391" cy="617934"/>
          </a:xfrm>
        </p:spPr>
        <p:txBody>
          <a:bodyPr anchor="b">
            <a:normAutofit/>
          </a:bodyPr>
          <a:lstStyle>
            <a:lvl1pPr marL="0" indent="0">
              <a:buNone/>
              <a:defRPr sz="10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5" y="16502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08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76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79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58444" y="400052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4115992" y="797724"/>
            <a:ext cx="4629150" cy="3655219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858444" y="1600202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800"/>
            </a:lvl2pPr>
            <a:lvl3pPr marL="514350" indent="0">
              <a:buNone/>
              <a:defRPr sz="700"/>
            </a:lvl3pPr>
            <a:lvl4pPr marL="771525" indent="0">
              <a:buNone/>
              <a:defRPr sz="600"/>
            </a:lvl4pPr>
            <a:lvl5pPr marL="1028700" indent="0">
              <a:buNone/>
              <a:defRPr sz="600"/>
            </a:lvl5pPr>
            <a:lvl6pPr marL="1285875" indent="0">
              <a:buNone/>
              <a:defRPr sz="600"/>
            </a:lvl6pPr>
            <a:lvl7pPr marL="1543050" indent="0">
              <a:buNone/>
              <a:defRPr sz="600"/>
            </a:lvl7pPr>
            <a:lvl8pPr marL="1800225" indent="0">
              <a:buNone/>
              <a:defRPr sz="600"/>
            </a:lvl8pPr>
            <a:lvl9pPr marL="205740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485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934644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4082125" y="740572"/>
            <a:ext cx="4629150" cy="3655219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600"/>
            </a:lvl2pPr>
            <a:lvl3pPr marL="514350" indent="0">
              <a:buNone/>
              <a:defRPr sz="1400"/>
            </a:lvl3pPr>
            <a:lvl4pPr marL="771525" indent="0">
              <a:buNone/>
              <a:defRPr sz="1100"/>
            </a:lvl4pPr>
            <a:lvl5pPr marL="1028700" indent="0">
              <a:buNone/>
              <a:defRPr sz="1100"/>
            </a:lvl5pPr>
            <a:lvl6pPr marL="1285875" indent="0">
              <a:buNone/>
              <a:defRPr sz="1100"/>
            </a:lvl6pPr>
            <a:lvl7pPr marL="1543050" indent="0">
              <a:buNone/>
              <a:defRPr sz="1100"/>
            </a:lvl7pPr>
            <a:lvl8pPr marL="1800225" indent="0">
              <a:buNone/>
              <a:defRPr sz="1100"/>
            </a:lvl8pPr>
            <a:lvl9pPr marL="2057400" indent="0">
              <a:buNone/>
              <a:defRPr sz="11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934644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800"/>
            </a:lvl2pPr>
            <a:lvl3pPr marL="514350" indent="0">
              <a:buNone/>
              <a:defRPr sz="700"/>
            </a:lvl3pPr>
            <a:lvl4pPr marL="771525" indent="0">
              <a:buNone/>
              <a:defRPr sz="600"/>
            </a:lvl4pPr>
            <a:lvl5pPr marL="1028700" indent="0">
              <a:buNone/>
              <a:defRPr sz="600"/>
            </a:lvl5pPr>
            <a:lvl6pPr marL="1285875" indent="0">
              <a:buNone/>
              <a:defRPr sz="600"/>
            </a:lvl6pPr>
            <a:lvl7pPr marL="1543050" indent="0">
              <a:buNone/>
              <a:defRPr sz="600"/>
            </a:lvl7pPr>
            <a:lvl8pPr marL="1800225" indent="0">
              <a:buNone/>
              <a:defRPr sz="600"/>
            </a:lvl8pPr>
            <a:lvl9pPr marL="205740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004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067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628469" y="273844"/>
            <a:ext cx="886883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585383" y="273844"/>
            <a:ext cx="5949952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963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4" t="26028" r="6166" b="4484"/>
          <a:stretch/>
        </p:blipFill>
        <p:spPr>
          <a:xfrm>
            <a:off x="-2" y="1753372"/>
            <a:ext cx="5924552" cy="3390128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628650" y="483870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1FE7BD1D-B284-4506-85BF-D02BB5BA5E47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3028950" y="483870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483870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854015" y="850107"/>
            <a:ext cx="7866654" cy="382510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504826" y="160440"/>
            <a:ext cx="8215844" cy="597008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06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6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  <p:sldLayoutId id="2147484103" r:id="rId10"/>
    <p:sldLayoutId id="2147484104" r:id="rId11"/>
  </p:sldLayoutIdLst>
  <p:txStyles>
    <p:titleStyle>
      <a:lvl1pPr algn="ctr" defTabSz="514350" rtl="0" eaLnBrk="1" latinLnBrk="0" hangingPunct="1">
        <a:lnSpc>
          <a:spcPct val="90000"/>
        </a:lnSpc>
        <a:spcBef>
          <a:spcPct val="0"/>
        </a:spcBef>
        <a:buNone/>
        <a:defRPr sz="2400" b="0" i="0" kern="1200" baseline="0">
          <a:solidFill>
            <a:schemeClr val="tx1">
              <a:lumMod val="50000"/>
            </a:schemeClr>
          </a:solidFill>
          <a:effectLst/>
          <a:latin typeface="+mj-ea"/>
          <a:ea typeface="+mj-ea"/>
          <a:cs typeface="+mj-cs"/>
        </a:defRPr>
      </a:lvl1pPr>
    </p:titleStyle>
    <p:bodyStyle>
      <a:lvl1pPr marL="271463" indent="-271463" algn="just" defTabSz="51435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accent2"/>
        </a:buClr>
        <a:buSzPct val="50000"/>
        <a:buFont typeface="Wingdings 2" panose="05020102010507070707" pitchFamily="18" charset="2"/>
        <a:buChar char=""/>
        <a:defRPr lang="zh-CN" altLang="en-US" sz="1800" b="1" kern="1200" baseline="0" dirty="0" smtClean="0">
          <a:solidFill>
            <a:schemeClr val="accent1"/>
          </a:solidFill>
          <a:latin typeface="+mn-ea"/>
          <a:ea typeface="+mn-ea"/>
          <a:cs typeface="+mn-cs"/>
        </a:defRPr>
      </a:lvl1pPr>
      <a:lvl2pPr marL="271463" indent="-271463" algn="just" defTabSz="51435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400" b="0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1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microsoft.com/office/2007/relationships/hdphoto" Target="../media/hdphoto3.wdp"/><Relationship Id="rId7" Type="http://schemas.openxmlformats.org/officeDocument/2006/relationships/diagramColors" Target="../diagrams/colors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463" y="368964"/>
            <a:ext cx="8928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六、预应力施加方法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81163"/>
              </p:ext>
            </p:extLst>
          </p:nvPr>
        </p:nvGraphicFramePr>
        <p:xfrm>
          <a:off x="1043607" y="987574"/>
          <a:ext cx="8064896" cy="4104456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637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7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6815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分类</a:t>
                      </a:r>
                    </a:p>
                  </a:txBody>
                  <a:tcPr marL="57239" marR="5723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预应力的施加方法，根据与构件制作相比较的先后顺序，分为先张法、后张法两大类。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8152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特点</a:t>
                      </a:r>
                    </a:p>
                  </a:txBody>
                  <a:tcPr marL="57239" marR="5723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）先张法——先张拉预应力筋，再浇筑砼；预应力是靠预应力筋与砼之间的粘结力传递给砼，并使其产生预压应力。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815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）后张法——先浇筑砼，达到一定强度后，再在其上张拉预应力筋；预应力是靠锚具传递给砼，并使其产生预压应力。</a:t>
                      </a:r>
                      <a:r>
                        <a:rPr lang="zh-CN" alt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锚具作为预应力构件的一个组成部分，永远留在构件上，不能重复使用。</a:t>
                      </a:r>
                      <a:endParaRPr lang="zh-CN" sz="1800" b="1" kern="100" dirty="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105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463" y="36896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（一）先张法施工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9" y="830628"/>
            <a:ext cx="3888432" cy="4261401"/>
          </a:xfrm>
          <a:prstGeom prst="rect">
            <a:avLst/>
          </a:prstGeom>
        </p:spPr>
      </p:pic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2643104258"/>
              </p:ext>
            </p:extLst>
          </p:nvPr>
        </p:nvGraphicFramePr>
        <p:xfrm>
          <a:off x="4932041" y="368964"/>
          <a:ext cx="4112413" cy="47230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3105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463" y="36896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先张法工艺流程</a:t>
            </a:r>
            <a:r>
              <a:rPr lang="en-US" altLang="zh-CN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——</a:t>
            </a:r>
            <a:endParaRPr lang="zh-CN" altLang="en-US" sz="24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9" y="830628"/>
            <a:ext cx="7108100" cy="426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05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678417"/>
              </p:ext>
            </p:extLst>
          </p:nvPr>
        </p:nvGraphicFramePr>
        <p:xfrm>
          <a:off x="1043607" y="411508"/>
          <a:ext cx="7992889" cy="4680521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1008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957"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预应力筋的张拉</a:t>
                      </a:r>
                    </a:p>
                  </a:txBody>
                  <a:tcPr marL="57239" marR="5723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）施加预应力宜采用一端张拉工艺，张拉控制应力和程序按设计要求进行。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68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）当设计无具体要求时，一般采用：</a:t>
                      </a:r>
                      <a:r>
                        <a:rPr lang="en-US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→</a:t>
                      </a:r>
                      <a:r>
                        <a:rPr lang="en-US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1.03</a:t>
                      </a: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σ</a:t>
                      </a:r>
                      <a:r>
                        <a:rPr lang="en-US" sz="1400" b="1" kern="100" baseline="-250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con</a:t>
                      </a: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或</a:t>
                      </a:r>
                      <a:r>
                        <a:rPr lang="en-US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→</a:t>
                      </a:r>
                      <a:r>
                        <a:rPr lang="en-US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1.05</a:t>
                      </a: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σ</a:t>
                      </a:r>
                      <a:r>
                        <a:rPr lang="en-US" sz="1400" b="1" kern="100" baseline="-250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con</a:t>
                      </a: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（持荷</a:t>
                      </a:r>
                      <a:r>
                        <a:rPr lang="en-US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2min</a:t>
                      </a: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）→σ</a:t>
                      </a:r>
                      <a:r>
                        <a:rPr lang="en-US" sz="1400" b="1" kern="100" baseline="-250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con</a:t>
                      </a: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，目的是为了减少预应力的松弛损失。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5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）张拉时，根据构件情况可采用单根、多根或整体一次进行张拉。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5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）当采用单根张拉时，其张拉顺序宜由下向上，由中到边（对称）进行。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2684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混凝土的浇筑与养护</a:t>
                      </a:r>
                    </a:p>
                  </a:txBody>
                  <a:tcPr marL="57239" marR="5723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）采用重叠法生产构件时，应待下层构件的混凝土强度达到</a:t>
                      </a:r>
                      <a:r>
                        <a:rPr lang="en-US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5.0MPa</a:t>
                      </a: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后，方可浇筑上层混凝土。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9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）混凝土可采用自然养护或湿热养护。但必须注意，当预应力混凝土构件进行湿热养护时，应采取正确的养护制度以减少由于温差引起的预应力损失。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253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预应力筋放张</a:t>
                      </a:r>
                    </a:p>
                  </a:txBody>
                  <a:tcPr marL="57239" marR="5723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混凝土强度应符合设计要求；当设计无要求时，不应低于设计的混凝土立方体抗压强度标准值的</a:t>
                      </a:r>
                      <a:r>
                        <a:rPr lang="en-US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75%</a:t>
                      </a:r>
                      <a:r>
                        <a:rPr lang="zh-CN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；采用消除应力钢丝或钢绞线作为预应力筋的先张法构件，尚不应低于</a:t>
                      </a:r>
                      <a:r>
                        <a:rPr lang="en-US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30MPa</a:t>
                      </a:r>
                      <a:r>
                        <a:rPr lang="zh-CN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。放张时宜缓慢放松锚固装置，使各根预应力筋同时缓慢放松。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105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463" y="36896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（二）后张法施工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830628"/>
            <a:ext cx="3816424" cy="4261401"/>
          </a:xfrm>
          <a:prstGeom prst="rect">
            <a:avLst/>
          </a:prstGeom>
        </p:spPr>
      </p:pic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2257416038"/>
              </p:ext>
            </p:extLst>
          </p:nvPr>
        </p:nvGraphicFramePr>
        <p:xfrm>
          <a:off x="4932041" y="368964"/>
          <a:ext cx="4112413" cy="47230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3105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5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463" y="36896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后张法工艺流程</a:t>
            </a:r>
            <a:r>
              <a:rPr lang="en-US" altLang="zh-CN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——</a:t>
            </a:r>
            <a:endParaRPr lang="zh-CN" altLang="en-US" sz="24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7" y="830628"/>
            <a:ext cx="7056785" cy="418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05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62700"/>
              </p:ext>
            </p:extLst>
          </p:nvPr>
        </p:nvGraphicFramePr>
        <p:xfrm>
          <a:off x="1043607" y="411510"/>
          <a:ext cx="7992889" cy="4680518"/>
        </p:xfrm>
        <a:graphic>
          <a:graphicData uri="http://schemas.openxmlformats.org/drawingml/2006/table">
            <a:tbl>
              <a:tblPr firstRow="1" firstCol="1" bandRow="1">
                <a:tableStyleId>{0505E3EF-67EA-436B-97B2-0124C06EBD24}</a:tableStyleId>
              </a:tblPr>
              <a:tblGrid>
                <a:gridCol w="777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4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8773">
                <a:tc rowSpan="6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孔道留设</a:t>
                      </a:r>
                    </a:p>
                  </a:txBody>
                  <a:tcPr marL="57239" marR="5723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）孔道形状：直线、曲线、折线三种类型。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48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）留孔方式：预埋金属螺旋管、预埋塑料波纹管、抽拔钢管、胶管充气抽芯。在留设预应力筋孔道的同时，尚应按要求合理留设灌浆孔、 排气孔和 泌水管。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59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）钢管抽芯法：待混凝土初凝后，终凝前抽出钢管，形成孔道。该法只可留设直线孔道。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59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）胶管抽芯法：胶管抽芯留孔与钢管抽芯法相比，它的弹性好，便于弯曲。因此，它不仅可留设直线孔道，也能留设曲线孔道。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77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）预埋波纹管法：波纹管预埋在构件中，浇筑混凝土后永不抽出。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648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）灌浆孔的间距：对预埋金属螺旋管不宜大于</a:t>
                      </a:r>
                      <a:r>
                        <a:rPr lang="en-US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30m</a:t>
                      </a: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；对抽芯成形孔道不宜大于</a:t>
                      </a:r>
                      <a:r>
                        <a:rPr lang="en-US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12m</a:t>
                      </a: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。在曲线孔道的曲线波峰部位应设置排气管兼作泌水管，必要时可在低点设置排水孔；灌浆孔及泌水管的孔径应能保证浆液畅通。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105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041351"/>
              </p:ext>
            </p:extLst>
          </p:nvPr>
        </p:nvGraphicFramePr>
        <p:xfrm>
          <a:off x="1043607" y="555525"/>
          <a:ext cx="7704857" cy="4320480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1032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2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7323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无粘结预应力筋</a:t>
                      </a:r>
                    </a:p>
                  </a:txBody>
                  <a:tcPr marL="57239" marR="5723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）无粘结预应力筋如同普通钢筋一样先铺设在支好的模板内；然后，浇筑混凝土，待混凝土强度达到设计要求后再张拉锚固。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732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）它的特点是不需预留孔道和灌浆，施工简单等，施工的主要工作是无粘结预应力筋的铺设、张拉和锚固区的处理。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58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下料、编束、穿束</a:t>
                      </a:r>
                    </a:p>
                  </a:txBody>
                  <a:tcPr marL="57239" marR="5723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穿束在混凝土浇筑后进行，也可在混凝土浇筑前（蒸汽养护时除外）进行。无粘结预应力筋一般在普通钢筋绑扎后期开始铺设，并与普通钢筋绑扎穿插进行。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105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063442"/>
              </p:ext>
            </p:extLst>
          </p:nvPr>
        </p:nvGraphicFramePr>
        <p:xfrm>
          <a:off x="1043607" y="411510"/>
          <a:ext cx="7992889" cy="4680518"/>
        </p:xfrm>
        <a:graphic>
          <a:graphicData uri="http://schemas.openxmlformats.org/drawingml/2006/table">
            <a:tbl>
              <a:tblPr firstRow="1" firstCol="1" bandRow="1">
                <a:tableStyleId>{22838BEF-8BB2-4498-84A7-C5851F593DF1}</a:tableStyleId>
              </a:tblPr>
              <a:tblGrid>
                <a:gridCol w="924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8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343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预应力筋张拉</a:t>
                      </a:r>
                    </a:p>
                  </a:txBody>
                  <a:tcPr marL="57239" marR="5723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预应力筋张拉时，混凝土强度必须符合设计要求；当设计无具体要求时，不低于设计的混凝土立方体抗压强度标准值的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75%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。对后张法预应力梁和板，现浇结构混凝土的龄期分别不宜小于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7d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和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5d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623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张拉方式</a:t>
                      </a:r>
                    </a:p>
                  </a:txBody>
                  <a:tcPr marL="57239" marR="5723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）有粘结预应力筋长度≤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20m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时，可一端张拉，＞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20m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时，宜两端张拉；预应力筋为直线时，一端张拉长度可延长至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35m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4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）无粘结预应力筋长度≤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40m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时，可一端张拉，＞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40m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时，宜两端张拉。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466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张拉程序</a:t>
                      </a:r>
                    </a:p>
                  </a:txBody>
                  <a:tcPr marL="57239" marR="5723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）普通松弛预应力筋：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→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1.03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σ</a:t>
                      </a:r>
                      <a:r>
                        <a:rPr lang="en-US" sz="1600" b="1" kern="100" baseline="-250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con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或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0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→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1.05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σ</a:t>
                      </a:r>
                      <a:r>
                        <a:rPr lang="en-US" sz="1600" b="1" kern="100" baseline="-250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con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（持荷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5min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）→σ</a:t>
                      </a:r>
                      <a:r>
                        <a:rPr lang="en-US" sz="1600" b="1" kern="100" baseline="-250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con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；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4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）低松弛预应力筋：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→σ</a:t>
                      </a:r>
                      <a:r>
                        <a:rPr lang="en-US" sz="1600" b="1" kern="100" baseline="-250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con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或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0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→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1.01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σ</a:t>
                      </a:r>
                      <a:r>
                        <a:rPr lang="en-US" sz="1600" b="1" kern="100" baseline="-250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con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562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张拉顺序</a:t>
                      </a:r>
                    </a:p>
                  </a:txBody>
                  <a:tcPr marL="57239" marR="5723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宜按均匀、对称的原则张拉；预应力楼盖宜先张拉楼板、次梁，后张拉主梁的预应力筋；对于平卧重叠构件，宜先上后下逐层张拉。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7343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控制指标</a:t>
                      </a:r>
                    </a:p>
                  </a:txBody>
                  <a:tcPr marL="57239" marR="5723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预应力筋的张拉以控制张拉力值（预先换算成油压表读数）为主，以预应力筋张拉伸长值作校核。对后张法预应力结构构件，断裂或滑脱的预应力筋数量严禁超过同一截面预应力筋总数的</a:t>
                      </a:r>
                      <a:r>
                        <a:rPr lang="en-US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3%</a:t>
                      </a: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，且每束钢丝不得超过一丝。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105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108352"/>
              </p:ext>
            </p:extLst>
          </p:nvPr>
        </p:nvGraphicFramePr>
        <p:xfrm>
          <a:off x="971599" y="411515"/>
          <a:ext cx="8064897" cy="4689030"/>
        </p:xfrm>
        <a:graphic>
          <a:graphicData uri="http://schemas.openxmlformats.org/drawingml/2006/table">
            <a:tbl>
              <a:tblPr firstRow="1" firstCol="1" bandRow="1">
                <a:tableStyleId>{16D9F66E-5EB9-4882-86FB-DCBF35E3C3E4}</a:tableStyleId>
              </a:tblPr>
              <a:tblGrid>
                <a:gridCol w="936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94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开始时间</a:t>
                      </a:r>
                    </a:p>
                  </a:txBody>
                  <a:tcPr marL="57239" marR="5723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预应力筋张拉后，应随即进行孔道灌浆。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8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环境</a:t>
                      </a:r>
                    </a:p>
                  </a:txBody>
                  <a:tcPr marL="57239" marR="5723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当工程所处环境温度高于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35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℃或连续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天环境日平均温度低于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℃时，不宜进行灌浆施工。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447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水泥浆的原材料</a:t>
                      </a:r>
                    </a:p>
                  </a:txBody>
                  <a:tcPr marL="57239" marR="5723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）水泥宜采用强度等级不低于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42.5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的硅酸盐水泥或普通硅酸盐水泥；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4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）水泥浆中氯离子含量不应超过水泥重量的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0.06%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；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4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）拌和用水和掺加的外加剂中不应含有对预应力筋或水泥有害的成分。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787">
                <a:tc row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水泥浆的性能、制备及使用</a:t>
                      </a:r>
                    </a:p>
                  </a:txBody>
                  <a:tcPr marL="57239" marR="5723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）采用普通灌浆工艺时稠度宜控制在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12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20s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，采用真空灌浆工艺时稠度宜控制在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18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25s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；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4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）水胶比不应大于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0.45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；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578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）边长为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70.7mm 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的立方体水泥浆试块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28d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标准养护的抗压强度不应低于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30MPa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；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4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）水泥浆宜采用高速搅拌机进行搅拌，搅拌时间不应超过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5min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；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94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）水泥浆拌和后至灌浆完毕的时间不宜超过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30min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9447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灌浆施工</a:t>
                      </a:r>
                    </a:p>
                  </a:txBody>
                  <a:tcPr marL="57239" marR="5723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）宜先灌注下层孔道，后灌注上层孔道；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2868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）灌浆应连续进行，直至排气管排除的浆体稠度与注浆孔处相同且没有出现气泡后，再顺浆体流动方向将排气孔依次封闭；全部封闭后，宜继续加压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0.5~0.7MPa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，并稳压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2min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后封闭灌浆口；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94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）当泌水较大时，宜进行二次灌浆或泌水孔重力补浆；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94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）因故停止灌浆时，应用压力水将孔道内已注入的水泥浆冲洗干净。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105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463" y="368964"/>
            <a:ext cx="8928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七、无黏结预应力混凝土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948455"/>
              </p:ext>
            </p:extLst>
          </p:nvPr>
        </p:nvGraphicFramePr>
        <p:xfrm>
          <a:off x="1043608" y="915565"/>
          <a:ext cx="8064895" cy="4176466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1041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41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概念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无粘结预应力混凝土是后张法预应力混凝土的发展，指预应力构件中的预应力筋与混凝土没有粘结力。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617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施工方法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在预应力筋表面刷涂料并包塑料布（管）后，如同普通钢筋一样先铺设在安装好的模板内，然后浇筑混凝土，待混凝土达到设计要求强度后，进行预应力筋张拉锚固。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41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施工特点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无需留孔、穿筋和灌浆，施工简单；张拉摩阻力小，预应力筋受力均匀；可做成多跨曲线状；构件整体性略差，锚固要求高。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0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适用范围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适用于大跨度的单、双向连续多跨曲线配筋梁板结构和屋盖。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105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LIBID_PRE" val="13076"/>
  <p:tag name="MH_CONTENTSID" val="264"/>
  <p:tag name="MH_SECTIONID" val="265,"/>
</p:tagLst>
</file>

<file path=ppt/theme/theme1.xml><?xml version="1.0" encoding="utf-8"?>
<a:theme xmlns:a="http://schemas.openxmlformats.org/drawingml/2006/main" name="A000120140530A99PPBG">
  <a:themeElements>
    <a:clrScheme name="KSO_BLUE9">
      <a:dk1>
        <a:srgbClr val="47494B"/>
      </a:dk1>
      <a:lt1>
        <a:srgbClr val="FFFFFF"/>
      </a:lt1>
      <a:dk2>
        <a:srgbClr val="454749"/>
      </a:dk2>
      <a:lt2>
        <a:srgbClr val="EAF5FC"/>
      </a:lt2>
      <a:accent1>
        <a:srgbClr val="046FB6"/>
      </a:accent1>
      <a:accent2>
        <a:srgbClr val="22B1DE"/>
      </a:accent2>
      <a:accent3>
        <a:srgbClr val="7B93D7"/>
      </a:accent3>
      <a:accent4>
        <a:srgbClr val="5D76BA"/>
      </a:accent4>
      <a:accent5>
        <a:srgbClr val="3DBFD1"/>
      </a:accent5>
      <a:accent6>
        <a:srgbClr val="FFC000"/>
      </a:accent6>
      <a:hlink>
        <a:srgbClr val="00B0F0"/>
      </a:hlink>
      <a:folHlink>
        <a:srgbClr val="AFB2B4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636869495982041620</Template>
  <TotalTime>7052</TotalTime>
  <Words>1713</Words>
  <Application>Microsoft Office PowerPoint</Application>
  <PresentationFormat>全屏显示(16:9)</PresentationFormat>
  <Paragraphs>95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黑体</vt:lpstr>
      <vt:lpstr>华文行楷</vt:lpstr>
      <vt:lpstr>微软雅黑</vt:lpstr>
      <vt:lpstr>幼圆</vt:lpstr>
      <vt:lpstr>Arial</vt:lpstr>
      <vt:lpstr>Calibri</vt:lpstr>
      <vt:lpstr>Franklin Gothic Book</vt:lpstr>
      <vt:lpstr>Times New Roman</vt:lpstr>
      <vt:lpstr>Wingdings 2</vt:lpstr>
      <vt:lpstr>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811</cp:revision>
  <dcterms:created xsi:type="dcterms:W3CDTF">2019-02-28T02:56:41Z</dcterms:created>
  <dcterms:modified xsi:type="dcterms:W3CDTF">2026-04-26T08:12:02Z</dcterms:modified>
</cp:coreProperties>
</file>