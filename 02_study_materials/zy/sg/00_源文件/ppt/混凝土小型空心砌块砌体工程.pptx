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93" r:id="rId1"/>
  </p:sldMasterIdLst>
  <p:notesMasterIdLst>
    <p:notesMasterId r:id="rId4"/>
  </p:notesMasterIdLst>
  <p:sldIdLst>
    <p:sldId id="669" r:id="rId2"/>
    <p:sldId id="670" r:id="rId3"/>
  </p:sldIdLst>
  <p:sldSz cx="9144000" cy="5143500" type="screen16x9"/>
  <p:notesSz cx="6858000" cy="9144000"/>
  <p:custDataLst>
    <p:tags r:id="rId5"/>
  </p:custDataLst>
  <p:defaultTextStyle>
    <a:defPPr>
      <a:defRPr lang="zh-CN"/>
    </a:defPPr>
    <a:lvl1pPr marL="0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058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130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192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259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316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374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440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503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中度样式 4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 varScale="1">
        <p:scale>
          <a:sx n="115" d="100"/>
          <a:sy n="115" d="100"/>
        </p:scale>
        <p:origin x="-514" y="-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80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417AAB-FCBD-40B2-B028-268332E93037}" type="datetimeFigureOut">
              <a:rPr lang="zh-CN" altLang="en-US" smtClean="0"/>
              <a:t>2024/11/30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03F446-A760-4077-983F-8A30C4399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5467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" t="12301" r="1751" b="16008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60F58-3108-4415-857A-6D0360DF626E}" type="datetimeFigureOut">
              <a:rPr lang="zh-CN" altLang="en-US" smtClean="0"/>
              <a:t>2024/11/30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85CE2-CEAD-46BB-861E-7D62265DC96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KSO_CT2"/>
          <p:cNvSpPr>
            <a:spLocks noGrp="1"/>
          </p:cNvSpPr>
          <p:nvPr>
            <p:ph type="subTitle" idx="1" hasCustomPrompt="1"/>
          </p:nvPr>
        </p:nvSpPr>
        <p:spPr>
          <a:xfrm>
            <a:off x="5133793" y="1806593"/>
            <a:ext cx="2945922" cy="303719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vert="horz" anchor="ctr">
            <a:noAutofit/>
          </a:bodyPr>
          <a:lstStyle>
            <a:lvl1pPr marL="0" indent="0" algn="ctr">
              <a:buNone/>
              <a:defRPr sz="1400" b="0">
                <a:solidFill>
                  <a:schemeClr val="tx1"/>
                </a:solidFill>
                <a:effectLst/>
                <a:latin typeface="+mn-ea"/>
                <a:ea typeface="+mn-ea"/>
              </a:defRPr>
            </a:lvl1pPr>
            <a:lvl2pPr marL="257175" indent="0" algn="ctr">
              <a:buNone/>
              <a:defRPr sz="1100"/>
            </a:lvl2pPr>
            <a:lvl3pPr marL="514350" indent="0" algn="ctr">
              <a:buNone/>
              <a:defRPr sz="1000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zh-CN" altLang="en-US" dirty="0"/>
              <a:t>单击此处添加您的副标题</a:t>
            </a:r>
          </a:p>
        </p:txBody>
      </p:sp>
      <p:sp>
        <p:nvSpPr>
          <p:cNvPr id="7" name="KSO_CT1"/>
          <p:cNvSpPr>
            <a:spLocks noGrp="1"/>
          </p:cNvSpPr>
          <p:nvPr>
            <p:ph type="title" hasCustomPrompt="1"/>
          </p:nvPr>
        </p:nvSpPr>
        <p:spPr>
          <a:xfrm>
            <a:off x="4822164" y="983400"/>
            <a:ext cx="3727691" cy="805914"/>
          </a:xfrm>
        </p:spPr>
        <p:txBody>
          <a:bodyPr vert="horz" anchor="b">
            <a:noAutofit/>
          </a:bodyPr>
          <a:lstStyle>
            <a:lvl1pPr algn="ctr">
              <a:lnSpc>
                <a:spcPct val="100000"/>
              </a:lnSpc>
              <a:defRPr sz="2400" b="1" kern="1000" baseline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单击此处添加您的标题文字</a:t>
            </a:r>
          </a:p>
        </p:txBody>
      </p:sp>
    </p:spTree>
    <p:extLst>
      <p:ext uri="{BB962C8B-B14F-4D97-AF65-F5344CB8AC3E}">
        <p14:creationId xmlns:p14="http://schemas.microsoft.com/office/powerpoint/2010/main" val="489679569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pos="4967">
          <p15:clr>
            <a:srgbClr val="FBAE40"/>
          </p15:clr>
        </p15:guide>
        <p15:guide id="0" orient="horz" pos="2160" userDrawn="1">
          <p15:clr>
            <a:srgbClr val="FBAE40"/>
          </p15:clr>
        </p15:guide>
        <p15:guide id="2" pos="662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3200" b="1"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</a:defRPr>
            </a:lvl1pPr>
            <a:lvl2pPr>
              <a:defRPr sz="1400" b="1">
                <a:latin typeface="+mj-ea"/>
                <a:ea typeface="+mj-ea"/>
              </a:defRPr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2024/11/30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1050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1574008" y="1581152"/>
            <a:ext cx="5995988" cy="926306"/>
          </a:xfrm>
        </p:spPr>
        <p:txBody>
          <a:bodyPr anchor="b">
            <a:normAutofit/>
          </a:bodyPr>
          <a:lstStyle>
            <a:lvl1pPr algn="ctr">
              <a:defRPr sz="2000">
                <a:solidFill>
                  <a:schemeClr val="tx1">
                    <a:lumMod val="50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此处添加您的标题</a:t>
            </a:r>
            <a:endParaRPr lang="en-US" dirty="0"/>
          </a:p>
        </p:txBody>
      </p:sp>
      <p:sp>
        <p:nvSpPr>
          <p:cNvPr id="3" name="KSO_ST2"/>
          <p:cNvSpPr>
            <a:spLocks noGrp="1"/>
          </p:cNvSpPr>
          <p:nvPr>
            <p:ph type="body" idx="1" hasCustomPrompt="1"/>
          </p:nvPr>
        </p:nvSpPr>
        <p:spPr>
          <a:xfrm>
            <a:off x="3038171" y="2550318"/>
            <a:ext cx="3067663" cy="268109"/>
          </a:xfrm>
          <a:prstGeom prst="roundRect">
            <a:avLst>
              <a:gd name="adj" fmla="val 50000"/>
            </a:avLst>
          </a:prstGeom>
          <a:noFill/>
        </p:spPr>
        <p:txBody>
          <a:bodyPr anchor="ctr">
            <a:normAutofit/>
          </a:bodyPr>
          <a:lstStyle>
            <a:lvl1pPr marL="0" indent="0" algn="ctr">
              <a:buNone/>
              <a:defRPr sz="900">
                <a:solidFill>
                  <a:schemeClr val="tx1"/>
                </a:solidFill>
              </a:defRPr>
            </a:lvl1pPr>
            <a:lvl2pPr marL="25717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单击此处添加您的副标题</a:t>
            </a:r>
            <a:endParaRPr lang="en-US" altLang="zh-CN" dirty="0"/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2024/11/30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3341061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sz="half" idx="1"/>
          </p:nvPr>
        </p:nvSpPr>
        <p:spPr>
          <a:xfrm>
            <a:off x="1049867" y="933453"/>
            <a:ext cx="3810000" cy="3699272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4" name="KSO_BC2"/>
          <p:cNvSpPr>
            <a:spLocks noGrp="1"/>
          </p:cNvSpPr>
          <p:nvPr>
            <p:ph sz="half" idx="2"/>
          </p:nvPr>
        </p:nvSpPr>
        <p:spPr>
          <a:xfrm>
            <a:off x="4889501" y="933453"/>
            <a:ext cx="3820587" cy="3699272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2024/11/30</a:t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2907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727199" y="88899"/>
            <a:ext cx="6984076" cy="5377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4578" y="1032272"/>
            <a:ext cx="3868340" cy="617934"/>
          </a:xfrm>
        </p:spPr>
        <p:txBody>
          <a:bodyPr anchor="b">
            <a:normAutofit/>
          </a:bodyPr>
          <a:lstStyle>
            <a:lvl1pPr marL="0" indent="0">
              <a:buNone/>
              <a:defRPr sz="1000" b="1"/>
            </a:lvl1pPr>
            <a:lvl2pPr marL="257175" indent="0">
              <a:buNone/>
              <a:defRPr sz="1100" b="1"/>
            </a:lvl2pPr>
            <a:lvl3pPr marL="514350" indent="0">
              <a:buNone/>
              <a:defRPr sz="1000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KSO_BC1"/>
          <p:cNvSpPr>
            <a:spLocks noGrp="1"/>
          </p:cNvSpPr>
          <p:nvPr>
            <p:ph sz="half" idx="2"/>
          </p:nvPr>
        </p:nvSpPr>
        <p:spPr>
          <a:xfrm>
            <a:off x="824578" y="16502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3885" y="1032272"/>
            <a:ext cx="3887391" cy="617934"/>
          </a:xfrm>
        </p:spPr>
        <p:txBody>
          <a:bodyPr anchor="b">
            <a:normAutofit/>
          </a:bodyPr>
          <a:lstStyle>
            <a:lvl1pPr marL="0" indent="0">
              <a:buNone/>
              <a:defRPr sz="1000" b="1"/>
            </a:lvl1pPr>
            <a:lvl2pPr marL="257175" indent="0">
              <a:buNone/>
              <a:defRPr sz="1100" b="1"/>
            </a:lvl2pPr>
            <a:lvl3pPr marL="514350" indent="0">
              <a:buNone/>
              <a:defRPr sz="1000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KSO_BC2"/>
          <p:cNvSpPr>
            <a:spLocks noGrp="1"/>
          </p:cNvSpPr>
          <p:nvPr>
            <p:ph sz="quarter" idx="4"/>
          </p:nvPr>
        </p:nvSpPr>
        <p:spPr>
          <a:xfrm>
            <a:off x="4823885" y="16502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7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2024/11/30</a:t>
            </a:fld>
            <a:endParaRPr lang="zh-CN" altLang="en-US"/>
          </a:p>
        </p:txBody>
      </p:sp>
      <p:sp>
        <p:nvSpPr>
          <p:cNvPr id="8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5082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2024/11/30</a:t>
            </a:fld>
            <a:endParaRPr lang="zh-CN" altLang="en-US"/>
          </a:p>
        </p:txBody>
      </p:sp>
      <p:sp>
        <p:nvSpPr>
          <p:cNvPr id="4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5767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2024/11/30</a:t>
            </a:fld>
            <a:endParaRPr lang="zh-CN" altLang="en-US"/>
          </a:p>
        </p:txBody>
      </p:sp>
      <p:sp>
        <p:nvSpPr>
          <p:cNvPr id="3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5798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858444" y="400052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>
          <a:xfrm>
            <a:off x="4115992" y="797724"/>
            <a:ext cx="4629150" cy="3655219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858444" y="1600202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800"/>
            </a:lvl2pPr>
            <a:lvl3pPr marL="514350" indent="0">
              <a:buNone/>
              <a:defRPr sz="700"/>
            </a:lvl3pPr>
            <a:lvl4pPr marL="771525" indent="0">
              <a:buNone/>
              <a:defRPr sz="600"/>
            </a:lvl4pPr>
            <a:lvl5pPr marL="1028700" indent="0">
              <a:buNone/>
              <a:defRPr sz="600"/>
            </a:lvl5pPr>
            <a:lvl6pPr marL="1285875" indent="0">
              <a:buNone/>
              <a:defRPr sz="600"/>
            </a:lvl6pPr>
            <a:lvl7pPr marL="1543050" indent="0">
              <a:buNone/>
              <a:defRPr sz="600"/>
            </a:lvl7pPr>
            <a:lvl8pPr marL="1800225" indent="0">
              <a:buNone/>
              <a:defRPr sz="600"/>
            </a:lvl8pPr>
            <a:lvl9pPr marL="2057400" indent="0">
              <a:buNone/>
              <a:defRPr sz="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2024/11/30</a:t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2485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934644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 noChangeAspect="1"/>
          </p:cNvSpPr>
          <p:nvPr>
            <p:ph type="pic" idx="1"/>
          </p:nvPr>
        </p:nvSpPr>
        <p:spPr>
          <a:xfrm>
            <a:off x="4082125" y="740572"/>
            <a:ext cx="4629150" cy="3655219"/>
          </a:xfrm>
        </p:spPr>
        <p:txBody>
          <a:bodyPr anchor="t"/>
          <a:lstStyle>
            <a:lvl1pPr marL="0" indent="0">
              <a:buNone/>
              <a:defRPr sz="1800"/>
            </a:lvl1pPr>
            <a:lvl2pPr marL="257175" indent="0">
              <a:buNone/>
              <a:defRPr sz="1600"/>
            </a:lvl2pPr>
            <a:lvl3pPr marL="514350" indent="0">
              <a:buNone/>
              <a:defRPr sz="1400"/>
            </a:lvl3pPr>
            <a:lvl4pPr marL="771525" indent="0">
              <a:buNone/>
              <a:defRPr sz="1100"/>
            </a:lvl4pPr>
            <a:lvl5pPr marL="1028700" indent="0">
              <a:buNone/>
              <a:defRPr sz="1100"/>
            </a:lvl5pPr>
            <a:lvl6pPr marL="1285875" indent="0">
              <a:buNone/>
              <a:defRPr sz="1100"/>
            </a:lvl6pPr>
            <a:lvl7pPr marL="1543050" indent="0">
              <a:buNone/>
              <a:defRPr sz="1100"/>
            </a:lvl7pPr>
            <a:lvl8pPr marL="1800225" indent="0">
              <a:buNone/>
              <a:defRPr sz="1100"/>
            </a:lvl8pPr>
            <a:lvl9pPr marL="2057400" indent="0">
              <a:buNone/>
              <a:defRPr sz="11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934644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800"/>
            </a:lvl2pPr>
            <a:lvl3pPr marL="514350" indent="0">
              <a:buNone/>
              <a:defRPr sz="700"/>
            </a:lvl3pPr>
            <a:lvl4pPr marL="771525" indent="0">
              <a:buNone/>
              <a:defRPr sz="600"/>
            </a:lvl4pPr>
            <a:lvl5pPr marL="1028700" indent="0">
              <a:buNone/>
              <a:defRPr sz="600"/>
            </a:lvl5pPr>
            <a:lvl6pPr marL="1285875" indent="0">
              <a:buNone/>
              <a:defRPr sz="600"/>
            </a:lvl6pPr>
            <a:lvl7pPr marL="1543050" indent="0">
              <a:buNone/>
              <a:defRPr sz="600"/>
            </a:lvl7pPr>
            <a:lvl8pPr marL="1800225" indent="0">
              <a:buNone/>
              <a:defRPr sz="600"/>
            </a:lvl8pPr>
            <a:lvl9pPr marL="2057400" indent="0">
              <a:buNone/>
              <a:defRPr sz="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2024/11/30</a:t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4004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2024/11/30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9067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</p:nvPr>
        </p:nvSpPr>
        <p:spPr>
          <a:xfrm>
            <a:off x="7628469" y="273844"/>
            <a:ext cx="886883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>
          <a:xfrm>
            <a:off x="1585383" y="273844"/>
            <a:ext cx="5949952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2024/11/30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2963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4" t="26028" r="6166" b="4484"/>
          <a:stretch/>
        </p:blipFill>
        <p:spPr>
          <a:xfrm>
            <a:off x="-2" y="1753372"/>
            <a:ext cx="5924552" cy="3390128"/>
          </a:xfrm>
          <a:prstGeom prst="rect">
            <a:avLst/>
          </a:prstGeom>
        </p:spPr>
      </p:pic>
      <p:sp>
        <p:nvSpPr>
          <p:cNvPr id="4" name="KSO_FD"/>
          <p:cNvSpPr>
            <a:spLocks noGrp="1"/>
          </p:cNvSpPr>
          <p:nvPr>
            <p:ph type="dt" sz="half" idx="2"/>
          </p:nvPr>
        </p:nvSpPr>
        <p:spPr>
          <a:xfrm>
            <a:off x="628650" y="483870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1FE7BD1D-B284-4506-85BF-D02BB5BA5E47}" type="datetimeFigureOut">
              <a:rPr lang="zh-CN" altLang="en-US" smtClean="0"/>
              <a:t>2024/11/30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3"/>
          </p:nvPr>
        </p:nvSpPr>
        <p:spPr>
          <a:xfrm>
            <a:off x="3028950" y="483870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4"/>
          </p:nvPr>
        </p:nvSpPr>
        <p:spPr>
          <a:xfrm>
            <a:off x="6457950" y="483870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KSO_BC1"/>
          <p:cNvSpPr>
            <a:spLocks noGrp="1"/>
          </p:cNvSpPr>
          <p:nvPr>
            <p:ph type="body" idx="1"/>
          </p:nvPr>
        </p:nvSpPr>
        <p:spPr>
          <a:xfrm>
            <a:off x="854015" y="850107"/>
            <a:ext cx="7866654" cy="3825107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504826" y="160440"/>
            <a:ext cx="8215844" cy="597008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067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4" r:id="rId1"/>
    <p:sldLayoutId id="2147484095" r:id="rId2"/>
    <p:sldLayoutId id="2147484096" r:id="rId3"/>
    <p:sldLayoutId id="2147484097" r:id="rId4"/>
    <p:sldLayoutId id="2147484098" r:id="rId5"/>
    <p:sldLayoutId id="2147484099" r:id="rId6"/>
    <p:sldLayoutId id="2147484100" r:id="rId7"/>
    <p:sldLayoutId id="2147484101" r:id="rId8"/>
    <p:sldLayoutId id="2147484102" r:id="rId9"/>
    <p:sldLayoutId id="2147484103" r:id="rId10"/>
    <p:sldLayoutId id="2147484104" r:id="rId11"/>
  </p:sldLayoutIdLst>
  <p:txStyles>
    <p:titleStyle>
      <a:lvl1pPr algn="ctr" defTabSz="514350" rtl="0" eaLnBrk="1" latinLnBrk="0" hangingPunct="1">
        <a:lnSpc>
          <a:spcPct val="90000"/>
        </a:lnSpc>
        <a:spcBef>
          <a:spcPct val="0"/>
        </a:spcBef>
        <a:buNone/>
        <a:defRPr sz="2400" b="0" i="0" kern="1200" baseline="0">
          <a:solidFill>
            <a:schemeClr val="tx1">
              <a:lumMod val="50000"/>
            </a:schemeClr>
          </a:solidFill>
          <a:effectLst/>
          <a:latin typeface="+mj-ea"/>
          <a:ea typeface="+mj-ea"/>
          <a:cs typeface="+mj-cs"/>
        </a:defRPr>
      </a:lvl1pPr>
    </p:titleStyle>
    <p:bodyStyle>
      <a:lvl1pPr marL="271463" indent="-271463" algn="just" defTabSz="51435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accent2"/>
        </a:buClr>
        <a:buSzPct val="50000"/>
        <a:buFont typeface="Wingdings 2" panose="05020102010507070707" pitchFamily="18" charset="2"/>
        <a:buChar char=""/>
        <a:defRPr lang="zh-CN" altLang="en-US" sz="1800" b="1" kern="1200" baseline="0" dirty="0" smtClean="0">
          <a:solidFill>
            <a:schemeClr val="accent1"/>
          </a:solidFill>
          <a:latin typeface="+mn-ea"/>
          <a:ea typeface="+mn-ea"/>
          <a:cs typeface="+mn-cs"/>
        </a:defRPr>
      </a:lvl1pPr>
      <a:lvl2pPr marL="271463" indent="-271463" algn="just" defTabSz="514350" rtl="0" eaLnBrk="1" latinLnBrk="0" hangingPunct="1">
        <a:lnSpc>
          <a:spcPct val="120000"/>
        </a:lnSpc>
        <a:spcBef>
          <a:spcPts val="0"/>
        </a:spcBef>
        <a:spcAft>
          <a:spcPts val="900"/>
        </a:spcAft>
        <a:buClr>
          <a:schemeClr val="accent2">
            <a:lumMod val="60000"/>
            <a:lumOff val="40000"/>
          </a:schemeClr>
        </a:buClr>
        <a:buFont typeface="幼圆" panose="02010509060101010101" pitchFamily="49" charset="-122"/>
        <a:buChar char=" "/>
        <a:defRPr sz="1400" b="0" kern="1200" baseline="0">
          <a:solidFill>
            <a:schemeClr val="tx1"/>
          </a:solidFill>
          <a:latin typeface="+mn-ea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xmlns="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463" y="368964"/>
            <a:ext cx="89289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三、混凝土小型空心砌块砌体工程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055" y="2931790"/>
            <a:ext cx="3968399" cy="208823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587" y="892184"/>
            <a:ext cx="4035469" cy="412783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055" y="892184"/>
            <a:ext cx="3968399" cy="2039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727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xmlns="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7121065"/>
              </p:ext>
            </p:extLst>
          </p:nvPr>
        </p:nvGraphicFramePr>
        <p:xfrm>
          <a:off x="1043607" y="368962"/>
          <a:ext cx="7992889" cy="4723067"/>
        </p:xfrm>
        <a:graphic>
          <a:graphicData uri="http://schemas.openxmlformats.org/drawingml/2006/table">
            <a:tbl>
              <a:tblPr firstRow="1" firstCol="1" bandRow="1">
                <a:tableStyleId>{C4B1156A-380E-4F78-BDF5-A606A8083BF9}</a:tableStyleId>
              </a:tblPr>
              <a:tblGrid>
                <a:gridCol w="63160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36128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726626">
                <a:tc rowSpan="6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混凝土小型空心砌块砌体工程</a:t>
                      </a:r>
                    </a:p>
                  </a:txBody>
                  <a:tcPr marL="54131" marR="54131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4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lang="zh-CN" sz="14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）普通混凝土小型空心砌块砌体，不需对小砌块浇水湿润；如遇天气干燥炎热，宜在砌筑前对其喷水湿润；</a:t>
                      </a:r>
                    </a:p>
                  </a:txBody>
                  <a:tcPr marL="54131" marR="54131" marT="0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2662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4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lang="zh-CN" sz="14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）轻骨料混凝土小砌块，应提前浇水湿润，块体的相对含水率宜为</a:t>
                      </a:r>
                      <a:r>
                        <a:rPr lang="en-US" sz="14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40%</a:t>
                      </a:r>
                      <a:r>
                        <a:rPr lang="zh-CN" sz="14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～</a:t>
                      </a:r>
                      <a:r>
                        <a:rPr lang="en-US" sz="14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50%</a:t>
                      </a:r>
                      <a:r>
                        <a:rPr lang="zh-CN" sz="14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。雨天及小砌块表面有浮水时，不得施工。</a:t>
                      </a:r>
                    </a:p>
                  </a:txBody>
                  <a:tcPr marL="54131" marR="54131" marT="0" marB="0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6331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4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r>
                        <a:rPr lang="zh-CN" sz="1400" b="1" kern="10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）小砌块施工时，必须与砖砌体施工一样设立皮数杆、拉水准线。</a:t>
                      </a:r>
                    </a:p>
                  </a:txBody>
                  <a:tcPr marL="54131" marR="54131" marT="0" marB="0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45325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4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</a:t>
                      </a:r>
                      <a:r>
                        <a:rPr lang="zh-CN" sz="14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）小砌块墙体应孔对孔、肋对肋错缝搭砌。单排孔小砌块的搭接长度应为块体长度的</a:t>
                      </a:r>
                      <a:r>
                        <a:rPr lang="en-US" sz="14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1/2</a:t>
                      </a:r>
                      <a:r>
                        <a:rPr lang="zh-CN" sz="14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；多排孔小砌块的搭接长度可适当调整，但不宜＜小砌块长度的</a:t>
                      </a:r>
                      <a:r>
                        <a:rPr lang="en-US" sz="14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1/3</a:t>
                      </a:r>
                      <a:r>
                        <a:rPr lang="zh-CN" sz="14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，且不应＜</a:t>
                      </a:r>
                      <a:r>
                        <a:rPr lang="en-US" sz="14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90mm</a:t>
                      </a:r>
                      <a:r>
                        <a:rPr lang="zh-CN" sz="14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。墙体的个别部位不能满足上述要求时，应在灰缝中设置拉结钢筋或钢筋网片，但竖向通缝仍不得超过两皮小砌块。</a:t>
                      </a:r>
                    </a:p>
                  </a:txBody>
                  <a:tcPr marL="54131" marR="54131" marT="0" marB="0"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72662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4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</a:t>
                      </a:r>
                      <a:r>
                        <a:rPr lang="zh-CN" sz="14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）砌筑应从转角或定位处开始，内外墙同时砌筑，纵横交错搭接。外墙转角处应使小砌块隔皮露端面；</a:t>
                      </a:r>
                      <a:r>
                        <a:rPr lang="en-US" sz="14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T</a:t>
                      </a:r>
                      <a:r>
                        <a:rPr lang="zh-CN" sz="14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形交接处应使横墙小砌块隔皮露端面。</a:t>
                      </a:r>
                    </a:p>
                  </a:txBody>
                  <a:tcPr marL="54131" marR="54131" marT="0" marB="0"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72662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</a:t>
                      </a:r>
                      <a:r>
                        <a:rPr lang="en-US" sz="14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6</a:t>
                      </a:r>
                      <a:r>
                        <a:rPr lang="zh-CN" sz="14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）小砌块施工应对孔错缝搭砌，灰缝应横平竖直，宽度宜</a:t>
                      </a:r>
                      <a:r>
                        <a:rPr lang="en-US" sz="14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8</a:t>
                      </a:r>
                      <a:r>
                        <a:rPr lang="zh-CN" sz="14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～</a:t>
                      </a:r>
                      <a:r>
                        <a:rPr lang="en-US" sz="14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12mm</a:t>
                      </a:r>
                      <a:r>
                        <a:rPr lang="zh-CN" sz="14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。砌体水平、竖向灰缝的砂浆饱满度，按净面积计算不得低于</a:t>
                      </a:r>
                      <a:r>
                        <a:rPr lang="en-US" sz="14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90%</a:t>
                      </a:r>
                      <a:r>
                        <a:rPr lang="zh-CN" sz="1400" b="1" kern="100" dirty="0"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，不得出现瞎缝、透明缝等。</a:t>
                      </a:r>
                    </a:p>
                  </a:txBody>
                  <a:tcPr marL="54131" marR="54131" marT="0" marB="0" anchor="ctr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046" y="368964"/>
            <a:ext cx="3314987" cy="264436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6655" y="2211710"/>
            <a:ext cx="3109229" cy="2880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727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LIBID_PRE" val="13076"/>
  <p:tag name="MH_CONTENTSID" val="264"/>
  <p:tag name="MH_SECTIONID" val="265,"/>
</p:tagLst>
</file>

<file path=ppt/theme/theme1.xml><?xml version="1.0" encoding="utf-8"?>
<a:theme xmlns:a="http://schemas.openxmlformats.org/drawingml/2006/main" name="A000120140530A99PPBG">
  <a:themeElements>
    <a:clrScheme name="KSO_BLUE9">
      <a:dk1>
        <a:srgbClr val="47494B"/>
      </a:dk1>
      <a:lt1>
        <a:srgbClr val="FFFFFF"/>
      </a:lt1>
      <a:dk2>
        <a:srgbClr val="454749"/>
      </a:dk2>
      <a:lt2>
        <a:srgbClr val="EAF5FC"/>
      </a:lt2>
      <a:accent1>
        <a:srgbClr val="046FB6"/>
      </a:accent1>
      <a:accent2>
        <a:srgbClr val="22B1DE"/>
      </a:accent2>
      <a:accent3>
        <a:srgbClr val="7B93D7"/>
      </a:accent3>
      <a:accent4>
        <a:srgbClr val="5D76BA"/>
      </a:accent4>
      <a:accent5>
        <a:srgbClr val="3DBFD1"/>
      </a:accent5>
      <a:accent6>
        <a:srgbClr val="FFC000"/>
      </a:accent6>
      <a:hlink>
        <a:srgbClr val="00B0F0"/>
      </a:hlink>
      <a:folHlink>
        <a:srgbClr val="AFB2B4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636869495982041620</Template>
  <TotalTime>7753</TotalTime>
  <Words>330</Words>
  <Application>Microsoft Office PowerPoint</Application>
  <PresentationFormat>全屏显示(16:9)</PresentationFormat>
  <Paragraphs>10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A000120140530A99PPBG</vt:lpstr>
      <vt:lpstr>PowerPoint 演示文稿</vt:lpstr>
      <vt:lpstr>PowerPoint 演示文稿</vt:lpstr>
    </vt:vector>
  </TitlesOfParts>
  <Company>china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Lenovo</cp:lastModifiedBy>
  <cp:revision>882</cp:revision>
  <dcterms:created xsi:type="dcterms:W3CDTF">2019-02-28T02:56:41Z</dcterms:created>
  <dcterms:modified xsi:type="dcterms:W3CDTF">2024-11-30T08:50:52Z</dcterms:modified>
</cp:coreProperties>
</file>