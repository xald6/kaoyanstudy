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93" r:id="rId1"/>
  </p:sldMasterIdLst>
  <p:notesMasterIdLst>
    <p:notesMasterId r:id="rId6"/>
  </p:notesMasterIdLst>
  <p:sldIdLst>
    <p:sldId id="480" r:id="rId2"/>
    <p:sldId id="481" r:id="rId3"/>
    <p:sldId id="482" r:id="rId4"/>
    <p:sldId id="483" r:id="rId5"/>
  </p:sldIdLst>
  <p:sldSz cx="9144000" cy="5143500" type="screen16x9"/>
  <p:notesSz cx="6858000" cy="9144000"/>
  <p:custDataLst>
    <p:tags r:id="rId7"/>
  </p:custDataLst>
  <p:defaultTextStyle>
    <a:defPPr>
      <a:defRPr lang="zh-CN"/>
    </a:defPPr>
    <a:lvl1pPr marL="0" algn="l" defTabSz="914130" rtl="0" eaLnBrk="1" latinLnBrk="0" hangingPunct="1">
      <a:defRPr sz="1800" kern="1200">
        <a:solidFill>
          <a:schemeClr val="tx1"/>
        </a:solidFill>
        <a:latin typeface="+mn-lt"/>
        <a:ea typeface="+mn-ea"/>
        <a:cs typeface="+mn-cs"/>
      </a:defRPr>
    </a:lvl1pPr>
    <a:lvl2pPr marL="457058" algn="l" defTabSz="914130" rtl="0" eaLnBrk="1" latinLnBrk="0" hangingPunct="1">
      <a:defRPr sz="1800" kern="1200">
        <a:solidFill>
          <a:schemeClr val="tx1"/>
        </a:solidFill>
        <a:latin typeface="+mn-lt"/>
        <a:ea typeface="+mn-ea"/>
        <a:cs typeface="+mn-cs"/>
      </a:defRPr>
    </a:lvl2pPr>
    <a:lvl3pPr marL="914130" algn="l" defTabSz="914130" rtl="0" eaLnBrk="1" latinLnBrk="0" hangingPunct="1">
      <a:defRPr sz="1800" kern="1200">
        <a:solidFill>
          <a:schemeClr val="tx1"/>
        </a:solidFill>
        <a:latin typeface="+mn-lt"/>
        <a:ea typeface="+mn-ea"/>
        <a:cs typeface="+mn-cs"/>
      </a:defRPr>
    </a:lvl3pPr>
    <a:lvl4pPr marL="1371192" algn="l" defTabSz="914130" rtl="0" eaLnBrk="1" latinLnBrk="0" hangingPunct="1">
      <a:defRPr sz="1800" kern="1200">
        <a:solidFill>
          <a:schemeClr val="tx1"/>
        </a:solidFill>
        <a:latin typeface="+mn-lt"/>
        <a:ea typeface="+mn-ea"/>
        <a:cs typeface="+mn-cs"/>
      </a:defRPr>
    </a:lvl4pPr>
    <a:lvl5pPr marL="1828259" algn="l" defTabSz="914130" rtl="0" eaLnBrk="1" latinLnBrk="0" hangingPunct="1">
      <a:defRPr sz="1800" kern="1200">
        <a:solidFill>
          <a:schemeClr val="tx1"/>
        </a:solidFill>
        <a:latin typeface="+mn-lt"/>
        <a:ea typeface="+mn-ea"/>
        <a:cs typeface="+mn-cs"/>
      </a:defRPr>
    </a:lvl5pPr>
    <a:lvl6pPr marL="2285316" algn="l" defTabSz="914130" rtl="0" eaLnBrk="1" latinLnBrk="0" hangingPunct="1">
      <a:defRPr sz="1800" kern="1200">
        <a:solidFill>
          <a:schemeClr val="tx1"/>
        </a:solidFill>
        <a:latin typeface="+mn-lt"/>
        <a:ea typeface="+mn-ea"/>
        <a:cs typeface="+mn-cs"/>
      </a:defRPr>
    </a:lvl6pPr>
    <a:lvl7pPr marL="2742374" algn="l" defTabSz="914130" rtl="0" eaLnBrk="1" latinLnBrk="0" hangingPunct="1">
      <a:defRPr sz="1800" kern="1200">
        <a:solidFill>
          <a:schemeClr val="tx1"/>
        </a:solidFill>
        <a:latin typeface="+mn-lt"/>
        <a:ea typeface="+mn-ea"/>
        <a:cs typeface="+mn-cs"/>
      </a:defRPr>
    </a:lvl7pPr>
    <a:lvl8pPr marL="3199440" algn="l" defTabSz="914130" rtl="0" eaLnBrk="1" latinLnBrk="0" hangingPunct="1">
      <a:defRPr sz="1800" kern="1200">
        <a:solidFill>
          <a:schemeClr val="tx1"/>
        </a:solidFill>
        <a:latin typeface="+mn-lt"/>
        <a:ea typeface="+mn-ea"/>
        <a:cs typeface="+mn-cs"/>
      </a:defRPr>
    </a:lvl8pPr>
    <a:lvl9pPr marL="3656503" algn="l" defTabSz="91413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151" d="100"/>
          <a:sy n="151" d="100"/>
        </p:scale>
        <p:origin x="474" y="132"/>
      </p:cViewPr>
      <p:guideLst>
        <p:guide orient="horz" pos="1620"/>
        <p:guide pos="2880"/>
      </p:guideLst>
    </p:cSldViewPr>
  </p:slideViewPr>
  <p:notesTextViewPr>
    <p:cViewPr>
      <p:scale>
        <a:sx n="1" d="1"/>
        <a:sy n="1" d="1"/>
      </p:scale>
      <p:origin x="0" y="0"/>
    </p:cViewPr>
  </p:notesTextViewPr>
  <p:sorterViewPr>
    <p:cViewPr>
      <p:scale>
        <a:sx n="100" d="100"/>
        <a:sy n="100" d="100"/>
      </p:scale>
      <p:origin x="0" y="180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tags" Target="tags/tag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417AAB-FCBD-40B2-B028-268332E93037}" type="datetimeFigureOut">
              <a:rPr lang="zh-CN" altLang="en-US" smtClean="0"/>
              <a:t>2026/3/20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03F446-A760-4077-983F-8A30C4399FE6}" type="slidenum">
              <a:rPr lang="zh-CN" altLang="en-US" smtClean="0"/>
              <a:t>‹#›</a:t>
            </a:fld>
            <a:endParaRPr lang="zh-CN" altLang="en-US"/>
          </a:p>
        </p:txBody>
      </p:sp>
    </p:spTree>
    <p:extLst>
      <p:ext uri="{BB962C8B-B14F-4D97-AF65-F5344CB8AC3E}">
        <p14:creationId xmlns:p14="http://schemas.microsoft.com/office/powerpoint/2010/main" val="1005467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l="233" t="12301" r="1751" b="16008"/>
          <a:stretch/>
        </p:blipFill>
        <p:spPr>
          <a:xfrm>
            <a:off x="0" y="0"/>
            <a:ext cx="9144000" cy="5143500"/>
          </a:xfrm>
          <a:prstGeom prst="rect">
            <a:avLst/>
          </a:prstGeom>
        </p:spPr>
      </p:pic>
      <p:sp>
        <p:nvSpPr>
          <p:cNvPr id="4" name="KSO_FD"/>
          <p:cNvSpPr>
            <a:spLocks noGrp="1"/>
          </p:cNvSpPr>
          <p:nvPr>
            <p:ph type="dt" sz="half" idx="10"/>
          </p:nvPr>
        </p:nvSpPr>
        <p:spPr/>
        <p:txBody>
          <a:bodyPr/>
          <a:lstStyle/>
          <a:p>
            <a:fld id="{C9E60F58-3108-4415-857A-6D0360DF626E}" type="datetimeFigureOut">
              <a:rPr lang="zh-CN" altLang="en-US" smtClean="0"/>
              <a:t>2026/3/20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5133793" y="1806593"/>
            <a:ext cx="2945922" cy="303719"/>
          </a:xfrm>
          <a:prstGeom prst="roundRect">
            <a:avLst>
              <a:gd name="adj" fmla="val 50000"/>
            </a:avLst>
          </a:prstGeom>
          <a:noFill/>
          <a:ln>
            <a:noFill/>
          </a:ln>
        </p:spPr>
        <p:txBody>
          <a:bodyPr vert="horz" anchor="ctr">
            <a:noAutofit/>
          </a:bodyPr>
          <a:lstStyle>
            <a:lvl1pPr marL="0" indent="0" algn="ctr">
              <a:buNone/>
              <a:defRPr sz="1400" b="0">
                <a:solidFill>
                  <a:schemeClr val="tx1"/>
                </a:solidFill>
                <a:effectLst/>
                <a:latin typeface="+mn-ea"/>
                <a:ea typeface="+mn-ea"/>
              </a:defRPr>
            </a:lvl1pPr>
            <a:lvl2pPr marL="257175" indent="0" algn="ctr">
              <a:buNone/>
              <a:defRPr sz="1100"/>
            </a:lvl2pPr>
            <a:lvl3pPr marL="514350" indent="0" algn="ctr">
              <a:buNone/>
              <a:defRPr sz="1000"/>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dirty="0"/>
              <a:t>单击此处添加您的副标题</a:t>
            </a:r>
          </a:p>
        </p:txBody>
      </p:sp>
      <p:sp>
        <p:nvSpPr>
          <p:cNvPr id="7" name="KSO_CT1"/>
          <p:cNvSpPr>
            <a:spLocks noGrp="1"/>
          </p:cNvSpPr>
          <p:nvPr>
            <p:ph type="title" hasCustomPrompt="1"/>
          </p:nvPr>
        </p:nvSpPr>
        <p:spPr>
          <a:xfrm>
            <a:off x="4822164" y="983400"/>
            <a:ext cx="3727691" cy="805914"/>
          </a:xfrm>
        </p:spPr>
        <p:txBody>
          <a:bodyPr vert="horz" anchor="b">
            <a:noAutofit/>
          </a:bodyPr>
          <a:lstStyle>
            <a:lvl1pPr algn="ctr">
              <a:lnSpc>
                <a:spcPct val="100000"/>
              </a:lnSpc>
              <a:defRPr sz="2400" b="1" kern="1000" baseline="0">
                <a:solidFill>
                  <a:schemeClr val="accent1"/>
                </a:solidFill>
                <a:effectLst/>
                <a:latin typeface="+mj-ea"/>
                <a:ea typeface="+mj-ea"/>
              </a:defRPr>
            </a:lvl1pPr>
          </a:lstStyle>
          <a:p>
            <a:r>
              <a:rPr lang="zh-CN" altLang="en-US" dirty="0"/>
              <a:t>单击此处添加您的标题文字</a:t>
            </a:r>
          </a:p>
        </p:txBody>
      </p:sp>
    </p:spTree>
    <p:extLst>
      <p:ext uri="{BB962C8B-B14F-4D97-AF65-F5344CB8AC3E}">
        <p14:creationId xmlns:p14="http://schemas.microsoft.com/office/powerpoint/2010/main" val="489679569"/>
      </p:ext>
    </p:extLst>
  </p:cSld>
  <p:clrMapOvr>
    <a:masterClrMapping/>
  </p:clrMapOvr>
  <p:extLst>
    <p:ext uri="{DCECCB84-F9BA-43D5-87BE-67443E8EF086}">
      <p15:sldGuideLst xmlns:p15="http://schemas.microsoft.com/office/powerpoint/2012/main">
        <p15:guide id="1" pos="4967">
          <p15:clr>
            <a:srgbClr val="FBAE40"/>
          </p15:clr>
        </p15:guide>
        <p15:guide id="0" orient="horz" pos="2160" userDrawn="1">
          <p15:clr>
            <a:srgbClr val="FBAE40"/>
          </p15:clr>
        </p15:guide>
        <p15:guide id="2" pos="662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lgn="ctr">
              <a:defRPr sz="3200" b="1">
                <a:latin typeface="+mn-ea"/>
                <a:ea typeface="+mn-ea"/>
              </a:defRPr>
            </a:lvl1pPr>
          </a:lstStyle>
          <a:p>
            <a:r>
              <a:rPr lang="zh-CN" altLang="en-US" dirty="0"/>
              <a:t>单击此处编辑母版标题样式</a:t>
            </a:r>
            <a:endParaRPr lang="en-US" dirty="0"/>
          </a:p>
        </p:txBody>
      </p:sp>
      <p:sp>
        <p:nvSpPr>
          <p:cNvPr id="3" name="KSO_BC1"/>
          <p:cNvSpPr>
            <a:spLocks noGrp="1"/>
          </p:cNvSpPr>
          <p:nvPr>
            <p:ph idx="1"/>
          </p:nvPr>
        </p:nvSpPr>
        <p:spPr/>
        <p:txBody>
          <a:bodyPr>
            <a:normAutofit/>
          </a:bodyPr>
          <a:lstStyle>
            <a:lvl1pPr>
              <a:defRPr sz="2400" b="1">
                <a:solidFill>
                  <a:schemeClr val="tx1">
                    <a:lumMod val="50000"/>
                  </a:schemeClr>
                </a:solidFill>
                <a:latin typeface="+mj-ea"/>
                <a:ea typeface="+mj-ea"/>
              </a:defRPr>
            </a:lvl1pPr>
            <a:lvl2pPr>
              <a:defRPr sz="1400" b="1">
                <a:latin typeface="+mj-ea"/>
                <a:ea typeface="+mj-ea"/>
              </a:defRPr>
            </a:lvl2p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2026/3/20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1050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1574008" y="1581152"/>
            <a:ext cx="5995988" cy="926306"/>
          </a:xfrm>
        </p:spPr>
        <p:txBody>
          <a:bodyPr anchor="b">
            <a:normAutofit/>
          </a:bodyPr>
          <a:lstStyle>
            <a:lvl1pPr algn="ctr">
              <a:defRPr sz="2000">
                <a:solidFill>
                  <a:schemeClr val="tx1">
                    <a:lumMod val="50000"/>
                  </a:schemeClr>
                </a:solidFill>
                <a:effectLst/>
              </a:defRPr>
            </a:lvl1pPr>
          </a:lstStyle>
          <a:p>
            <a:r>
              <a:rPr lang="zh-CN" altLang="en-US" dirty="0"/>
              <a:t>此处添加您的标题</a:t>
            </a:r>
            <a:endParaRPr lang="en-US" dirty="0"/>
          </a:p>
        </p:txBody>
      </p:sp>
      <p:sp>
        <p:nvSpPr>
          <p:cNvPr id="3" name="KSO_ST2"/>
          <p:cNvSpPr>
            <a:spLocks noGrp="1"/>
          </p:cNvSpPr>
          <p:nvPr>
            <p:ph type="body" idx="1" hasCustomPrompt="1"/>
          </p:nvPr>
        </p:nvSpPr>
        <p:spPr>
          <a:xfrm>
            <a:off x="3038171" y="2550318"/>
            <a:ext cx="3067663" cy="268109"/>
          </a:xfrm>
          <a:prstGeom prst="roundRect">
            <a:avLst>
              <a:gd name="adj" fmla="val 50000"/>
            </a:avLst>
          </a:prstGeom>
          <a:noFill/>
        </p:spPr>
        <p:txBody>
          <a:bodyPr anchor="ctr">
            <a:normAutofit/>
          </a:bodyPr>
          <a:lstStyle>
            <a:lvl1pPr marL="0" indent="0" algn="ctr">
              <a:buNone/>
              <a:defRPr sz="900">
                <a:solidFill>
                  <a:schemeClr val="tx1"/>
                </a:solidFill>
              </a:defRPr>
            </a:lvl1pPr>
            <a:lvl2pPr marL="257175" indent="0">
              <a:buNone/>
              <a:defRPr sz="1100">
                <a:solidFill>
                  <a:schemeClr val="tx1">
                    <a:tint val="75000"/>
                  </a:schemeClr>
                </a:solidFill>
              </a:defRPr>
            </a:lvl2pPr>
            <a:lvl3pPr marL="514350" indent="0">
              <a:buNone/>
              <a:defRPr sz="1000">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FE7BD1D-B284-4506-85BF-D02BB5BA5E47}" type="datetimeFigureOut">
              <a:rPr lang="zh-CN" altLang="en-US" smtClean="0"/>
              <a:t>2026/3/20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334106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049867" y="933453"/>
            <a:ext cx="3810000"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4" name="KSO_BC2"/>
          <p:cNvSpPr>
            <a:spLocks noGrp="1"/>
          </p:cNvSpPr>
          <p:nvPr>
            <p:ph sz="half" idx="2"/>
          </p:nvPr>
        </p:nvSpPr>
        <p:spPr>
          <a:xfrm>
            <a:off x="4889501" y="933453"/>
            <a:ext cx="3820587"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5" name="KSO_FD"/>
          <p:cNvSpPr>
            <a:spLocks noGrp="1"/>
          </p:cNvSpPr>
          <p:nvPr>
            <p:ph type="dt" sz="half" idx="10"/>
          </p:nvPr>
        </p:nvSpPr>
        <p:spPr/>
        <p:txBody>
          <a:bodyPr/>
          <a:lstStyle/>
          <a:p>
            <a:fld id="{1FE7BD1D-B284-4506-85BF-D02BB5BA5E47}" type="datetimeFigureOut">
              <a:rPr lang="zh-CN" altLang="en-US" smtClean="0"/>
              <a:t>2026/3/20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1572907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1727199" y="88899"/>
            <a:ext cx="6984076" cy="53776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4578" y="1032272"/>
            <a:ext cx="3868340"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4" name="KSO_BC1"/>
          <p:cNvSpPr>
            <a:spLocks noGrp="1"/>
          </p:cNvSpPr>
          <p:nvPr>
            <p:ph sz="half" idx="2"/>
          </p:nvPr>
        </p:nvSpPr>
        <p:spPr>
          <a:xfrm>
            <a:off x="824578" y="1650206"/>
            <a:ext cx="3868340" cy="2763441"/>
          </a:xfrm>
        </p:spPr>
        <p:txBody>
          <a:bodyPr/>
          <a:lstStyle/>
          <a:p>
            <a:pPr lvl="0"/>
            <a:r>
              <a:rPr lang="zh-CN" altLang="en-US"/>
              <a:t>单击此处编辑母版文本样式</a:t>
            </a:r>
          </a:p>
          <a:p>
            <a:pPr lvl="1"/>
            <a:r>
              <a:rPr lang="zh-CN" altLang="en-US"/>
              <a:t>第二级</a:t>
            </a:r>
          </a:p>
        </p:txBody>
      </p:sp>
      <p:sp>
        <p:nvSpPr>
          <p:cNvPr id="5" name="Text Placeholder 4"/>
          <p:cNvSpPr>
            <a:spLocks noGrp="1"/>
          </p:cNvSpPr>
          <p:nvPr>
            <p:ph type="body" sz="quarter" idx="3"/>
          </p:nvPr>
        </p:nvSpPr>
        <p:spPr>
          <a:xfrm>
            <a:off x="4823885" y="1032272"/>
            <a:ext cx="3887391"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6" name="KSO_BC2"/>
          <p:cNvSpPr>
            <a:spLocks noGrp="1"/>
          </p:cNvSpPr>
          <p:nvPr>
            <p:ph sz="quarter" idx="4"/>
          </p:nvPr>
        </p:nvSpPr>
        <p:spPr>
          <a:xfrm>
            <a:off x="4823885" y="1650206"/>
            <a:ext cx="3887391" cy="2763441"/>
          </a:xfrm>
        </p:spPr>
        <p:txBody>
          <a:bodyPr/>
          <a:lstStyle/>
          <a:p>
            <a:pPr lvl="0"/>
            <a:r>
              <a:rPr lang="zh-CN" altLang="en-US"/>
              <a:t>单击此处编辑母版文本样式</a:t>
            </a:r>
          </a:p>
          <a:p>
            <a:pPr lvl="1"/>
            <a:r>
              <a:rPr lang="zh-CN" altLang="en-US"/>
              <a:t>第二级</a:t>
            </a:r>
          </a:p>
        </p:txBody>
      </p:sp>
      <p:sp>
        <p:nvSpPr>
          <p:cNvPr id="7" name="KSO_FD"/>
          <p:cNvSpPr>
            <a:spLocks noGrp="1"/>
          </p:cNvSpPr>
          <p:nvPr>
            <p:ph type="dt" sz="half" idx="10"/>
          </p:nvPr>
        </p:nvSpPr>
        <p:spPr/>
        <p:txBody>
          <a:bodyPr/>
          <a:lstStyle/>
          <a:p>
            <a:fld id="{1FE7BD1D-B284-4506-85BF-D02BB5BA5E47}" type="datetimeFigureOut">
              <a:rPr lang="zh-CN" altLang="en-US" smtClean="0"/>
              <a:t>2026/3/20</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395082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FE7BD1D-B284-4506-85BF-D02BB5BA5E47}" type="datetimeFigureOut">
              <a:rPr lang="zh-CN" altLang="en-US" smtClean="0"/>
              <a:t>2026/3/20</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975767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FE7BD1D-B284-4506-85BF-D02BB5BA5E47}" type="datetimeFigureOut">
              <a:rPr lang="zh-CN" altLang="en-US" smtClean="0"/>
              <a:t>2026/3/20</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825798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858444" y="400052"/>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p:cNvSpPr>
          <p:nvPr>
            <p:ph idx="1"/>
          </p:nvPr>
        </p:nvSpPr>
        <p:spPr>
          <a:xfrm>
            <a:off x="4115992" y="797724"/>
            <a:ext cx="4629150" cy="3655219"/>
          </a:xfrm>
        </p:spPr>
        <p:txBody>
          <a:bodyPr>
            <a:normAutofit/>
          </a:bodyPr>
          <a:lstStyle>
            <a:lvl1pPr>
              <a:defRPr sz="1100"/>
            </a:lvl1pPr>
            <a:lvl2pPr>
              <a:defRPr sz="1000"/>
            </a:lvl2pPr>
            <a:lvl3pPr>
              <a:defRPr sz="900"/>
            </a:lvl3pPr>
            <a:lvl4pPr>
              <a:defRPr sz="800"/>
            </a:lvl4pPr>
            <a:lvl5pPr>
              <a:defRPr sz="800"/>
            </a:lvl5pPr>
            <a:lvl6pPr>
              <a:defRPr sz="1100"/>
            </a:lvl6pPr>
            <a:lvl7pPr>
              <a:defRPr sz="1100"/>
            </a:lvl7pPr>
            <a:lvl8pPr>
              <a:defRPr sz="1100"/>
            </a:lvl8pPr>
            <a:lvl9pPr>
              <a:defRPr sz="1100"/>
            </a:lvl9pPr>
          </a:lstStyle>
          <a:p>
            <a:pPr lvl="0"/>
            <a:r>
              <a:rPr lang="zh-CN" altLang="en-US"/>
              <a:t>单击此处编辑母版文本样式</a:t>
            </a:r>
          </a:p>
          <a:p>
            <a:pPr lvl="1"/>
            <a:r>
              <a:rPr lang="zh-CN" altLang="en-US"/>
              <a:t>第二级</a:t>
            </a:r>
          </a:p>
        </p:txBody>
      </p:sp>
      <p:sp>
        <p:nvSpPr>
          <p:cNvPr id="4" name="KSO_BC2"/>
          <p:cNvSpPr>
            <a:spLocks noGrp="1"/>
          </p:cNvSpPr>
          <p:nvPr>
            <p:ph type="body" sz="half" idx="2"/>
          </p:nvPr>
        </p:nvSpPr>
        <p:spPr>
          <a:xfrm>
            <a:off x="858444" y="1600202"/>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2026/3/20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70248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934644" y="342900"/>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4082125" y="740572"/>
            <a:ext cx="4629150" cy="3655219"/>
          </a:xfrm>
        </p:spPr>
        <p:txBody>
          <a:bodyPr anchor="t"/>
          <a:lstStyle>
            <a:lvl1pPr marL="0" indent="0">
              <a:buNone/>
              <a:defRPr sz="1800"/>
            </a:lvl1pPr>
            <a:lvl2pPr marL="257175" indent="0">
              <a:buNone/>
              <a:defRPr sz="1600"/>
            </a:lvl2pPr>
            <a:lvl3pPr marL="514350" indent="0">
              <a:buNone/>
              <a:defRPr sz="1400"/>
            </a:lvl3pPr>
            <a:lvl4pPr marL="771525" indent="0">
              <a:buNone/>
              <a:defRPr sz="1100"/>
            </a:lvl4pPr>
            <a:lvl5pPr marL="1028700" indent="0">
              <a:buNone/>
              <a:defRPr sz="1100"/>
            </a:lvl5pPr>
            <a:lvl6pPr marL="1285875" indent="0">
              <a:buNone/>
              <a:defRPr sz="1100"/>
            </a:lvl6pPr>
            <a:lvl7pPr marL="1543050" indent="0">
              <a:buNone/>
              <a:defRPr sz="1100"/>
            </a:lvl7pPr>
            <a:lvl8pPr marL="1800225" indent="0">
              <a:buNone/>
              <a:defRPr sz="1100"/>
            </a:lvl8pPr>
            <a:lvl9pPr marL="2057400" indent="0">
              <a:buNone/>
              <a:defRPr sz="1100"/>
            </a:lvl9pPr>
          </a:lstStyle>
          <a:p>
            <a:r>
              <a:rPr lang="zh-CN" altLang="en-US"/>
              <a:t>单击图标添加图片</a:t>
            </a:r>
            <a:endParaRPr lang="en-US" dirty="0"/>
          </a:p>
        </p:txBody>
      </p:sp>
      <p:sp>
        <p:nvSpPr>
          <p:cNvPr id="4" name="KSO_BC2"/>
          <p:cNvSpPr>
            <a:spLocks noGrp="1"/>
          </p:cNvSpPr>
          <p:nvPr>
            <p:ph type="body" sz="half" idx="2"/>
          </p:nvPr>
        </p:nvSpPr>
        <p:spPr>
          <a:xfrm>
            <a:off x="934644" y="1543050"/>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2026/3/20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494004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2026/3/20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769067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7628469" y="273844"/>
            <a:ext cx="886883" cy="4358879"/>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1585383" y="273844"/>
            <a:ext cx="5949952" cy="4358879"/>
          </a:xfrm>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2026/3/20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612963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3">
            <a:extLst>
              <a:ext uri="{28A0092B-C50C-407E-A947-70E740481C1C}">
                <a14:useLocalDpi xmlns:a14="http://schemas.microsoft.com/office/drawing/2010/main" val="0"/>
              </a:ext>
            </a:extLst>
          </a:blip>
          <a:srcRect l="1474" t="26028" r="6166" b="4484"/>
          <a:stretch/>
        </p:blipFill>
        <p:spPr>
          <a:xfrm>
            <a:off x="-2" y="1753372"/>
            <a:ext cx="5924552" cy="3390128"/>
          </a:xfrm>
          <a:prstGeom prst="rect">
            <a:avLst/>
          </a:prstGeom>
        </p:spPr>
      </p:pic>
      <p:sp>
        <p:nvSpPr>
          <p:cNvPr id="4" name="KSO_FD"/>
          <p:cNvSpPr>
            <a:spLocks noGrp="1"/>
          </p:cNvSpPr>
          <p:nvPr>
            <p:ph type="dt" sz="half" idx="2"/>
          </p:nvPr>
        </p:nvSpPr>
        <p:spPr>
          <a:xfrm>
            <a:off x="628650" y="4838703"/>
            <a:ext cx="2057400" cy="273844"/>
          </a:xfrm>
          <a:prstGeom prst="rect">
            <a:avLst/>
          </a:prstGeom>
        </p:spPr>
        <p:txBody>
          <a:bodyPr vert="horz" lIns="68580" tIns="34290" rIns="68580" bIns="34290" rtlCol="0" anchor="ctr"/>
          <a:lstStyle>
            <a:lvl1pPr algn="l">
              <a:defRPr sz="900">
                <a:solidFill>
                  <a:schemeClr val="tx1"/>
                </a:solidFill>
              </a:defRPr>
            </a:lvl1pPr>
          </a:lstStyle>
          <a:p>
            <a:fld id="{1FE7BD1D-B284-4506-85BF-D02BB5BA5E47}" type="datetimeFigureOut">
              <a:rPr lang="zh-CN" altLang="en-US" smtClean="0"/>
              <a:t>2026/3/20</a:t>
            </a:fld>
            <a:endParaRPr lang="zh-CN" altLang="en-US"/>
          </a:p>
        </p:txBody>
      </p:sp>
      <p:sp>
        <p:nvSpPr>
          <p:cNvPr id="5" name="KSO_FT"/>
          <p:cNvSpPr>
            <a:spLocks noGrp="1"/>
          </p:cNvSpPr>
          <p:nvPr>
            <p:ph type="ftr" sz="quarter" idx="3"/>
          </p:nvPr>
        </p:nvSpPr>
        <p:spPr>
          <a:xfrm>
            <a:off x="3028950" y="4838703"/>
            <a:ext cx="3086100" cy="273844"/>
          </a:xfrm>
          <a:prstGeom prst="rect">
            <a:avLst/>
          </a:prstGeom>
        </p:spPr>
        <p:txBody>
          <a:bodyPr vert="horz" lIns="68580" tIns="34290" rIns="68580" bIns="34290" rtlCol="0" anchor="ctr"/>
          <a:lstStyle>
            <a:lvl1pPr algn="ctr">
              <a:defRPr sz="900">
                <a:solidFill>
                  <a:schemeClr val="tx1"/>
                </a:solidFill>
              </a:defRPr>
            </a:lvl1pPr>
          </a:lstStyle>
          <a:p>
            <a:endParaRPr lang="zh-CN" altLang="en-US"/>
          </a:p>
        </p:txBody>
      </p:sp>
      <p:sp>
        <p:nvSpPr>
          <p:cNvPr id="6" name="KSO_FN"/>
          <p:cNvSpPr>
            <a:spLocks noGrp="1"/>
          </p:cNvSpPr>
          <p:nvPr>
            <p:ph type="sldNum" sz="quarter" idx="4"/>
          </p:nvPr>
        </p:nvSpPr>
        <p:spPr>
          <a:xfrm>
            <a:off x="6457950" y="4838703"/>
            <a:ext cx="2057400" cy="273844"/>
          </a:xfrm>
          <a:prstGeom prst="rect">
            <a:avLst/>
          </a:prstGeom>
        </p:spPr>
        <p:txBody>
          <a:bodyPr vert="horz" lIns="68580" tIns="34290" rIns="68580" bIns="34290" rtlCol="0" anchor="ctr"/>
          <a:lstStyle>
            <a:lvl1pPr algn="r">
              <a:defRPr sz="900">
                <a:solidFill>
                  <a:schemeClr val="tx1"/>
                </a:solidFill>
              </a:defRPr>
            </a:lvl1pPr>
          </a:lstStyle>
          <a:p>
            <a:fld id="{B175336B-BC74-4DD6-BD11-FD15792EF55D}" type="slidenum">
              <a:rPr lang="zh-CN" altLang="en-US" smtClean="0"/>
              <a:t>‹#›</a:t>
            </a:fld>
            <a:endParaRPr lang="zh-CN" altLang="en-US"/>
          </a:p>
        </p:txBody>
      </p:sp>
      <p:sp>
        <p:nvSpPr>
          <p:cNvPr id="3" name="KSO_BC1"/>
          <p:cNvSpPr>
            <a:spLocks noGrp="1"/>
          </p:cNvSpPr>
          <p:nvPr>
            <p:ph type="body" idx="1"/>
          </p:nvPr>
        </p:nvSpPr>
        <p:spPr>
          <a:xfrm>
            <a:off x="854015" y="850107"/>
            <a:ext cx="7866654" cy="3825107"/>
          </a:xfrm>
          <a:prstGeom prst="rect">
            <a:avLst/>
          </a:prstGeom>
        </p:spPr>
        <p:txBody>
          <a:bodyPr vert="horz" lIns="68580" tIns="34290" rIns="68580" bIns="34290" rtlCol="0">
            <a:normAutofit/>
          </a:bodyPr>
          <a:lstStyle/>
          <a:p>
            <a:pPr lvl="0"/>
            <a:r>
              <a:rPr lang="zh-CN" altLang="en-US" dirty="0"/>
              <a:t>单击此处编辑母版文本样式</a:t>
            </a:r>
          </a:p>
          <a:p>
            <a:pPr lvl="1"/>
            <a:r>
              <a:rPr lang="zh-CN" altLang="en-US" dirty="0"/>
              <a:t>第二级</a:t>
            </a:r>
          </a:p>
        </p:txBody>
      </p:sp>
      <p:sp>
        <p:nvSpPr>
          <p:cNvPr id="2" name="KSO_BT1"/>
          <p:cNvSpPr>
            <a:spLocks noGrp="1"/>
          </p:cNvSpPr>
          <p:nvPr>
            <p:ph type="title"/>
          </p:nvPr>
        </p:nvSpPr>
        <p:spPr>
          <a:xfrm>
            <a:off x="504826" y="160440"/>
            <a:ext cx="8215844" cy="597008"/>
          </a:xfrm>
          <a:prstGeom prst="rect">
            <a:avLst/>
          </a:prstGeom>
        </p:spPr>
        <p:txBody>
          <a:bodyPr vert="horz" lIns="68580" tIns="34290" rIns="68580" bIns="34290" rtlCol="0" anchor="ctr">
            <a:normAutofit/>
          </a:bodyPr>
          <a:lstStyle/>
          <a:p>
            <a:r>
              <a:rPr lang="zh-CN" altLang="en-US" dirty="0"/>
              <a:t>单击此处编辑母版标题样式</a:t>
            </a:r>
            <a:endParaRPr lang="en-US" dirty="0"/>
          </a:p>
        </p:txBody>
      </p:sp>
    </p:spTree>
    <p:extLst>
      <p:ext uri="{BB962C8B-B14F-4D97-AF65-F5344CB8AC3E}">
        <p14:creationId xmlns:p14="http://schemas.microsoft.com/office/powerpoint/2010/main" val="2821067487"/>
      </p:ext>
    </p:extLst>
  </p:cSld>
  <p:clrMap bg1="lt1" tx1="dk1" bg2="lt2" tx2="dk2" accent1="accent1" accent2="accent2" accent3="accent3" accent4="accent4" accent5="accent5" accent6="accent6" hlink="hlink" folHlink="folHlink"/>
  <p:sldLayoutIdLst>
    <p:sldLayoutId id="2147484094" r:id="rId1"/>
    <p:sldLayoutId id="2147484095" r:id="rId2"/>
    <p:sldLayoutId id="2147484096" r:id="rId3"/>
    <p:sldLayoutId id="2147484097" r:id="rId4"/>
    <p:sldLayoutId id="2147484098" r:id="rId5"/>
    <p:sldLayoutId id="2147484099" r:id="rId6"/>
    <p:sldLayoutId id="2147484100" r:id="rId7"/>
    <p:sldLayoutId id="2147484101" r:id="rId8"/>
    <p:sldLayoutId id="2147484102" r:id="rId9"/>
    <p:sldLayoutId id="2147484103" r:id="rId10"/>
    <p:sldLayoutId id="2147484104" r:id="rId11"/>
  </p:sldLayoutIdLst>
  <p:txStyles>
    <p:titleStyle>
      <a:lvl1pPr algn="ctr" defTabSz="514350" rtl="0" eaLnBrk="1" latinLnBrk="0" hangingPunct="1">
        <a:lnSpc>
          <a:spcPct val="90000"/>
        </a:lnSpc>
        <a:spcBef>
          <a:spcPct val="0"/>
        </a:spcBef>
        <a:buNone/>
        <a:defRPr sz="2400" b="0" i="0" kern="1200" baseline="0">
          <a:solidFill>
            <a:schemeClr val="tx1">
              <a:lumMod val="50000"/>
            </a:schemeClr>
          </a:solidFill>
          <a:effectLst/>
          <a:latin typeface="+mj-ea"/>
          <a:ea typeface="+mj-ea"/>
          <a:cs typeface="+mj-cs"/>
        </a:defRPr>
      </a:lvl1pPr>
    </p:titleStyle>
    <p:bodyStyle>
      <a:lvl1pPr marL="271463" indent="-271463" algn="just" defTabSz="514350" rtl="0" eaLnBrk="1" latinLnBrk="0" hangingPunct="1">
        <a:lnSpc>
          <a:spcPct val="110000"/>
        </a:lnSpc>
        <a:spcBef>
          <a:spcPts val="900"/>
        </a:spcBef>
        <a:spcAft>
          <a:spcPts val="0"/>
        </a:spcAft>
        <a:buClr>
          <a:schemeClr val="accent2"/>
        </a:buClr>
        <a:buSzPct val="50000"/>
        <a:buFont typeface="Wingdings 2" panose="05020102010507070707" pitchFamily="18" charset="2"/>
        <a:buChar char=""/>
        <a:defRPr lang="zh-CN" altLang="en-US" sz="1800" b="1" kern="1200" baseline="0" dirty="0" smtClean="0">
          <a:solidFill>
            <a:schemeClr val="accent1"/>
          </a:solidFill>
          <a:latin typeface="+mn-ea"/>
          <a:ea typeface="+mn-ea"/>
          <a:cs typeface="+mn-cs"/>
        </a:defRPr>
      </a:lvl1pPr>
      <a:lvl2pPr marL="271463" indent="-271463" algn="just" defTabSz="514350" rtl="0" eaLnBrk="1" latinLnBrk="0" hangingPunct="1">
        <a:lnSpc>
          <a:spcPct val="120000"/>
        </a:lnSpc>
        <a:spcBef>
          <a:spcPts val="0"/>
        </a:spcBef>
        <a:spcAft>
          <a:spcPts val="900"/>
        </a:spcAft>
        <a:buClr>
          <a:schemeClr val="accent2">
            <a:lumMod val="60000"/>
            <a:lumOff val="40000"/>
          </a:schemeClr>
        </a:buClr>
        <a:buFont typeface="幼圆" panose="02010509060101010101" pitchFamily="49" charset="-122"/>
        <a:buChar char=" "/>
        <a:defRPr sz="1400" b="0" kern="1200" baseline="0">
          <a:solidFill>
            <a:schemeClr val="tx1"/>
          </a:solidFill>
          <a:latin typeface="+mn-ea"/>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00"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9pPr>
    </p:bodyStyle>
    <p:otherStyle>
      <a:defPPr>
        <a:defRPr lang="en-US"/>
      </a:defPPr>
      <a:lvl1pPr marL="0" algn="l" defTabSz="514350" rtl="0" eaLnBrk="1" latinLnBrk="0" hangingPunct="1">
        <a:defRPr sz="1000" kern="1200">
          <a:solidFill>
            <a:schemeClr val="tx1"/>
          </a:solidFill>
          <a:latin typeface="+mn-lt"/>
          <a:ea typeface="+mn-ea"/>
          <a:cs typeface="+mn-cs"/>
        </a:defRPr>
      </a:lvl1pPr>
      <a:lvl2pPr marL="257175" algn="l" defTabSz="514350" rtl="0" eaLnBrk="1" latinLnBrk="0" hangingPunct="1">
        <a:defRPr sz="1000" kern="1200">
          <a:solidFill>
            <a:schemeClr val="tx1"/>
          </a:solidFill>
          <a:latin typeface="+mn-lt"/>
          <a:ea typeface="+mn-ea"/>
          <a:cs typeface="+mn-cs"/>
        </a:defRPr>
      </a:lvl2pPr>
      <a:lvl3pPr marL="514350" algn="l" defTabSz="514350" rtl="0" eaLnBrk="1" latinLnBrk="0" hangingPunct="1">
        <a:defRPr sz="1000" kern="1200">
          <a:solidFill>
            <a:schemeClr val="tx1"/>
          </a:solidFill>
          <a:latin typeface="+mn-lt"/>
          <a:ea typeface="+mn-ea"/>
          <a:cs typeface="+mn-cs"/>
        </a:defRPr>
      </a:lvl3pPr>
      <a:lvl4pPr marL="771525" algn="l" defTabSz="514350" rtl="0" eaLnBrk="1" latinLnBrk="0" hangingPunct="1">
        <a:defRPr sz="1000" kern="1200">
          <a:solidFill>
            <a:schemeClr val="tx1"/>
          </a:solidFill>
          <a:latin typeface="+mn-lt"/>
          <a:ea typeface="+mn-ea"/>
          <a:cs typeface="+mn-cs"/>
        </a:defRPr>
      </a:lvl4pPr>
      <a:lvl5pPr marL="1028700" algn="l" defTabSz="514350" rtl="0" eaLnBrk="1" latinLnBrk="0" hangingPunct="1">
        <a:defRPr sz="1000" kern="1200">
          <a:solidFill>
            <a:schemeClr val="tx1"/>
          </a:solidFill>
          <a:latin typeface="+mn-lt"/>
          <a:ea typeface="+mn-ea"/>
          <a:cs typeface="+mn-cs"/>
        </a:defRPr>
      </a:lvl5pPr>
      <a:lvl6pPr marL="1285875" algn="l" defTabSz="514350" rtl="0" eaLnBrk="1" latinLnBrk="0" hangingPunct="1">
        <a:defRPr sz="1000" kern="1200">
          <a:solidFill>
            <a:schemeClr val="tx1"/>
          </a:solidFill>
          <a:latin typeface="+mn-lt"/>
          <a:ea typeface="+mn-ea"/>
          <a:cs typeface="+mn-cs"/>
        </a:defRPr>
      </a:lvl6pPr>
      <a:lvl7pPr marL="1543050" algn="l" defTabSz="514350" rtl="0" eaLnBrk="1" latinLnBrk="0" hangingPunct="1">
        <a:defRPr sz="1000" kern="1200">
          <a:solidFill>
            <a:schemeClr val="tx1"/>
          </a:solidFill>
          <a:latin typeface="+mn-lt"/>
          <a:ea typeface="+mn-ea"/>
          <a:cs typeface="+mn-cs"/>
        </a:defRPr>
      </a:lvl7pPr>
      <a:lvl8pPr marL="1800225" algn="l" defTabSz="514350" rtl="0" eaLnBrk="1" latinLnBrk="0" hangingPunct="1">
        <a:defRPr sz="1000" kern="1200">
          <a:solidFill>
            <a:schemeClr val="tx1"/>
          </a:solidFill>
          <a:latin typeface="+mn-lt"/>
          <a:ea typeface="+mn-ea"/>
          <a:cs typeface="+mn-cs"/>
        </a:defRPr>
      </a:lvl8pPr>
      <a:lvl9pPr marL="2057400" algn="l" defTabSz="51435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368964"/>
            <a:ext cx="8928992" cy="523220"/>
          </a:xfrm>
          <a:prstGeom prst="rect">
            <a:avLst/>
          </a:prstGeom>
          <a:noFill/>
        </p:spPr>
        <p:txBody>
          <a:bodyPr wrap="square" rtlCol="0">
            <a:spAutoFit/>
          </a:bodyPr>
          <a:lstStyle/>
          <a:p>
            <a:r>
              <a:rPr lang="zh-CN" altLang="en-US" sz="2800" b="1" dirty="0">
                <a:latin typeface="Times New Roman" pitchFamily="18" charset="0"/>
                <a:ea typeface="宋体" pitchFamily="2" charset="-122"/>
                <a:cs typeface="Times New Roman" pitchFamily="18" charset="0"/>
              </a:rPr>
              <a:t>三、基坑监测</a:t>
            </a:r>
          </a:p>
        </p:txBody>
      </p:sp>
      <p:graphicFrame>
        <p:nvGraphicFramePr>
          <p:cNvPr id="2" name="表格 1"/>
          <p:cNvGraphicFramePr>
            <a:graphicFrameLocks noGrp="1"/>
          </p:cNvGraphicFramePr>
          <p:nvPr>
            <p:extLst>
              <p:ext uri="{D42A27DB-BD31-4B8C-83A1-F6EECF244321}">
                <p14:modId xmlns:p14="http://schemas.microsoft.com/office/powerpoint/2010/main" val="3277050367"/>
              </p:ext>
            </p:extLst>
          </p:nvPr>
        </p:nvGraphicFramePr>
        <p:xfrm>
          <a:off x="1043607" y="987573"/>
          <a:ext cx="7992889" cy="4032447"/>
        </p:xfrm>
        <a:graphic>
          <a:graphicData uri="http://schemas.openxmlformats.org/drawingml/2006/table">
            <a:tbl>
              <a:tblPr firstRow="1" firstCol="1" bandRow="1">
                <a:tableStyleId>{22838BEF-8BB2-4498-84A7-C5851F593DF1}</a:tableStyleId>
              </a:tblPr>
              <a:tblGrid>
                <a:gridCol w="924279">
                  <a:extLst>
                    <a:ext uri="{9D8B030D-6E8A-4147-A177-3AD203B41FA5}">
                      <a16:colId xmlns:a16="http://schemas.microsoft.com/office/drawing/2014/main" val="20000"/>
                    </a:ext>
                  </a:extLst>
                </a:gridCol>
                <a:gridCol w="7068610">
                  <a:extLst>
                    <a:ext uri="{9D8B030D-6E8A-4147-A177-3AD203B41FA5}">
                      <a16:colId xmlns:a16="http://schemas.microsoft.com/office/drawing/2014/main" val="20001"/>
                    </a:ext>
                  </a:extLst>
                </a:gridCol>
              </a:tblGrid>
              <a:tr h="453343">
                <a:tc rowSpan="6">
                  <a:txBody>
                    <a:bodyPr/>
                    <a:lstStyle/>
                    <a:p>
                      <a:pPr algn="ctr">
                        <a:spcAft>
                          <a:spcPts val="0"/>
                        </a:spcAft>
                      </a:pPr>
                      <a:r>
                        <a:rPr lang="zh-CN" sz="1600" b="1" kern="100" dirty="0">
                          <a:effectLst/>
                          <a:latin typeface="Times New Roman" pitchFamily="18" charset="0"/>
                          <a:ea typeface="宋体" pitchFamily="2" charset="-122"/>
                          <a:cs typeface="Times New Roman" pitchFamily="18" charset="0"/>
                        </a:rPr>
                        <a:t>应实施监测的基坑工程</a:t>
                      </a:r>
                    </a:p>
                  </a:txBody>
                  <a:tcPr marL="57239" marR="57239"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）基坑设计安全等级为一、二级的基坑。</a:t>
                      </a:r>
                    </a:p>
                  </a:txBody>
                  <a:tcPr marL="57239" marR="57239" marT="0" marB="0" anchor="ctr"/>
                </a:tc>
                <a:extLst>
                  <a:ext uri="{0D108BD9-81ED-4DB2-BD59-A6C34878D82A}">
                    <a16:rowId xmlns:a16="http://schemas.microsoft.com/office/drawing/2014/main" val="10000"/>
                  </a:ext>
                </a:extLst>
              </a:tr>
              <a:tr h="453343">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）开挖深度≥</a:t>
                      </a:r>
                      <a:r>
                        <a:rPr lang="en-US" sz="1600" b="1" kern="100">
                          <a:effectLst/>
                          <a:latin typeface="Times New Roman" pitchFamily="18" charset="0"/>
                          <a:ea typeface="宋体" pitchFamily="2" charset="-122"/>
                          <a:cs typeface="Times New Roman" pitchFamily="18" charset="0"/>
                        </a:rPr>
                        <a:t>5m </a:t>
                      </a:r>
                      <a:r>
                        <a:rPr lang="zh-CN" sz="1600" b="1" kern="100">
                          <a:effectLst/>
                          <a:latin typeface="Times New Roman" pitchFamily="18" charset="0"/>
                          <a:ea typeface="宋体" pitchFamily="2" charset="-122"/>
                          <a:cs typeface="Times New Roman" pitchFamily="18" charset="0"/>
                        </a:rPr>
                        <a:t>的下列基坑：</a:t>
                      </a:r>
                    </a:p>
                  </a:txBody>
                  <a:tcPr marL="57239" marR="57239" marT="0" marB="0" anchor="ctr"/>
                </a:tc>
                <a:extLst>
                  <a:ext uri="{0D108BD9-81ED-4DB2-BD59-A6C34878D82A}">
                    <a16:rowId xmlns:a16="http://schemas.microsoft.com/office/drawing/2014/main" val="10001"/>
                  </a:ext>
                </a:extLst>
              </a:tr>
              <a:tr h="453343">
                <a:tc vMerge="1">
                  <a:txBody>
                    <a:bodyPr/>
                    <a:lstStyle/>
                    <a:p>
                      <a:endParaRPr lang="zh-CN" altLang="en-US"/>
                    </a:p>
                  </a:txBody>
                  <a:tcPr/>
                </a:tc>
                <a:tc>
                  <a:txBody>
                    <a:bodyPr/>
                    <a:lstStyle/>
                    <a:p>
                      <a:pPr algn="just">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）土质基坑；</a:t>
                      </a:r>
                    </a:p>
                  </a:txBody>
                  <a:tcPr marL="57239" marR="57239" marT="0" marB="0" anchor="ctr"/>
                </a:tc>
                <a:extLst>
                  <a:ext uri="{0D108BD9-81ED-4DB2-BD59-A6C34878D82A}">
                    <a16:rowId xmlns:a16="http://schemas.microsoft.com/office/drawing/2014/main" val="10002"/>
                  </a:ext>
                </a:extLst>
              </a:tr>
              <a:tr h="453343">
                <a:tc vMerge="1">
                  <a:txBody>
                    <a:bodyPr/>
                    <a:lstStyle/>
                    <a:p>
                      <a:endParaRPr lang="zh-CN" altLang="en-US"/>
                    </a:p>
                  </a:txBody>
                  <a:tcPr/>
                </a:tc>
                <a:tc>
                  <a:txBody>
                    <a:bodyPr/>
                    <a:lstStyle/>
                    <a:p>
                      <a:pPr algn="just">
                        <a:spcAft>
                          <a:spcPts val="0"/>
                        </a:spcAft>
                      </a:pP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）极软岩基坑、破碎的软岩基坑、极破碎的岩体基坑；</a:t>
                      </a:r>
                    </a:p>
                  </a:txBody>
                  <a:tcPr marL="57239" marR="57239" marT="0" marB="0" anchor="ctr"/>
                </a:tc>
                <a:extLst>
                  <a:ext uri="{0D108BD9-81ED-4DB2-BD59-A6C34878D82A}">
                    <a16:rowId xmlns:a16="http://schemas.microsoft.com/office/drawing/2014/main" val="10003"/>
                  </a:ext>
                </a:extLst>
              </a:tr>
              <a:tr h="882866">
                <a:tc vMerge="1">
                  <a:txBody>
                    <a:bodyPr/>
                    <a:lstStyle/>
                    <a:p>
                      <a:endParaRPr lang="zh-CN" altLang="en-US"/>
                    </a:p>
                  </a:txBody>
                  <a:tcPr/>
                </a:tc>
                <a:tc>
                  <a:txBody>
                    <a:bodyPr/>
                    <a:lstStyle/>
                    <a:p>
                      <a:pPr algn="just">
                        <a:spcAft>
                          <a:spcPts val="0"/>
                        </a:spcAft>
                      </a:pP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）上部为土体，下部为极软岩、破碎的软岩、极破碎的岩体构成的土岩组合基坑。</a:t>
                      </a:r>
                    </a:p>
                  </a:txBody>
                  <a:tcPr marL="57239" marR="57239" marT="0" marB="0" anchor="ctr"/>
                </a:tc>
                <a:extLst>
                  <a:ext uri="{0D108BD9-81ED-4DB2-BD59-A6C34878D82A}">
                    <a16:rowId xmlns:a16="http://schemas.microsoft.com/office/drawing/2014/main" val="10004"/>
                  </a:ext>
                </a:extLst>
              </a:tr>
              <a:tr h="453343">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3</a:t>
                      </a:r>
                      <a:r>
                        <a:rPr lang="zh-CN" sz="1600" b="1" kern="100" dirty="0">
                          <a:effectLst/>
                          <a:latin typeface="Times New Roman" pitchFamily="18" charset="0"/>
                          <a:ea typeface="宋体" pitchFamily="2" charset="-122"/>
                          <a:cs typeface="Times New Roman" pitchFamily="18" charset="0"/>
                        </a:rPr>
                        <a:t>）开挖深度</a:t>
                      </a:r>
                      <a:r>
                        <a:rPr lang="en-US" sz="1600" b="1" kern="100" dirty="0">
                          <a:effectLst/>
                          <a:latin typeface="Times New Roman" pitchFamily="18" charset="0"/>
                          <a:ea typeface="宋体" pitchFamily="2" charset="-122"/>
                          <a:cs typeface="Times New Roman" pitchFamily="18" charset="0"/>
                        </a:rPr>
                        <a:t> &lt;5m </a:t>
                      </a:r>
                      <a:r>
                        <a:rPr lang="zh-CN" sz="1600" b="1" kern="100" dirty="0">
                          <a:effectLst/>
                          <a:latin typeface="Times New Roman" pitchFamily="18" charset="0"/>
                          <a:ea typeface="宋体" pitchFamily="2" charset="-122"/>
                          <a:cs typeface="Times New Roman" pitchFamily="18" charset="0"/>
                        </a:rPr>
                        <a:t>但现场地质情况和周围环境较复杂的基坑工程。</a:t>
                      </a:r>
                    </a:p>
                  </a:txBody>
                  <a:tcPr marL="57239" marR="57239" marT="0" marB="0" anchor="ctr"/>
                </a:tc>
                <a:extLst>
                  <a:ext uri="{0D108BD9-81ED-4DB2-BD59-A6C34878D82A}">
                    <a16:rowId xmlns:a16="http://schemas.microsoft.com/office/drawing/2014/main" val="10005"/>
                  </a:ext>
                </a:extLst>
              </a:tr>
              <a:tr h="882866">
                <a:tc>
                  <a:txBody>
                    <a:bodyPr/>
                    <a:lstStyle/>
                    <a:p>
                      <a:pPr algn="ctr">
                        <a:spcAft>
                          <a:spcPts val="0"/>
                        </a:spcAft>
                      </a:pPr>
                      <a:r>
                        <a:rPr lang="zh-CN" sz="1600" b="1" kern="100">
                          <a:effectLst/>
                          <a:latin typeface="Times New Roman" pitchFamily="18" charset="0"/>
                          <a:ea typeface="宋体" pitchFamily="2" charset="-122"/>
                          <a:cs typeface="Times New Roman" pitchFamily="18" charset="0"/>
                        </a:rPr>
                        <a:t>任务委托</a:t>
                      </a:r>
                    </a:p>
                  </a:txBody>
                  <a:tcPr marL="57239" marR="57239" marT="0" marB="0" anchor="ct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基坑工程施工前，应由建设方委托具备相应资质的第三方对基坑工程实施现场监测。</a:t>
                      </a:r>
                    </a:p>
                  </a:txBody>
                  <a:tcPr marL="57239" marR="57239"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5881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randombar(horizont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1269963876"/>
              </p:ext>
            </p:extLst>
          </p:nvPr>
        </p:nvGraphicFramePr>
        <p:xfrm>
          <a:off x="1043607" y="411509"/>
          <a:ext cx="7848873" cy="4608512"/>
        </p:xfrm>
        <a:graphic>
          <a:graphicData uri="http://schemas.openxmlformats.org/drawingml/2006/table">
            <a:tbl>
              <a:tblPr firstRow="1" firstCol="1" bandRow="1">
                <a:tableStyleId>{16D9F66E-5EB9-4882-86FB-DCBF35E3C3E4}</a:tableStyleId>
              </a:tblPr>
              <a:tblGrid>
                <a:gridCol w="979476">
                  <a:extLst>
                    <a:ext uri="{9D8B030D-6E8A-4147-A177-3AD203B41FA5}">
                      <a16:colId xmlns:a16="http://schemas.microsoft.com/office/drawing/2014/main" val="20000"/>
                    </a:ext>
                  </a:extLst>
                </a:gridCol>
                <a:gridCol w="6869397">
                  <a:extLst>
                    <a:ext uri="{9D8B030D-6E8A-4147-A177-3AD203B41FA5}">
                      <a16:colId xmlns:a16="http://schemas.microsoft.com/office/drawing/2014/main" val="20001"/>
                    </a:ext>
                  </a:extLst>
                </a:gridCol>
              </a:tblGrid>
              <a:tr h="388293">
                <a:tc rowSpan="7">
                  <a:txBody>
                    <a:bodyPr/>
                    <a:lstStyle/>
                    <a:p>
                      <a:pPr algn="ctr">
                        <a:spcAft>
                          <a:spcPts val="0"/>
                        </a:spcAft>
                      </a:pPr>
                      <a:r>
                        <a:rPr lang="zh-CN" sz="1600" b="1" kern="100" dirty="0">
                          <a:effectLst/>
                          <a:latin typeface="Times New Roman" pitchFamily="18" charset="0"/>
                          <a:ea typeface="宋体" pitchFamily="2" charset="-122"/>
                          <a:cs typeface="Times New Roman" pitchFamily="18" charset="0"/>
                        </a:rPr>
                        <a:t>基坑工程监测的总体要求</a:t>
                      </a:r>
                    </a:p>
                  </a:txBody>
                  <a:tcPr marL="57239" marR="57239" marT="0" marB="0" anchor="ct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1</a:t>
                      </a:r>
                      <a:r>
                        <a:rPr lang="zh-CN" sz="1600" b="1" kern="100" dirty="0">
                          <a:effectLst/>
                          <a:latin typeface="Times New Roman" pitchFamily="18" charset="0"/>
                          <a:ea typeface="宋体" pitchFamily="2" charset="-122"/>
                          <a:cs typeface="Times New Roman" pitchFamily="18" charset="0"/>
                        </a:rPr>
                        <a:t>）基坑工程施工前，应编制基坑工程监测方案。</a:t>
                      </a:r>
                    </a:p>
                  </a:txBody>
                  <a:tcPr marL="57239" marR="57239" marT="0" marB="0" anchor="ctr"/>
                </a:tc>
                <a:extLst>
                  <a:ext uri="{0D108BD9-81ED-4DB2-BD59-A6C34878D82A}">
                    <a16:rowId xmlns:a16="http://schemas.microsoft.com/office/drawing/2014/main" val="10000"/>
                  </a:ext>
                </a:extLst>
              </a:tr>
              <a:tr h="776586">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2</a:t>
                      </a:r>
                      <a:r>
                        <a:rPr lang="zh-CN" sz="1600" b="1" kern="100" dirty="0">
                          <a:effectLst/>
                          <a:latin typeface="Times New Roman" pitchFamily="18" charset="0"/>
                          <a:ea typeface="宋体" pitchFamily="2" charset="-122"/>
                          <a:cs typeface="Times New Roman" pitchFamily="18" charset="0"/>
                        </a:rPr>
                        <a:t>）应根据基坑工程安全等级、周边环境条件、支护类型及施工场地等确定基坑工程监测项目、监测点布置、监测方法、监测频率和监测预警。</a:t>
                      </a:r>
                    </a:p>
                  </a:txBody>
                  <a:tcPr marL="57239" marR="57239" marT="0" marB="0" anchor="ctr"/>
                </a:tc>
                <a:extLst>
                  <a:ext uri="{0D108BD9-81ED-4DB2-BD59-A6C34878D82A}">
                    <a16:rowId xmlns:a16="http://schemas.microsoft.com/office/drawing/2014/main" val="10001"/>
                  </a:ext>
                </a:extLst>
              </a:tr>
              <a:tr h="1134277">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3</a:t>
                      </a:r>
                      <a:r>
                        <a:rPr lang="zh-CN" sz="1600" b="1" kern="100" dirty="0">
                          <a:effectLst/>
                          <a:latin typeface="Times New Roman" pitchFamily="18" charset="0"/>
                          <a:ea typeface="宋体" pitchFamily="2" charset="-122"/>
                          <a:cs typeface="Times New Roman" pitchFamily="18" charset="0"/>
                        </a:rPr>
                        <a:t>）至少进行围护墙顶部水平位移、沉降以及周边建筑、道路等沉降监测，并应根据项目技术设计条件对围护墙或土体深层水平位移、支护结构内力、土压力、孔隙水压力等进行监测。</a:t>
                      </a:r>
                    </a:p>
                  </a:txBody>
                  <a:tcPr marL="57239" marR="57239" marT="0" marB="0" anchor="ctr"/>
                </a:tc>
                <a:extLst>
                  <a:ext uri="{0D108BD9-81ED-4DB2-BD59-A6C34878D82A}">
                    <a16:rowId xmlns:a16="http://schemas.microsoft.com/office/drawing/2014/main" val="10002"/>
                  </a:ext>
                </a:extLst>
              </a:tr>
              <a:tr h="388293">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4</a:t>
                      </a:r>
                      <a:r>
                        <a:rPr lang="zh-CN" sz="1600" b="1" kern="100" dirty="0">
                          <a:effectLst/>
                          <a:latin typeface="Times New Roman" pitchFamily="18" charset="0"/>
                          <a:ea typeface="宋体" pitchFamily="2" charset="-122"/>
                          <a:cs typeface="Times New Roman" pitchFamily="18" charset="0"/>
                        </a:rPr>
                        <a:t>）监测点应沿基坑围护墙顶部周边布设，周边中部、阳角处应布点。</a:t>
                      </a:r>
                    </a:p>
                  </a:txBody>
                  <a:tcPr marL="57239" marR="57239" marT="0" marB="0" anchor="ctr"/>
                </a:tc>
                <a:extLst>
                  <a:ext uri="{0D108BD9-81ED-4DB2-BD59-A6C34878D82A}">
                    <a16:rowId xmlns:a16="http://schemas.microsoft.com/office/drawing/2014/main" val="10003"/>
                  </a:ext>
                </a:extLst>
              </a:tr>
              <a:tr h="776586">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5</a:t>
                      </a:r>
                      <a:r>
                        <a:rPr lang="zh-CN" sz="1600" b="1" kern="100" dirty="0">
                          <a:effectLst/>
                          <a:latin typeface="Times New Roman" pitchFamily="18" charset="0"/>
                          <a:ea typeface="宋体" pitchFamily="2" charset="-122"/>
                          <a:cs typeface="Times New Roman" pitchFamily="18" charset="0"/>
                        </a:rPr>
                        <a:t>）当基坑监测达到变形预警值，或基坑出现流砂、管涌、隆起、陷落，或基坑支护结构及周边环境出现大的变形时，应立即进行预警。</a:t>
                      </a:r>
                    </a:p>
                  </a:txBody>
                  <a:tcPr marL="57239" marR="57239" marT="0" marB="0" anchor="ctr"/>
                </a:tc>
                <a:extLst>
                  <a:ext uri="{0D108BD9-81ED-4DB2-BD59-A6C34878D82A}">
                    <a16:rowId xmlns:a16="http://schemas.microsoft.com/office/drawing/2014/main" val="10004"/>
                  </a:ext>
                </a:extLst>
              </a:tr>
              <a:tr h="756184">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6</a:t>
                      </a:r>
                      <a:r>
                        <a:rPr lang="zh-CN" sz="1600" b="1" kern="100">
                          <a:effectLst/>
                          <a:latin typeface="Times New Roman" pitchFamily="18" charset="0"/>
                          <a:ea typeface="宋体" pitchFamily="2" charset="-122"/>
                          <a:cs typeface="Times New Roman" pitchFamily="18" charset="0"/>
                        </a:rPr>
                        <a:t>）基坑降水应对水位降深进行监测，地下水回灌施工应对回灌量和水质进行监测。</a:t>
                      </a:r>
                    </a:p>
                  </a:txBody>
                  <a:tcPr marL="57239" marR="57239" marT="0" marB="0" anchor="ctr"/>
                </a:tc>
                <a:extLst>
                  <a:ext uri="{0D108BD9-81ED-4DB2-BD59-A6C34878D82A}">
                    <a16:rowId xmlns:a16="http://schemas.microsoft.com/office/drawing/2014/main" val="10005"/>
                  </a:ext>
                </a:extLst>
              </a:tr>
              <a:tr h="388293">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7</a:t>
                      </a:r>
                      <a:r>
                        <a:rPr lang="zh-CN" sz="1600" b="1" kern="100" dirty="0">
                          <a:effectLst/>
                          <a:latin typeface="Times New Roman" pitchFamily="18" charset="0"/>
                          <a:ea typeface="宋体" pitchFamily="2" charset="-122"/>
                          <a:cs typeface="Times New Roman" pitchFamily="18" charset="0"/>
                        </a:rPr>
                        <a:t>）逆作法施工应全过程进行监测。</a:t>
                      </a:r>
                    </a:p>
                  </a:txBody>
                  <a:tcPr marL="57239" marR="57239"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5881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3256115116"/>
              </p:ext>
            </p:extLst>
          </p:nvPr>
        </p:nvGraphicFramePr>
        <p:xfrm>
          <a:off x="1043607" y="411508"/>
          <a:ext cx="7920881" cy="4608515"/>
        </p:xfrm>
        <a:graphic>
          <a:graphicData uri="http://schemas.openxmlformats.org/drawingml/2006/table">
            <a:tbl>
              <a:tblPr firstRow="1" firstCol="1" bandRow="1">
                <a:tableStyleId>{69CF1AB2-1976-4502-BF36-3FF5EA218861}</a:tableStyleId>
              </a:tblPr>
              <a:tblGrid>
                <a:gridCol w="1278502">
                  <a:extLst>
                    <a:ext uri="{9D8B030D-6E8A-4147-A177-3AD203B41FA5}">
                      <a16:colId xmlns:a16="http://schemas.microsoft.com/office/drawing/2014/main" val="20000"/>
                    </a:ext>
                  </a:extLst>
                </a:gridCol>
                <a:gridCol w="6642379">
                  <a:extLst>
                    <a:ext uri="{9D8B030D-6E8A-4147-A177-3AD203B41FA5}">
                      <a16:colId xmlns:a16="http://schemas.microsoft.com/office/drawing/2014/main" val="20001"/>
                    </a:ext>
                  </a:extLst>
                </a:gridCol>
              </a:tblGrid>
              <a:tr h="358120">
                <a:tc rowSpan="5">
                  <a:txBody>
                    <a:bodyPr/>
                    <a:lstStyle/>
                    <a:p>
                      <a:pPr algn="ctr">
                        <a:spcAft>
                          <a:spcPts val="0"/>
                        </a:spcAft>
                      </a:pPr>
                      <a:r>
                        <a:rPr lang="zh-CN" sz="1600" b="1" kern="100" dirty="0">
                          <a:effectLst/>
                          <a:latin typeface="Times New Roman" pitchFamily="18" charset="0"/>
                          <a:ea typeface="宋体" pitchFamily="2" charset="-122"/>
                          <a:cs typeface="Times New Roman" pitchFamily="18" charset="0"/>
                        </a:rPr>
                        <a:t>应进行专项论证的监测方案</a:t>
                      </a:r>
                    </a:p>
                  </a:txBody>
                  <a:tcPr marL="57239" marR="57239"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）工程地质、水文地质条件复杂的基坑工程；</a:t>
                      </a:r>
                    </a:p>
                  </a:txBody>
                  <a:tcPr marL="57239" marR="57239" marT="0" marB="0" anchor="ctr"/>
                </a:tc>
                <a:extLst>
                  <a:ext uri="{0D108BD9-81ED-4DB2-BD59-A6C34878D82A}">
                    <a16:rowId xmlns:a16="http://schemas.microsoft.com/office/drawing/2014/main" val="10000"/>
                  </a:ext>
                </a:extLst>
              </a:tr>
              <a:tr h="358120">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）邻近重要建筑、设施、管线等破坏后果很严重的基坑工程；</a:t>
                      </a:r>
                    </a:p>
                  </a:txBody>
                  <a:tcPr marL="57239" marR="57239" marT="0" marB="0" anchor="ctr"/>
                </a:tc>
                <a:extLst>
                  <a:ext uri="{0D108BD9-81ED-4DB2-BD59-A6C34878D82A}">
                    <a16:rowId xmlns:a16="http://schemas.microsoft.com/office/drawing/2014/main" val="10001"/>
                  </a:ext>
                </a:extLst>
              </a:tr>
              <a:tr h="358120">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）已发生严重事故，重新组织实施的基坑工程；</a:t>
                      </a:r>
                    </a:p>
                  </a:txBody>
                  <a:tcPr marL="57239" marR="57239" marT="0" marB="0" anchor="ctr"/>
                </a:tc>
                <a:extLst>
                  <a:ext uri="{0D108BD9-81ED-4DB2-BD59-A6C34878D82A}">
                    <a16:rowId xmlns:a16="http://schemas.microsoft.com/office/drawing/2014/main" val="10002"/>
                  </a:ext>
                </a:extLst>
              </a:tr>
              <a:tr h="358120">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）采用新技术、新工艺、新材料、新设备的一、二级基坑工程；</a:t>
                      </a:r>
                    </a:p>
                  </a:txBody>
                  <a:tcPr marL="57239" marR="57239" marT="0" marB="0" anchor="ctr"/>
                </a:tc>
                <a:extLst>
                  <a:ext uri="{0D108BD9-81ED-4DB2-BD59-A6C34878D82A}">
                    <a16:rowId xmlns:a16="http://schemas.microsoft.com/office/drawing/2014/main" val="10003"/>
                  </a:ext>
                </a:extLst>
              </a:tr>
              <a:tr h="358120">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5</a:t>
                      </a:r>
                      <a:r>
                        <a:rPr lang="zh-CN" sz="1600" b="1" kern="100" dirty="0">
                          <a:effectLst/>
                          <a:latin typeface="Times New Roman" pitchFamily="18" charset="0"/>
                          <a:ea typeface="宋体" pitchFamily="2" charset="-122"/>
                          <a:cs typeface="Times New Roman" pitchFamily="18" charset="0"/>
                        </a:rPr>
                        <a:t>）其他需要论证的基坑工程。</a:t>
                      </a:r>
                    </a:p>
                  </a:txBody>
                  <a:tcPr marL="57239" marR="57239" marT="0" marB="0" anchor="ctr"/>
                </a:tc>
                <a:extLst>
                  <a:ext uri="{0D108BD9-81ED-4DB2-BD59-A6C34878D82A}">
                    <a16:rowId xmlns:a16="http://schemas.microsoft.com/office/drawing/2014/main" val="10004"/>
                  </a:ext>
                </a:extLst>
              </a:tr>
              <a:tr h="358120">
                <a:tc rowSpan="4">
                  <a:txBody>
                    <a:bodyPr/>
                    <a:lstStyle/>
                    <a:p>
                      <a:pPr algn="ctr">
                        <a:spcAft>
                          <a:spcPts val="0"/>
                        </a:spcAft>
                      </a:pPr>
                      <a:r>
                        <a:rPr lang="zh-CN" sz="1600" b="1" kern="100" dirty="0">
                          <a:effectLst/>
                          <a:latin typeface="Times New Roman" pitchFamily="18" charset="0"/>
                          <a:ea typeface="宋体" pitchFamily="2" charset="-122"/>
                          <a:cs typeface="Times New Roman" pitchFamily="18" charset="0"/>
                        </a:rPr>
                        <a:t>基坑监测的其它要求</a:t>
                      </a:r>
                    </a:p>
                  </a:txBody>
                  <a:tcPr marL="57239" marR="57239" marT="0" marB="0" anchor="ct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1</a:t>
                      </a:r>
                      <a:r>
                        <a:rPr lang="zh-CN" sz="1600" b="1" kern="100" dirty="0">
                          <a:effectLst/>
                          <a:latin typeface="Times New Roman" pitchFamily="18" charset="0"/>
                          <a:ea typeface="宋体" pitchFamily="2" charset="-122"/>
                          <a:cs typeface="Times New Roman" pitchFamily="18" charset="0"/>
                        </a:rPr>
                        <a:t>）现场监测应采用仪器监测与现场巡视检查相结合的方法。</a:t>
                      </a:r>
                    </a:p>
                  </a:txBody>
                  <a:tcPr marL="57239" marR="57239" marT="0" marB="0" anchor="ctr"/>
                </a:tc>
                <a:extLst>
                  <a:ext uri="{0D108BD9-81ED-4DB2-BD59-A6C34878D82A}">
                    <a16:rowId xmlns:a16="http://schemas.microsoft.com/office/drawing/2014/main" val="10005"/>
                  </a:ext>
                </a:extLst>
              </a:tr>
              <a:tr h="716239">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2</a:t>
                      </a:r>
                      <a:r>
                        <a:rPr lang="zh-CN" sz="1600" b="1" kern="100" dirty="0">
                          <a:effectLst/>
                          <a:latin typeface="Times New Roman" pitchFamily="18" charset="0"/>
                          <a:ea typeface="宋体" pitchFamily="2" charset="-122"/>
                          <a:cs typeface="Times New Roman" pitchFamily="18" charset="0"/>
                        </a:rPr>
                        <a:t>）基坑工程整个施工期内，每天均应有专人进行巡视检查。主要内容——支护结构、施工状况、周边环境、监测设施及其他巡视检查内容。</a:t>
                      </a:r>
                    </a:p>
                  </a:txBody>
                  <a:tcPr marL="57239" marR="57239" marT="0" marB="0" anchor="ctr"/>
                </a:tc>
                <a:extLst>
                  <a:ext uri="{0D108BD9-81ED-4DB2-BD59-A6C34878D82A}">
                    <a16:rowId xmlns:a16="http://schemas.microsoft.com/office/drawing/2014/main" val="10006"/>
                  </a:ext>
                </a:extLst>
              </a:tr>
              <a:tr h="697422">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3</a:t>
                      </a:r>
                      <a:r>
                        <a:rPr lang="zh-CN" sz="1600" b="1" kern="100" dirty="0">
                          <a:effectLst/>
                          <a:latin typeface="Times New Roman" pitchFamily="18" charset="0"/>
                          <a:ea typeface="宋体" pitchFamily="2" charset="-122"/>
                          <a:cs typeface="Times New Roman" pitchFamily="18" charset="0"/>
                        </a:rPr>
                        <a:t>）巡视检查的方法以目测为主，可辅以锤、钎、量尺、放大镜等工器具以及摄像、摄影等设备进行。</a:t>
                      </a:r>
                    </a:p>
                  </a:txBody>
                  <a:tcPr marL="57239" marR="57239" marT="0" marB="0" anchor="ctr"/>
                </a:tc>
                <a:extLst>
                  <a:ext uri="{0D108BD9-81ED-4DB2-BD59-A6C34878D82A}">
                    <a16:rowId xmlns:a16="http://schemas.microsoft.com/office/drawing/2014/main" val="10007"/>
                  </a:ext>
                </a:extLst>
              </a:tr>
              <a:tr h="1046134">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4</a:t>
                      </a:r>
                      <a:r>
                        <a:rPr lang="zh-CN" sz="1600" b="1" kern="100" dirty="0">
                          <a:effectLst/>
                          <a:latin typeface="Times New Roman" pitchFamily="18" charset="0"/>
                          <a:ea typeface="宋体" pitchFamily="2" charset="-122"/>
                          <a:cs typeface="Times New Roman" pitchFamily="18" charset="0"/>
                        </a:rPr>
                        <a:t>）基坑工程监测工作应贯穿于基坑工程和地下工程施工全过程。监测工作应从基坑工程施工前开始，直至地下工程完成为止。对有特殊要求的周边环境的监测应根据需要延续至变形趋于稳定后才能结束。</a:t>
                      </a:r>
                    </a:p>
                  </a:txBody>
                  <a:tcPr marL="57239" marR="57239" marT="0" marB="0"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25881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1853456836"/>
              </p:ext>
            </p:extLst>
          </p:nvPr>
        </p:nvGraphicFramePr>
        <p:xfrm>
          <a:off x="1043607" y="483518"/>
          <a:ext cx="7920881" cy="4464498"/>
        </p:xfrm>
        <a:graphic>
          <a:graphicData uri="http://schemas.openxmlformats.org/drawingml/2006/table">
            <a:tbl>
              <a:tblPr firstRow="1" firstCol="1" bandRow="1">
                <a:tableStyleId>{8A107856-5554-42FB-B03E-39F5DBC370BA}</a:tableStyleId>
              </a:tblPr>
              <a:tblGrid>
                <a:gridCol w="1423521">
                  <a:extLst>
                    <a:ext uri="{9D8B030D-6E8A-4147-A177-3AD203B41FA5}">
                      <a16:colId xmlns:a16="http://schemas.microsoft.com/office/drawing/2014/main" val="20000"/>
                    </a:ext>
                  </a:extLst>
                </a:gridCol>
                <a:gridCol w="6497360">
                  <a:extLst>
                    <a:ext uri="{9D8B030D-6E8A-4147-A177-3AD203B41FA5}">
                      <a16:colId xmlns:a16="http://schemas.microsoft.com/office/drawing/2014/main" val="20001"/>
                    </a:ext>
                  </a:extLst>
                </a:gridCol>
              </a:tblGrid>
              <a:tr h="883366">
                <a:tc rowSpan="7">
                  <a:txBody>
                    <a:bodyPr/>
                    <a:lstStyle/>
                    <a:p>
                      <a:pPr algn="ctr">
                        <a:spcAft>
                          <a:spcPts val="0"/>
                        </a:spcAft>
                      </a:pPr>
                      <a:r>
                        <a:rPr lang="zh-CN" sz="1600" b="1" kern="100" dirty="0">
                          <a:effectLst/>
                          <a:latin typeface="Times New Roman" pitchFamily="18" charset="0"/>
                          <a:ea typeface="宋体" pitchFamily="2" charset="-122"/>
                          <a:cs typeface="Times New Roman" pitchFamily="18" charset="0"/>
                        </a:rPr>
                        <a:t>必须立即危险报警并应通知有关各方采取应急措施</a:t>
                      </a:r>
                    </a:p>
                  </a:txBody>
                  <a:tcPr marL="57239" marR="57239"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）基坑支护结构的位移值突然明显增大或基坑出现流砂、管涌、隆起或陷落等；</a:t>
                      </a:r>
                    </a:p>
                  </a:txBody>
                  <a:tcPr marL="57239" marR="57239" marT="0" marB="0" anchor="ctr"/>
                </a:tc>
                <a:extLst>
                  <a:ext uri="{0D108BD9-81ED-4DB2-BD59-A6C34878D82A}">
                    <a16:rowId xmlns:a16="http://schemas.microsoft.com/office/drawing/2014/main" val="10000"/>
                  </a:ext>
                </a:extLst>
              </a:tr>
              <a:tr h="883366">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）基坑支护结构的支撑或锚杆体系出现过大变形、压屈、断裂、松弛或拔出的迹象；</a:t>
                      </a:r>
                    </a:p>
                  </a:txBody>
                  <a:tcPr marL="57239" marR="57239" marT="0" marB="0" anchor="ctr"/>
                </a:tc>
                <a:extLst>
                  <a:ext uri="{0D108BD9-81ED-4DB2-BD59-A6C34878D82A}">
                    <a16:rowId xmlns:a16="http://schemas.microsoft.com/office/drawing/2014/main" val="10001"/>
                  </a:ext>
                </a:extLst>
              </a:tr>
              <a:tr h="453600">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）基坑周边建筑的结构部分出现危害结构的变形裂缝；</a:t>
                      </a:r>
                    </a:p>
                  </a:txBody>
                  <a:tcPr marL="57239" marR="57239" marT="0" marB="0" anchor="ctr"/>
                </a:tc>
                <a:extLst>
                  <a:ext uri="{0D108BD9-81ED-4DB2-BD59-A6C34878D82A}">
                    <a16:rowId xmlns:a16="http://schemas.microsoft.com/office/drawing/2014/main" val="10002"/>
                  </a:ext>
                </a:extLst>
              </a:tr>
              <a:tr h="453600">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）基坑周边地面出现较严重的突发裂缝或地下裂缝、地面下陷；</a:t>
                      </a:r>
                    </a:p>
                  </a:txBody>
                  <a:tcPr marL="57239" marR="57239" marT="0" marB="0" anchor="ctr"/>
                </a:tc>
                <a:extLst>
                  <a:ext uri="{0D108BD9-81ED-4DB2-BD59-A6C34878D82A}">
                    <a16:rowId xmlns:a16="http://schemas.microsoft.com/office/drawing/2014/main" val="10003"/>
                  </a:ext>
                </a:extLst>
              </a:tr>
              <a:tr h="453600">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）基坑周边管线变形突然明显增长或出现裂缝、泄漏等；</a:t>
                      </a:r>
                    </a:p>
                  </a:txBody>
                  <a:tcPr marL="57239" marR="57239" marT="0" marB="0" anchor="ctr"/>
                </a:tc>
                <a:extLst>
                  <a:ext uri="{0D108BD9-81ED-4DB2-BD59-A6C34878D82A}">
                    <a16:rowId xmlns:a16="http://schemas.microsoft.com/office/drawing/2014/main" val="10004"/>
                  </a:ext>
                </a:extLst>
              </a:tr>
              <a:tr h="883366">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6</a:t>
                      </a:r>
                      <a:r>
                        <a:rPr lang="zh-CN" sz="1600" b="1" kern="100">
                          <a:effectLst/>
                          <a:latin typeface="Times New Roman" pitchFamily="18" charset="0"/>
                          <a:ea typeface="宋体" pitchFamily="2" charset="-122"/>
                          <a:cs typeface="Times New Roman" pitchFamily="18" charset="0"/>
                        </a:rPr>
                        <a:t>）冻土基坑经受冻融循环时，基坑周边土体温度显著上升，发生明显的冻融变形；</a:t>
                      </a:r>
                    </a:p>
                  </a:txBody>
                  <a:tcPr marL="57239" marR="57239" marT="0" marB="0" anchor="ctr"/>
                </a:tc>
                <a:extLst>
                  <a:ext uri="{0D108BD9-81ED-4DB2-BD59-A6C34878D82A}">
                    <a16:rowId xmlns:a16="http://schemas.microsoft.com/office/drawing/2014/main" val="10005"/>
                  </a:ext>
                </a:extLst>
              </a:tr>
              <a:tr h="453600">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7</a:t>
                      </a:r>
                      <a:r>
                        <a:rPr lang="zh-CN" sz="1600" b="1" kern="100" dirty="0">
                          <a:effectLst/>
                          <a:latin typeface="Times New Roman" pitchFamily="18" charset="0"/>
                          <a:ea typeface="宋体" pitchFamily="2" charset="-122"/>
                          <a:cs typeface="Times New Roman" pitchFamily="18" charset="0"/>
                        </a:rPr>
                        <a:t>）出现其他危险需要报警的情况。</a:t>
                      </a:r>
                    </a:p>
                  </a:txBody>
                  <a:tcPr marL="57239" marR="57239"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5881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RESOURCELIBID_PRE" val="13076"/>
  <p:tag name="MH_CONTENTSID" val="264"/>
  <p:tag name="MH_SECTIONID" val="265,"/>
</p:tagLst>
</file>

<file path=ppt/theme/theme1.xml><?xml version="1.0" encoding="utf-8"?>
<a:theme xmlns:a="http://schemas.openxmlformats.org/drawingml/2006/main" name="A000120140530A99PPBG">
  <a:themeElements>
    <a:clrScheme name="KSO_BLUE9">
      <a:dk1>
        <a:srgbClr val="47494B"/>
      </a:dk1>
      <a:lt1>
        <a:srgbClr val="FFFFFF"/>
      </a:lt1>
      <a:dk2>
        <a:srgbClr val="454749"/>
      </a:dk2>
      <a:lt2>
        <a:srgbClr val="EAF5FC"/>
      </a:lt2>
      <a:accent1>
        <a:srgbClr val="046FB6"/>
      </a:accent1>
      <a:accent2>
        <a:srgbClr val="22B1DE"/>
      </a:accent2>
      <a:accent3>
        <a:srgbClr val="7B93D7"/>
      </a:accent3>
      <a:accent4>
        <a:srgbClr val="5D76BA"/>
      </a:accent4>
      <a:accent5>
        <a:srgbClr val="3DBFD1"/>
      </a:accent5>
      <a:accent6>
        <a:srgbClr val="FFC000"/>
      </a:accent6>
      <a:hlink>
        <a:srgbClr val="00B0F0"/>
      </a:hlink>
      <a:folHlink>
        <a:srgbClr val="AFB2B4"/>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636869495982041620</Template>
  <TotalTime>5014</TotalTime>
  <Words>730</Words>
  <Application>Microsoft Office PowerPoint</Application>
  <PresentationFormat>全屏显示(16:9)</PresentationFormat>
  <Paragraphs>41</Paragraphs>
  <Slides>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vt:i4>
      </vt:variant>
    </vt:vector>
  </HeadingPairs>
  <TitlesOfParts>
    <vt:vector size="14" baseType="lpstr">
      <vt:lpstr>黑体</vt:lpstr>
      <vt:lpstr>华文行楷</vt:lpstr>
      <vt:lpstr>微软雅黑</vt:lpstr>
      <vt:lpstr>幼圆</vt:lpstr>
      <vt:lpstr>Arial</vt:lpstr>
      <vt:lpstr>Calibri</vt:lpstr>
      <vt:lpstr>Franklin Gothic Book</vt:lpstr>
      <vt:lpstr>Times New Roman</vt:lpstr>
      <vt:lpstr>Wingdings 2</vt:lpstr>
      <vt:lpstr>A000120140530A99PPBG</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632</cp:revision>
  <dcterms:created xsi:type="dcterms:W3CDTF">2019-02-28T02:56:41Z</dcterms:created>
  <dcterms:modified xsi:type="dcterms:W3CDTF">2026-03-20T03:20:45Z</dcterms:modified>
</cp:coreProperties>
</file>