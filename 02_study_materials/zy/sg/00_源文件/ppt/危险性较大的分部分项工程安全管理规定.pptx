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18"/>
  </p:notesMasterIdLst>
  <p:sldIdLst>
    <p:sldId id="755" r:id="rId2"/>
    <p:sldId id="756" r:id="rId3"/>
    <p:sldId id="763" r:id="rId4"/>
    <p:sldId id="764" r:id="rId5"/>
    <p:sldId id="765" r:id="rId6"/>
    <p:sldId id="766" r:id="rId7"/>
    <p:sldId id="767" r:id="rId8"/>
    <p:sldId id="768" r:id="rId9"/>
    <p:sldId id="769" r:id="rId10"/>
    <p:sldId id="770" r:id="rId11"/>
    <p:sldId id="771" r:id="rId12"/>
    <p:sldId id="772" r:id="rId13"/>
    <p:sldId id="773" r:id="rId14"/>
    <p:sldId id="774" r:id="rId15"/>
    <p:sldId id="775" r:id="rId16"/>
    <p:sldId id="776" r:id="rId17"/>
  </p:sldIdLst>
  <p:sldSz cx="9144000" cy="5143500" type="screen16x9"/>
  <p:notesSz cx="6858000" cy="9144000"/>
  <p:custDataLst>
    <p:tags r:id="rId19"/>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196" autoAdjust="0"/>
  </p:normalViewPr>
  <p:slideViewPr>
    <p:cSldViewPr>
      <p:cViewPr varScale="1">
        <p:scale>
          <a:sx n="114" d="100"/>
          <a:sy n="114" d="100"/>
        </p:scale>
        <p:origin x="714" y="90"/>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2024/12/2</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二、危险性较大的分部分项工程安全管理规定</a:t>
            </a:r>
          </a:p>
        </p:txBody>
      </p:sp>
      <p:graphicFrame>
        <p:nvGraphicFramePr>
          <p:cNvPr id="2" name="表格 1"/>
          <p:cNvGraphicFramePr>
            <a:graphicFrameLocks noGrp="1"/>
          </p:cNvGraphicFramePr>
          <p:nvPr>
            <p:extLst>
              <p:ext uri="{D42A27DB-BD31-4B8C-83A1-F6EECF244321}">
                <p14:modId xmlns:p14="http://schemas.microsoft.com/office/powerpoint/2010/main" val="805602536"/>
              </p:ext>
            </p:extLst>
          </p:nvPr>
        </p:nvGraphicFramePr>
        <p:xfrm>
          <a:off x="1043607" y="892184"/>
          <a:ext cx="8000848" cy="4199847"/>
        </p:xfrm>
        <a:graphic>
          <a:graphicData uri="http://schemas.openxmlformats.org/drawingml/2006/table">
            <a:tbl>
              <a:tblPr firstRow="1" firstCol="1" bandRow="1">
                <a:tableStyleId>{0505E3EF-67EA-436B-97B2-0124C06EBD24}</a:tableStyleId>
              </a:tblPr>
              <a:tblGrid>
                <a:gridCol w="558990">
                  <a:extLst>
                    <a:ext uri="{9D8B030D-6E8A-4147-A177-3AD203B41FA5}">
                      <a16:colId xmlns:a16="http://schemas.microsoft.com/office/drawing/2014/main" val="20000"/>
                    </a:ext>
                  </a:extLst>
                </a:gridCol>
                <a:gridCol w="7441858">
                  <a:extLst>
                    <a:ext uri="{9D8B030D-6E8A-4147-A177-3AD203B41FA5}">
                      <a16:colId xmlns:a16="http://schemas.microsoft.com/office/drawing/2014/main" val="20001"/>
                    </a:ext>
                  </a:extLst>
                </a:gridCol>
              </a:tblGrid>
              <a:tr h="1399949">
                <a:tc rowSpan="3">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前期保障</a:t>
                      </a:r>
                    </a:p>
                  </a:txBody>
                  <a:tcPr marL="54131" marR="54131" marT="0" marB="0" anchor="ct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）建设单位应当组织勘察、设计等单位在施工招标文件中列出危大工程清单，要求施工单位在投标时补充完善危大工程清单并明确相应的安全管理措施。</a:t>
                      </a:r>
                    </a:p>
                  </a:txBody>
                  <a:tcPr marL="54131" marR="54131" marT="0" marB="0" anchor="ctr"/>
                </a:tc>
                <a:extLst>
                  <a:ext uri="{0D108BD9-81ED-4DB2-BD59-A6C34878D82A}">
                    <a16:rowId xmlns:a16="http://schemas.microsoft.com/office/drawing/2014/main" val="10000"/>
                  </a:ext>
                </a:extLst>
              </a:tr>
              <a:tr h="1399949">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）建设单位应当按照施工合同约定及时支付危大工程施工技术措施费以及相应的安全防护文明施工措施费，保障危大工程施工安全。</a:t>
                      </a:r>
                    </a:p>
                  </a:txBody>
                  <a:tcPr marL="54131" marR="54131" marT="0" marB="0" anchor="ctr"/>
                </a:tc>
                <a:extLst>
                  <a:ext uri="{0D108BD9-81ED-4DB2-BD59-A6C34878D82A}">
                    <a16:rowId xmlns:a16="http://schemas.microsoft.com/office/drawing/2014/main" val="10001"/>
                  </a:ext>
                </a:extLst>
              </a:tr>
              <a:tr h="1399949">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）建设单位在申请办理安全监督手续时，应当提交危大工程清单及其安全管理措施等资料。</a:t>
                      </a:r>
                    </a:p>
                  </a:txBody>
                  <a:tcPr marL="54131" marR="54131"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2655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2401624825"/>
              </p:ext>
            </p:extLst>
          </p:nvPr>
        </p:nvGraphicFramePr>
        <p:xfrm>
          <a:off x="1043607" y="368964"/>
          <a:ext cx="7992889" cy="4723067"/>
        </p:xfrm>
        <a:graphic>
          <a:graphicData uri="http://schemas.openxmlformats.org/drawingml/2006/table">
            <a:tbl>
              <a:tblPr firstRow="1" firstCol="1" bandRow="1">
                <a:tableStyleId>{C4B1156A-380E-4F78-BDF5-A606A8083BF9}</a:tableStyleId>
              </a:tblPr>
              <a:tblGrid>
                <a:gridCol w="777941">
                  <a:extLst>
                    <a:ext uri="{9D8B030D-6E8A-4147-A177-3AD203B41FA5}">
                      <a16:colId xmlns:a16="http://schemas.microsoft.com/office/drawing/2014/main" val="20000"/>
                    </a:ext>
                  </a:extLst>
                </a:gridCol>
                <a:gridCol w="7214948">
                  <a:extLst>
                    <a:ext uri="{9D8B030D-6E8A-4147-A177-3AD203B41FA5}">
                      <a16:colId xmlns:a16="http://schemas.microsoft.com/office/drawing/2014/main" val="20001"/>
                    </a:ext>
                  </a:extLst>
                </a:gridCol>
              </a:tblGrid>
              <a:tr h="590383">
                <a:tc rowSpan="4">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专项施工方案</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）施工单位应当在危大工程施工前组织工程技术人员编制专项施工方案。</a:t>
                      </a:r>
                    </a:p>
                  </a:txBody>
                  <a:tcPr marL="54131" marR="54131" marT="0" marB="0" anchor="ctr"/>
                </a:tc>
                <a:extLst>
                  <a:ext uri="{0D108BD9-81ED-4DB2-BD59-A6C34878D82A}">
                    <a16:rowId xmlns:a16="http://schemas.microsoft.com/office/drawing/2014/main" val="10000"/>
                  </a:ext>
                </a:extLst>
              </a:tr>
              <a:tr h="1771150">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）实行施工总承包的，专项施工方案应当由施工总承包单位组织编制。其中，起重机械安装拆卸工程、深基坑工程、附着式升降脚手架等专业工程实行分包的，其专项施工方案可以由相关专业分包单位组织编制。</a:t>
                      </a:r>
                    </a:p>
                  </a:txBody>
                  <a:tcPr marL="54131" marR="54131" marT="0" marB="0" anchor="ctr"/>
                </a:tc>
                <a:extLst>
                  <a:ext uri="{0D108BD9-81ED-4DB2-BD59-A6C34878D82A}">
                    <a16:rowId xmlns:a16="http://schemas.microsoft.com/office/drawing/2014/main" val="10001"/>
                  </a:ext>
                </a:extLst>
              </a:tr>
              <a:tr h="1180767">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）专项施工方案应当由施工单位技术负责人审核签字、加盖单位公章，并由总监理工程师审查签字、加盖执业印章后方可实施。</a:t>
                      </a:r>
                    </a:p>
                  </a:txBody>
                  <a:tcPr marL="54131" marR="54131" marT="0" marB="0" anchor="ctr"/>
                </a:tc>
                <a:extLst>
                  <a:ext uri="{0D108BD9-81ED-4DB2-BD59-A6C34878D82A}">
                    <a16:rowId xmlns:a16="http://schemas.microsoft.com/office/drawing/2014/main" val="10002"/>
                  </a:ext>
                </a:extLst>
              </a:tr>
              <a:tr h="1180767">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）危大工程实行分包并由分包单位编制专项施工方案的，专项施工方案应当由总承包单位技术负责人及分包单位技术负责人共同审核签字并加盖单位公章。</a:t>
                      </a:r>
                    </a:p>
                  </a:txBody>
                  <a:tcPr marL="54131" marR="54131"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655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417425394"/>
              </p:ext>
            </p:extLst>
          </p:nvPr>
        </p:nvGraphicFramePr>
        <p:xfrm>
          <a:off x="1043607" y="368965"/>
          <a:ext cx="7992889" cy="4723063"/>
        </p:xfrm>
        <a:graphic>
          <a:graphicData uri="http://schemas.openxmlformats.org/drawingml/2006/table">
            <a:tbl>
              <a:tblPr firstRow="1" firstCol="1" bandRow="1">
                <a:tableStyleId>{22838BEF-8BB2-4498-84A7-C5851F593DF1}</a:tableStyleId>
              </a:tblPr>
              <a:tblGrid>
                <a:gridCol w="648073">
                  <a:extLst>
                    <a:ext uri="{9D8B030D-6E8A-4147-A177-3AD203B41FA5}">
                      <a16:colId xmlns:a16="http://schemas.microsoft.com/office/drawing/2014/main" val="20000"/>
                    </a:ext>
                  </a:extLst>
                </a:gridCol>
                <a:gridCol w="7344816">
                  <a:extLst>
                    <a:ext uri="{9D8B030D-6E8A-4147-A177-3AD203B41FA5}">
                      <a16:colId xmlns:a16="http://schemas.microsoft.com/office/drawing/2014/main" val="20001"/>
                    </a:ext>
                  </a:extLst>
                </a:gridCol>
              </a:tblGrid>
              <a:tr h="1180766">
                <a:tc rowSpan="5">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专项施工方案</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）专家应当从地方人民政府住房城乡建设主管部门建立的专家库中选取，符合专业要求且人数不得少于</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名。与本工程有利害关系的人员不得以专家身份参加专家论证会。</a:t>
                      </a:r>
                    </a:p>
                  </a:txBody>
                  <a:tcPr marL="54131" marR="54131" marT="0" marB="0" anchor="ctr"/>
                </a:tc>
                <a:extLst>
                  <a:ext uri="{0D108BD9-81ED-4DB2-BD59-A6C34878D82A}">
                    <a16:rowId xmlns:a16="http://schemas.microsoft.com/office/drawing/2014/main" val="10000"/>
                  </a:ext>
                </a:extLst>
              </a:tr>
              <a:tr h="787177">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）专家论证会后，应当形成论证报告，对专项施工方案提出通过、修改后通过或者不通过的一致意见。专家对论证报告负责并签字确认。</a:t>
                      </a:r>
                    </a:p>
                  </a:txBody>
                  <a:tcPr marL="54131" marR="54131" marT="0" marB="0" anchor="ctr"/>
                </a:tc>
                <a:extLst>
                  <a:ext uri="{0D108BD9-81ED-4DB2-BD59-A6C34878D82A}">
                    <a16:rowId xmlns:a16="http://schemas.microsoft.com/office/drawing/2014/main" val="10001"/>
                  </a:ext>
                </a:extLst>
              </a:tr>
              <a:tr h="787177">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a:t>
                      </a:r>
                      <a:r>
                        <a:rPr lang="zh-CN" sz="1600" b="1" kern="100">
                          <a:effectLst/>
                          <a:latin typeface="Times New Roman" pitchFamily="18" charset="0"/>
                          <a:ea typeface="宋体" pitchFamily="2" charset="-122"/>
                          <a:cs typeface="Times New Roman" pitchFamily="18" charset="0"/>
                        </a:rPr>
                        <a:t>）专项施工方案经论证需修改后通过的，施工单位应当根据论证报告修改完善后，重新履行审核（查）、签字、盖章的程序。</a:t>
                      </a:r>
                    </a:p>
                  </a:txBody>
                  <a:tcPr marL="54131" marR="54131" marT="0" marB="0" anchor="ctr"/>
                </a:tc>
                <a:extLst>
                  <a:ext uri="{0D108BD9-81ED-4DB2-BD59-A6C34878D82A}">
                    <a16:rowId xmlns:a16="http://schemas.microsoft.com/office/drawing/2014/main" val="10002"/>
                  </a:ext>
                </a:extLst>
              </a:tr>
              <a:tr h="787177">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8</a:t>
                      </a:r>
                      <a:r>
                        <a:rPr lang="zh-CN" sz="1600" b="1" kern="100" dirty="0">
                          <a:effectLst/>
                          <a:latin typeface="Times New Roman" pitchFamily="18" charset="0"/>
                          <a:ea typeface="宋体" pitchFamily="2" charset="-122"/>
                          <a:cs typeface="Times New Roman" pitchFamily="18" charset="0"/>
                        </a:rPr>
                        <a:t>）专项施工方案经论证不通过的，施工单位修改后应当按照本规定的要求重新组织专家论证。</a:t>
                      </a:r>
                    </a:p>
                  </a:txBody>
                  <a:tcPr marL="54131" marR="54131" marT="0" marB="0" anchor="ctr"/>
                </a:tc>
                <a:extLst>
                  <a:ext uri="{0D108BD9-81ED-4DB2-BD59-A6C34878D82A}">
                    <a16:rowId xmlns:a16="http://schemas.microsoft.com/office/drawing/2014/main" val="10003"/>
                  </a:ext>
                </a:extLst>
              </a:tr>
              <a:tr h="1180766">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9</a:t>
                      </a:r>
                      <a:r>
                        <a:rPr lang="zh-CN" sz="1600" b="1" kern="100" dirty="0">
                          <a:effectLst/>
                          <a:latin typeface="Times New Roman" pitchFamily="18" charset="0"/>
                          <a:ea typeface="宋体" pitchFamily="2" charset="-122"/>
                          <a:cs typeface="Times New Roman" pitchFamily="18" charset="0"/>
                        </a:rPr>
                        <a:t>）对于超过一定规模的危大工程，施工单位应当组织召开专家论证会对专项施工方案进行论证。实行施工总承包的，由施工总承包单位组织召开专家论证会。专家论证前专项施工方案应当通过施工单位审核和总监理工程师审查。</a:t>
                      </a:r>
                    </a:p>
                  </a:txBody>
                  <a:tcPr marL="54131" marR="54131"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106911389"/>
              </p:ext>
            </p:extLst>
          </p:nvPr>
        </p:nvGraphicFramePr>
        <p:xfrm>
          <a:off x="1043607" y="368964"/>
          <a:ext cx="7992889" cy="4723065"/>
        </p:xfrm>
        <a:graphic>
          <a:graphicData uri="http://schemas.openxmlformats.org/drawingml/2006/table">
            <a:tbl>
              <a:tblPr firstRow="1" firstCol="1" bandRow="1">
                <a:tableStyleId>{16D9F66E-5EB9-4882-86FB-DCBF35E3C3E4}</a:tableStyleId>
              </a:tblPr>
              <a:tblGrid>
                <a:gridCol w="631603">
                  <a:extLst>
                    <a:ext uri="{9D8B030D-6E8A-4147-A177-3AD203B41FA5}">
                      <a16:colId xmlns:a16="http://schemas.microsoft.com/office/drawing/2014/main" val="20000"/>
                    </a:ext>
                  </a:extLst>
                </a:gridCol>
                <a:gridCol w="7361286">
                  <a:extLst>
                    <a:ext uri="{9D8B030D-6E8A-4147-A177-3AD203B41FA5}">
                      <a16:colId xmlns:a16="http://schemas.microsoft.com/office/drawing/2014/main" val="20001"/>
                    </a:ext>
                  </a:extLst>
                </a:gridCol>
              </a:tblGrid>
              <a:tr h="800209">
                <a:tc rowSpan="6">
                  <a:txBody>
                    <a:bodyPr/>
                    <a:lstStyle/>
                    <a:p>
                      <a:pPr algn="ctr">
                        <a:lnSpc>
                          <a:spcPct val="100000"/>
                        </a:lnSpc>
                        <a:spcAft>
                          <a:spcPts val="0"/>
                        </a:spcAft>
                      </a:pPr>
                      <a:r>
                        <a:rPr lang="zh-CN" sz="1600" b="1" kern="100">
                          <a:effectLst/>
                          <a:latin typeface="Times New Roman" pitchFamily="18" charset="0"/>
                          <a:ea typeface="宋体" pitchFamily="2" charset="-122"/>
                          <a:cs typeface="Times New Roman" pitchFamily="18" charset="0"/>
                        </a:rPr>
                        <a:t>现场安全管理</a:t>
                      </a:r>
                    </a:p>
                  </a:txBody>
                  <a:tcPr marL="54131" marR="54131" marT="0" marB="0" anchor="ctr"/>
                </a:tc>
                <a:tc>
                  <a:txBody>
                    <a:bodyPr/>
                    <a:lstStyle/>
                    <a:p>
                      <a:pPr algn="just">
                        <a:lnSpc>
                          <a:spcPct val="1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）施工单位应当在施工现场显著位置公告危大工程名称、施工时间和具体责任人员，并在危险区域设置安全警示标志。</a:t>
                      </a:r>
                    </a:p>
                  </a:txBody>
                  <a:tcPr marL="54131" marR="54131" marT="0" marB="0" anchor="ctr"/>
                </a:tc>
                <a:extLst>
                  <a:ext uri="{0D108BD9-81ED-4DB2-BD59-A6C34878D82A}">
                    <a16:rowId xmlns:a16="http://schemas.microsoft.com/office/drawing/2014/main" val="10000"/>
                  </a:ext>
                </a:extLst>
              </a:tr>
              <a:tr h="800209">
                <a:tc vMerge="1">
                  <a:txBody>
                    <a:bodyPr/>
                    <a:lstStyle/>
                    <a:p>
                      <a:endParaRPr lang="zh-CN" altLang="en-US"/>
                    </a:p>
                  </a:txBody>
                  <a:tcPr/>
                </a:tc>
                <a:tc>
                  <a:txBody>
                    <a:bodyPr/>
                    <a:lstStyle/>
                    <a:p>
                      <a:pPr algn="just">
                        <a:lnSpc>
                          <a:spcPct val="1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）专项施工方案实施前，编制人员或者项目技术负责人应当向施工现场管理人员进行方案交底。</a:t>
                      </a:r>
                    </a:p>
                  </a:txBody>
                  <a:tcPr marL="54131" marR="54131" marT="0" marB="0" anchor="ctr"/>
                </a:tc>
                <a:extLst>
                  <a:ext uri="{0D108BD9-81ED-4DB2-BD59-A6C34878D82A}">
                    <a16:rowId xmlns:a16="http://schemas.microsoft.com/office/drawing/2014/main" val="10001"/>
                  </a:ext>
                </a:extLst>
              </a:tr>
              <a:tr h="800209">
                <a:tc vMerge="1">
                  <a:txBody>
                    <a:bodyPr/>
                    <a:lstStyle/>
                    <a:p>
                      <a:endParaRPr lang="zh-CN" altLang="en-US"/>
                    </a:p>
                  </a:txBody>
                  <a:tcPr/>
                </a:tc>
                <a:tc>
                  <a:txBody>
                    <a:bodyPr/>
                    <a:lstStyle/>
                    <a:p>
                      <a:pPr algn="just">
                        <a:lnSpc>
                          <a:spcPct val="1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）施工现场管理人员应当向作业人员进行 安全技术交底，并由双方和项目专职安全生产管理人员共同签字确认。</a:t>
                      </a:r>
                    </a:p>
                  </a:txBody>
                  <a:tcPr marL="54131" marR="54131" marT="0" marB="0" anchor="ctr"/>
                </a:tc>
                <a:extLst>
                  <a:ext uri="{0D108BD9-81ED-4DB2-BD59-A6C34878D82A}">
                    <a16:rowId xmlns:a16="http://schemas.microsoft.com/office/drawing/2014/main" val="10002"/>
                  </a:ext>
                </a:extLst>
              </a:tr>
              <a:tr h="495754">
                <a:tc vMerge="1">
                  <a:txBody>
                    <a:bodyPr/>
                    <a:lstStyle/>
                    <a:p>
                      <a:endParaRPr lang="zh-CN" altLang="en-US"/>
                    </a:p>
                  </a:txBody>
                  <a:tcPr/>
                </a:tc>
                <a:tc>
                  <a:txBody>
                    <a:bodyPr/>
                    <a:lstStyle/>
                    <a:p>
                      <a:pPr algn="just">
                        <a:lnSpc>
                          <a:spcPct val="1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）施工单位应当严格按照专项施工方案组织施工，不得擅自修改专项施工方案。</a:t>
                      </a:r>
                    </a:p>
                  </a:txBody>
                  <a:tcPr marL="54131" marR="54131" marT="0" marB="0" anchor="ctr"/>
                </a:tc>
                <a:extLst>
                  <a:ext uri="{0D108BD9-81ED-4DB2-BD59-A6C34878D82A}">
                    <a16:rowId xmlns:a16="http://schemas.microsoft.com/office/drawing/2014/main" val="10003"/>
                  </a:ext>
                </a:extLst>
              </a:tr>
              <a:tr h="1026475">
                <a:tc vMerge="1">
                  <a:txBody>
                    <a:bodyPr/>
                    <a:lstStyle/>
                    <a:p>
                      <a:endParaRPr lang="zh-CN" altLang="en-US"/>
                    </a:p>
                  </a:txBody>
                  <a:tcPr/>
                </a:tc>
                <a:tc>
                  <a:txBody>
                    <a:bodyPr/>
                    <a:lstStyle/>
                    <a:p>
                      <a:pPr algn="just">
                        <a:lnSpc>
                          <a:spcPct val="10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）因规划调整、设计变更等原因确需调整的，修改后的专项施工方案应当按照本规定重新审核和论证。涉及资金或者工期调整的，建设单位应当按照约定予以调整。</a:t>
                      </a:r>
                    </a:p>
                  </a:txBody>
                  <a:tcPr marL="54131" marR="54131" marT="0" marB="0" anchor="ctr"/>
                </a:tc>
                <a:extLst>
                  <a:ext uri="{0D108BD9-81ED-4DB2-BD59-A6C34878D82A}">
                    <a16:rowId xmlns:a16="http://schemas.microsoft.com/office/drawing/2014/main" val="10004"/>
                  </a:ext>
                </a:extLst>
              </a:tr>
              <a:tr h="800209">
                <a:tc vMerge="1">
                  <a:txBody>
                    <a:bodyPr/>
                    <a:lstStyle/>
                    <a:p>
                      <a:endParaRPr lang="zh-CN" altLang="en-US"/>
                    </a:p>
                  </a:txBody>
                  <a:tcPr/>
                </a:tc>
                <a:tc>
                  <a:txBody>
                    <a:bodyPr/>
                    <a:lstStyle/>
                    <a:p>
                      <a:pPr algn="just">
                        <a:lnSpc>
                          <a:spcPct val="10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6</a:t>
                      </a:r>
                      <a:r>
                        <a:rPr lang="zh-CN" sz="1600" b="1" kern="100" dirty="0">
                          <a:effectLst/>
                          <a:latin typeface="Times New Roman" pitchFamily="18" charset="0"/>
                          <a:ea typeface="宋体" pitchFamily="2" charset="-122"/>
                          <a:cs typeface="Times New Roman" pitchFamily="18" charset="0"/>
                        </a:rPr>
                        <a:t>）施工单位应当对危大工程施工作业人员进行登记，项目负责人应当在施工现场履职。</a:t>
                      </a:r>
                    </a:p>
                  </a:txBody>
                  <a:tcPr marL="54131" marR="54131"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776344040"/>
              </p:ext>
            </p:extLst>
          </p:nvPr>
        </p:nvGraphicFramePr>
        <p:xfrm>
          <a:off x="1043607" y="368964"/>
          <a:ext cx="7992889" cy="4723065"/>
        </p:xfrm>
        <a:graphic>
          <a:graphicData uri="http://schemas.openxmlformats.org/drawingml/2006/table">
            <a:tbl>
              <a:tblPr firstRow="1" firstCol="1" bandRow="1">
                <a:tableStyleId>{69CF1AB2-1976-4502-BF36-3FF5EA218861}</a:tableStyleId>
              </a:tblPr>
              <a:tblGrid>
                <a:gridCol w="576065">
                  <a:extLst>
                    <a:ext uri="{9D8B030D-6E8A-4147-A177-3AD203B41FA5}">
                      <a16:colId xmlns:a16="http://schemas.microsoft.com/office/drawing/2014/main" val="20000"/>
                    </a:ext>
                  </a:extLst>
                </a:gridCol>
                <a:gridCol w="7416824">
                  <a:extLst>
                    <a:ext uri="{9D8B030D-6E8A-4147-A177-3AD203B41FA5}">
                      <a16:colId xmlns:a16="http://schemas.microsoft.com/office/drawing/2014/main" val="20001"/>
                    </a:ext>
                  </a:extLst>
                </a:gridCol>
              </a:tblGrid>
              <a:tr h="1089937">
                <a:tc rowSpan="6">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现场安全管理</a:t>
                      </a:r>
                    </a:p>
                  </a:txBody>
                  <a:tcPr marL="54131" marR="54131"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a:t>
                      </a:r>
                      <a:r>
                        <a:rPr lang="zh-CN" sz="1600" b="1" kern="100">
                          <a:effectLst/>
                          <a:latin typeface="Times New Roman" pitchFamily="18" charset="0"/>
                          <a:ea typeface="宋体" pitchFamily="2" charset="-122"/>
                          <a:cs typeface="Times New Roman" pitchFamily="18" charset="0"/>
                        </a:rPr>
                        <a:t>）项目专职安全生产管理人员应当对专项施工方案实施情况进行现场监督，对未按照专项施工方案施工的，应当要求立即整改，并及时报告项目负责人，项目负责人应当及时组织限期整改。</a:t>
                      </a:r>
                    </a:p>
                  </a:txBody>
                  <a:tcPr marL="54131" marR="54131" marT="0" marB="0" anchor="ctr"/>
                </a:tc>
                <a:extLst>
                  <a:ext uri="{0D108BD9-81ED-4DB2-BD59-A6C34878D82A}">
                    <a16:rowId xmlns:a16="http://schemas.microsoft.com/office/drawing/2014/main" val="10000"/>
                  </a:ext>
                </a:extLst>
              </a:tr>
              <a:tr h="72662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8</a:t>
                      </a:r>
                      <a:r>
                        <a:rPr lang="zh-CN" sz="1600" b="1" kern="100">
                          <a:effectLst/>
                          <a:latin typeface="Times New Roman" pitchFamily="18" charset="0"/>
                          <a:ea typeface="宋体" pitchFamily="2" charset="-122"/>
                          <a:cs typeface="Times New Roman" pitchFamily="18" charset="0"/>
                        </a:rPr>
                        <a:t>）施工单位应当按照规定对危大工程进行施工监测和安全巡视，发现危及人身安全的紧急情况，应当立即组织作业人员撤离危险区域。</a:t>
                      </a:r>
                    </a:p>
                  </a:txBody>
                  <a:tcPr marL="54131" marR="54131" marT="0" marB="0" anchor="ctr"/>
                </a:tc>
                <a:extLst>
                  <a:ext uri="{0D108BD9-81ED-4DB2-BD59-A6C34878D82A}">
                    <a16:rowId xmlns:a16="http://schemas.microsoft.com/office/drawing/2014/main" val="10001"/>
                  </a:ext>
                </a:extLst>
              </a:tr>
              <a:tr h="36331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9</a:t>
                      </a:r>
                      <a:r>
                        <a:rPr lang="zh-CN" sz="1600" b="1" kern="100">
                          <a:effectLst/>
                          <a:latin typeface="Times New Roman" pitchFamily="18" charset="0"/>
                          <a:ea typeface="宋体" pitchFamily="2" charset="-122"/>
                          <a:cs typeface="Times New Roman" pitchFamily="18" charset="0"/>
                        </a:rPr>
                        <a:t>）施工单位技术负责人应当定期巡查专项方案实施情况。</a:t>
                      </a:r>
                    </a:p>
                  </a:txBody>
                  <a:tcPr marL="54131" marR="54131" marT="0" marB="0" anchor="ctr"/>
                </a:tc>
                <a:extLst>
                  <a:ext uri="{0D108BD9-81ED-4DB2-BD59-A6C34878D82A}">
                    <a16:rowId xmlns:a16="http://schemas.microsoft.com/office/drawing/2014/main" val="10002"/>
                  </a:ext>
                </a:extLst>
              </a:tr>
              <a:tr h="72662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10</a:t>
                      </a:r>
                      <a:r>
                        <a:rPr lang="zh-CN" sz="1600" b="1" kern="100">
                          <a:effectLst/>
                          <a:latin typeface="Times New Roman" pitchFamily="18" charset="0"/>
                          <a:ea typeface="宋体" pitchFamily="2" charset="-122"/>
                          <a:cs typeface="Times New Roman" pitchFamily="18" charset="0"/>
                        </a:rPr>
                        <a:t>）对于按照规定需要进行第三方监测的危大工程，建设单位应当委托具有相应勘察资质的单位进行监测。</a:t>
                      </a:r>
                    </a:p>
                  </a:txBody>
                  <a:tcPr marL="54131" marR="54131" marT="0" marB="0" anchor="ctr"/>
                </a:tc>
                <a:extLst>
                  <a:ext uri="{0D108BD9-81ED-4DB2-BD59-A6C34878D82A}">
                    <a16:rowId xmlns:a16="http://schemas.microsoft.com/office/drawing/2014/main" val="10003"/>
                  </a:ext>
                </a:extLst>
              </a:tr>
              <a:tr h="1089937">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11</a:t>
                      </a:r>
                      <a:r>
                        <a:rPr lang="zh-CN" sz="1600" b="1" kern="100">
                          <a:effectLst/>
                          <a:latin typeface="Times New Roman" pitchFamily="18" charset="0"/>
                          <a:ea typeface="宋体" pitchFamily="2" charset="-122"/>
                          <a:cs typeface="Times New Roman" pitchFamily="18" charset="0"/>
                        </a:rPr>
                        <a:t>）对于按照规定需要验收的危大工程，施工单位、监理单位应当组织相关人员进行验收。验收合格的，经施工单位项目技术负责人及总监理工程师签字确认后，方可进入下一道工序。</a:t>
                      </a:r>
                    </a:p>
                  </a:txBody>
                  <a:tcPr marL="54131" marR="54131" marT="0" marB="0" anchor="ctr"/>
                </a:tc>
                <a:extLst>
                  <a:ext uri="{0D108BD9-81ED-4DB2-BD59-A6C34878D82A}">
                    <a16:rowId xmlns:a16="http://schemas.microsoft.com/office/drawing/2014/main" val="10004"/>
                  </a:ext>
                </a:extLst>
              </a:tr>
              <a:tr h="726626">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12</a:t>
                      </a:r>
                      <a:r>
                        <a:rPr lang="zh-CN" sz="1600" b="1" kern="100" dirty="0">
                          <a:effectLst/>
                          <a:latin typeface="Times New Roman" pitchFamily="18" charset="0"/>
                          <a:ea typeface="宋体" pitchFamily="2" charset="-122"/>
                          <a:cs typeface="Times New Roman" pitchFamily="18" charset="0"/>
                        </a:rPr>
                        <a:t>）危大工程验收合格后，施工单位应当在施工现场明显位置设置验收标识牌，公示验收时间及责任人员。</a:t>
                      </a:r>
                    </a:p>
                  </a:txBody>
                  <a:tcPr marL="54131" marR="54131"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00110"/>
          </a:xfrm>
          <a:prstGeom prst="rect">
            <a:avLst/>
          </a:prstGeom>
          <a:noFill/>
        </p:spPr>
        <p:txBody>
          <a:bodyPr wrap="square" rtlCol="0">
            <a:spAutoFit/>
          </a:bodyPr>
          <a:lstStyle/>
          <a:p>
            <a:r>
              <a:rPr lang="zh-CN" altLang="en-US" sz="2000" b="1" dirty="0">
                <a:latin typeface="Times New Roman" pitchFamily="18" charset="0"/>
                <a:ea typeface="宋体" pitchFamily="2" charset="-122"/>
                <a:cs typeface="Times New Roman" pitchFamily="18" charset="0"/>
              </a:rPr>
              <a:t>（一）危险性较大（超过一定规模）的分部分项工程范围</a:t>
            </a:r>
          </a:p>
        </p:txBody>
      </p:sp>
      <p:graphicFrame>
        <p:nvGraphicFramePr>
          <p:cNvPr id="2" name="表格 1"/>
          <p:cNvGraphicFramePr>
            <a:graphicFrameLocks noGrp="1"/>
          </p:cNvGraphicFramePr>
          <p:nvPr>
            <p:extLst>
              <p:ext uri="{D42A27DB-BD31-4B8C-83A1-F6EECF244321}">
                <p14:modId xmlns:p14="http://schemas.microsoft.com/office/powerpoint/2010/main" val="2306875865"/>
              </p:ext>
            </p:extLst>
          </p:nvPr>
        </p:nvGraphicFramePr>
        <p:xfrm>
          <a:off x="1043609" y="843558"/>
          <a:ext cx="8000845" cy="4248472"/>
        </p:xfrm>
        <a:graphic>
          <a:graphicData uri="http://schemas.openxmlformats.org/drawingml/2006/table">
            <a:tbl>
              <a:tblPr firstRow="1" firstCol="1" bandRow="1">
                <a:tableStyleId>{8A107856-5554-42FB-B03E-39F5DBC370BA}</a:tableStyleId>
              </a:tblPr>
              <a:tblGrid>
                <a:gridCol w="720079">
                  <a:extLst>
                    <a:ext uri="{9D8B030D-6E8A-4147-A177-3AD203B41FA5}">
                      <a16:colId xmlns:a16="http://schemas.microsoft.com/office/drawing/2014/main" val="20000"/>
                    </a:ext>
                  </a:extLst>
                </a:gridCol>
                <a:gridCol w="4320480">
                  <a:extLst>
                    <a:ext uri="{9D8B030D-6E8A-4147-A177-3AD203B41FA5}">
                      <a16:colId xmlns:a16="http://schemas.microsoft.com/office/drawing/2014/main" val="20001"/>
                    </a:ext>
                  </a:extLst>
                </a:gridCol>
                <a:gridCol w="2960286">
                  <a:extLst>
                    <a:ext uri="{9D8B030D-6E8A-4147-A177-3AD203B41FA5}">
                      <a16:colId xmlns:a16="http://schemas.microsoft.com/office/drawing/2014/main" val="20002"/>
                    </a:ext>
                  </a:extLst>
                </a:gridCol>
              </a:tblGrid>
              <a:tr h="606924">
                <a:tc>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1213850">
                <a:tc rowSpan="2">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基坑支护、降水工程</a:t>
                      </a:r>
                    </a:p>
                  </a:txBody>
                  <a:tcPr marL="68580" marR="68580"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开挖深度超过</a:t>
                      </a:r>
                      <a:r>
                        <a:rPr lang="en-US" sz="1600" b="1" kern="100">
                          <a:effectLst/>
                          <a:latin typeface="Times New Roman" pitchFamily="18" charset="0"/>
                          <a:ea typeface="宋体" pitchFamily="2" charset="-122"/>
                          <a:cs typeface="Times New Roman" pitchFamily="18" charset="0"/>
                        </a:rPr>
                        <a:t>3m</a:t>
                      </a:r>
                      <a:r>
                        <a:rPr lang="zh-CN" sz="1600" b="1" kern="100">
                          <a:effectLst/>
                          <a:latin typeface="Times New Roman" pitchFamily="18" charset="0"/>
                          <a:ea typeface="宋体" pitchFamily="2" charset="-122"/>
                          <a:cs typeface="Times New Roman" pitchFamily="18" charset="0"/>
                        </a:rPr>
                        <a:t>（含</a:t>
                      </a:r>
                      <a:r>
                        <a:rPr lang="en-US" sz="1600" b="1" kern="100">
                          <a:effectLst/>
                          <a:latin typeface="Times New Roman" pitchFamily="18" charset="0"/>
                          <a:ea typeface="宋体" pitchFamily="2" charset="-122"/>
                          <a:cs typeface="Times New Roman" pitchFamily="18" charset="0"/>
                        </a:rPr>
                        <a:t>3m</a:t>
                      </a:r>
                      <a:r>
                        <a:rPr lang="zh-CN" sz="1600" b="1" kern="100">
                          <a:effectLst/>
                          <a:latin typeface="Times New Roman" pitchFamily="18" charset="0"/>
                          <a:ea typeface="宋体" pitchFamily="2" charset="-122"/>
                          <a:cs typeface="Times New Roman" pitchFamily="18" charset="0"/>
                        </a:rPr>
                        <a:t>）的基坑（槽）的土方开挖工程、支护、降水工程。</a:t>
                      </a:r>
                    </a:p>
                  </a:txBody>
                  <a:tcPr marL="68580" marR="68580" marT="0" marB="0" anchor="ctr"/>
                </a:tc>
                <a:tc rowSpan="2">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开挖深度超过</a:t>
                      </a:r>
                      <a:r>
                        <a:rPr lang="en-US" sz="1600" b="1" kern="100">
                          <a:effectLst/>
                          <a:latin typeface="Times New Roman" pitchFamily="18" charset="0"/>
                          <a:ea typeface="宋体" pitchFamily="2" charset="-122"/>
                          <a:cs typeface="Times New Roman" pitchFamily="18" charset="0"/>
                        </a:rPr>
                        <a:t>5m</a:t>
                      </a:r>
                      <a:r>
                        <a:rPr lang="zh-CN" sz="1600" b="1" kern="100">
                          <a:effectLst/>
                          <a:latin typeface="Times New Roman" pitchFamily="18" charset="0"/>
                          <a:ea typeface="宋体" pitchFamily="2" charset="-122"/>
                          <a:cs typeface="Times New Roman" pitchFamily="18" charset="0"/>
                        </a:rPr>
                        <a:t>（含</a:t>
                      </a:r>
                      <a:r>
                        <a:rPr lang="en-US" sz="1600" b="1" kern="100">
                          <a:effectLst/>
                          <a:latin typeface="Times New Roman" pitchFamily="18" charset="0"/>
                          <a:ea typeface="宋体" pitchFamily="2" charset="-122"/>
                          <a:cs typeface="Times New Roman" pitchFamily="18" charset="0"/>
                        </a:rPr>
                        <a:t>5m</a:t>
                      </a:r>
                      <a:r>
                        <a:rPr lang="zh-CN" sz="1600" b="1" kern="100">
                          <a:effectLst/>
                          <a:latin typeface="Times New Roman" pitchFamily="18" charset="0"/>
                          <a:ea typeface="宋体" pitchFamily="2" charset="-122"/>
                          <a:cs typeface="Times New Roman" pitchFamily="18" charset="0"/>
                        </a:rPr>
                        <a:t>）的基坑（槽）的土方开挖、支护、降水工程。</a:t>
                      </a:r>
                    </a:p>
                  </a:txBody>
                  <a:tcPr marL="68580" marR="68580" marT="0" marB="0" anchor="ctr"/>
                </a:tc>
                <a:extLst>
                  <a:ext uri="{0D108BD9-81ED-4DB2-BD59-A6C34878D82A}">
                    <a16:rowId xmlns:a16="http://schemas.microsoft.com/office/drawing/2014/main" val="10001"/>
                  </a:ext>
                </a:extLst>
              </a:tr>
              <a:tr h="2427698">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开挖深度未超过</a:t>
                      </a:r>
                      <a:r>
                        <a:rPr lang="en-US" sz="1600" b="1" kern="100" dirty="0">
                          <a:effectLst/>
                          <a:latin typeface="Times New Roman" pitchFamily="18" charset="0"/>
                          <a:ea typeface="宋体" pitchFamily="2" charset="-122"/>
                          <a:cs typeface="Times New Roman" pitchFamily="18" charset="0"/>
                        </a:rPr>
                        <a:t>3m</a:t>
                      </a:r>
                      <a:r>
                        <a:rPr lang="zh-CN" sz="1600" b="1" kern="100" dirty="0">
                          <a:effectLst/>
                          <a:latin typeface="Times New Roman" pitchFamily="18" charset="0"/>
                          <a:ea typeface="宋体" pitchFamily="2" charset="-122"/>
                          <a:cs typeface="Times New Roman" pitchFamily="18" charset="0"/>
                        </a:rPr>
                        <a:t>，但地质条件、周围环境和地下管线复杂，或影响毗邻建、构筑物安全的基坑（槽）的土方开挖、支护、降水工程。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570042609"/>
              </p:ext>
            </p:extLst>
          </p:nvPr>
        </p:nvGraphicFramePr>
        <p:xfrm>
          <a:off x="1043609" y="368965"/>
          <a:ext cx="8064894" cy="4723063"/>
        </p:xfrm>
        <a:graphic>
          <a:graphicData uri="http://schemas.openxmlformats.org/drawingml/2006/table">
            <a:tbl>
              <a:tblPr firstRow="1" firstCol="1" bandRow="1">
                <a:tableStyleId>{0505E3EF-67EA-436B-97B2-0124C06EBD24}</a:tableStyleId>
              </a:tblPr>
              <a:tblGrid>
                <a:gridCol w="720079">
                  <a:extLst>
                    <a:ext uri="{9D8B030D-6E8A-4147-A177-3AD203B41FA5}">
                      <a16:colId xmlns:a16="http://schemas.microsoft.com/office/drawing/2014/main" val="20000"/>
                    </a:ext>
                  </a:extLst>
                </a:gridCol>
                <a:gridCol w="4320480">
                  <a:extLst>
                    <a:ext uri="{9D8B030D-6E8A-4147-A177-3AD203B41FA5}">
                      <a16:colId xmlns:a16="http://schemas.microsoft.com/office/drawing/2014/main" val="20001"/>
                    </a:ext>
                  </a:extLst>
                </a:gridCol>
                <a:gridCol w="3024335">
                  <a:extLst>
                    <a:ext uri="{9D8B030D-6E8A-4147-A177-3AD203B41FA5}">
                      <a16:colId xmlns:a16="http://schemas.microsoft.com/office/drawing/2014/main" val="20002"/>
                    </a:ext>
                  </a:extLst>
                </a:gridCol>
              </a:tblGrid>
              <a:tr h="337362">
                <a:tc>
                  <a:txBody>
                    <a:bodyPr/>
                    <a:lstStyle/>
                    <a:p>
                      <a:pPr algn="ctr">
                        <a:spcAft>
                          <a:spcPts val="0"/>
                        </a:spcAft>
                      </a:pPr>
                      <a:r>
                        <a:rPr lang="zh-CN" sz="1500" b="1" kern="100" dirty="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spcAft>
                          <a:spcPts val="0"/>
                        </a:spcAft>
                      </a:pPr>
                      <a:r>
                        <a:rPr lang="zh-CN" sz="15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spcAft>
                          <a:spcPts val="0"/>
                        </a:spcAft>
                      </a:pPr>
                      <a:r>
                        <a:rPr lang="zh-CN" sz="15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674723">
                <a:tc rowSpan="8">
                  <a:txBody>
                    <a:bodyPr/>
                    <a:lstStyle/>
                    <a:p>
                      <a:pPr algn="ctr">
                        <a:spcAft>
                          <a:spcPts val="0"/>
                        </a:spcAft>
                      </a:pPr>
                      <a:r>
                        <a:rPr lang="zh-CN" sz="1500" b="1" kern="100" dirty="0">
                          <a:effectLst/>
                          <a:latin typeface="Times New Roman" pitchFamily="18" charset="0"/>
                          <a:ea typeface="宋体" pitchFamily="2" charset="-122"/>
                          <a:cs typeface="Times New Roman" pitchFamily="18" charset="0"/>
                        </a:rPr>
                        <a:t>模板工程及支撑体系</a:t>
                      </a:r>
                    </a:p>
                  </a:txBody>
                  <a:tcPr marL="68580" marR="68580" marT="0" marB="0" anchor="ctr"/>
                </a:tc>
                <a:tc>
                  <a:txBody>
                    <a:bodyPr/>
                    <a:lstStyle/>
                    <a:p>
                      <a:pPr algn="just">
                        <a:spcAft>
                          <a:spcPts val="0"/>
                        </a:spcAft>
                      </a:pPr>
                      <a:r>
                        <a:rPr lang="zh-CN" sz="1500" b="1" kern="100">
                          <a:effectLst/>
                          <a:latin typeface="Times New Roman" pitchFamily="18" charset="0"/>
                          <a:ea typeface="宋体" pitchFamily="2" charset="-122"/>
                          <a:cs typeface="Times New Roman" pitchFamily="18" charset="0"/>
                        </a:rPr>
                        <a:t>（</a:t>
                      </a:r>
                      <a:r>
                        <a:rPr lang="en-US" sz="1500" b="1" kern="100">
                          <a:effectLst/>
                          <a:latin typeface="Times New Roman" pitchFamily="18" charset="0"/>
                          <a:ea typeface="宋体" pitchFamily="2" charset="-122"/>
                          <a:cs typeface="Times New Roman" pitchFamily="18" charset="0"/>
                        </a:rPr>
                        <a:t>1</a:t>
                      </a:r>
                      <a:r>
                        <a:rPr lang="zh-CN" sz="1500" b="1" kern="100">
                          <a:effectLst/>
                          <a:latin typeface="Times New Roman" pitchFamily="18" charset="0"/>
                          <a:ea typeface="宋体" pitchFamily="2" charset="-122"/>
                          <a:cs typeface="Times New Roman" pitchFamily="18" charset="0"/>
                        </a:rPr>
                        <a:t>）各类工具式模板工程：包括滑模、爬模、飞模、隧道模等工程。</a:t>
                      </a:r>
                    </a:p>
                  </a:txBody>
                  <a:tcPr marL="68580" marR="68580" marT="0" marB="0" anchor="ctr"/>
                </a:tc>
                <a:tc>
                  <a:txBody>
                    <a:bodyPr/>
                    <a:lstStyle/>
                    <a:p>
                      <a:pPr algn="just">
                        <a:spcAft>
                          <a:spcPts val="0"/>
                        </a:spcAft>
                      </a:pPr>
                      <a:r>
                        <a:rPr lang="zh-CN" sz="1500" b="1" kern="100">
                          <a:effectLst/>
                          <a:latin typeface="Times New Roman" pitchFamily="18" charset="0"/>
                          <a:ea typeface="宋体" pitchFamily="2" charset="-122"/>
                          <a:cs typeface="Times New Roman" pitchFamily="18" charset="0"/>
                        </a:rPr>
                        <a:t>（</a:t>
                      </a:r>
                      <a:r>
                        <a:rPr lang="en-US" sz="1500" b="1" kern="100">
                          <a:effectLst/>
                          <a:latin typeface="Times New Roman" pitchFamily="18" charset="0"/>
                          <a:ea typeface="宋体" pitchFamily="2" charset="-122"/>
                          <a:cs typeface="Times New Roman" pitchFamily="18" charset="0"/>
                        </a:rPr>
                        <a:t>1</a:t>
                      </a:r>
                      <a:r>
                        <a:rPr lang="zh-CN" sz="1500" b="1" kern="100">
                          <a:effectLst/>
                          <a:latin typeface="Times New Roman" pitchFamily="18" charset="0"/>
                          <a:ea typeface="宋体" pitchFamily="2" charset="-122"/>
                          <a:cs typeface="Times New Roman" pitchFamily="18" charset="0"/>
                        </a:rPr>
                        <a:t>）各类工具式模板工程：包括滑模、爬模、飞模、隧道模等工程。</a:t>
                      </a:r>
                    </a:p>
                  </a:txBody>
                  <a:tcPr marL="68580" marR="68580" marT="0" marB="0" anchor="ctr"/>
                </a:tc>
                <a:extLst>
                  <a:ext uri="{0D108BD9-81ED-4DB2-BD59-A6C34878D82A}">
                    <a16:rowId xmlns:a16="http://schemas.microsoft.com/office/drawing/2014/main" val="10001"/>
                  </a:ext>
                </a:extLst>
              </a:tr>
              <a:tr h="337362">
                <a:tc vMerge="1">
                  <a:txBody>
                    <a:bodyPr/>
                    <a:lstStyle/>
                    <a:p>
                      <a:endParaRPr lang="zh-CN" altLang="en-US"/>
                    </a:p>
                  </a:txBody>
                  <a:tcPr/>
                </a:tc>
                <a:tc>
                  <a:txBody>
                    <a:bodyPr/>
                    <a:lstStyle/>
                    <a:p>
                      <a:pPr algn="just">
                        <a:spcAft>
                          <a:spcPts val="0"/>
                        </a:spcAft>
                      </a:pPr>
                      <a:r>
                        <a:rPr lang="zh-CN" sz="1500" b="1" kern="100">
                          <a:effectLst/>
                          <a:latin typeface="Times New Roman" pitchFamily="18" charset="0"/>
                          <a:ea typeface="宋体" pitchFamily="2" charset="-122"/>
                          <a:cs typeface="Times New Roman" pitchFamily="18" charset="0"/>
                        </a:rPr>
                        <a:t>（</a:t>
                      </a:r>
                      <a:r>
                        <a:rPr lang="en-US" sz="1500" b="1" kern="100">
                          <a:effectLst/>
                          <a:latin typeface="Times New Roman" pitchFamily="18" charset="0"/>
                          <a:ea typeface="宋体" pitchFamily="2" charset="-122"/>
                          <a:cs typeface="Times New Roman" pitchFamily="18" charset="0"/>
                        </a:rPr>
                        <a:t>2</a:t>
                      </a:r>
                      <a:r>
                        <a:rPr lang="zh-CN" sz="1500" b="1" kern="100">
                          <a:effectLst/>
                          <a:latin typeface="Times New Roman" pitchFamily="18" charset="0"/>
                          <a:ea typeface="宋体" pitchFamily="2" charset="-122"/>
                          <a:cs typeface="Times New Roman" pitchFamily="18" charset="0"/>
                        </a:rPr>
                        <a:t>）混凝土模板支撑工程：</a:t>
                      </a:r>
                    </a:p>
                  </a:txBody>
                  <a:tcPr marL="68580" marR="68580" marT="0" marB="0" anchor="ctr"/>
                </a:tc>
                <a:tc rowSpan="6">
                  <a:txBody>
                    <a:bodyPr/>
                    <a:lstStyle/>
                    <a:p>
                      <a:pPr algn="just">
                        <a:spcAft>
                          <a:spcPts val="0"/>
                        </a:spcAft>
                      </a:pPr>
                      <a:r>
                        <a:rPr lang="zh-CN" sz="1500" b="1" kern="100">
                          <a:effectLst/>
                          <a:latin typeface="Times New Roman" pitchFamily="18" charset="0"/>
                          <a:ea typeface="宋体" pitchFamily="2" charset="-122"/>
                          <a:cs typeface="Times New Roman" pitchFamily="18" charset="0"/>
                        </a:rPr>
                        <a:t>（</a:t>
                      </a:r>
                      <a:r>
                        <a:rPr lang="en-US" sz="1500" b="1" kern="100">
                          <a:effectLst/>
                          <a:latin typeface="Times New Roman" pitchFamily="18" charset="0"/>
                          <a:ea typeface="宋体" pitchFamily="2" charset="-122"/>
                          <a:cs typeface="Times New Roman" pitchFamily="18" charset="0"/>
                        </a:rPr>
                        <a:t>2</a:t>
                      </a:r>
                      <a:r>
                        <a:rPr lang="zh-CN" sz="1500" b="1" kern="100">
                          <a:effectLst/>
                          <a:latin typeface="Times New Roman" pitchFamily="18" charset="0"/>
                          <a:ea typeface="宋体" pitchFamily="2" charset="-122"/>
                          <a:cs typeface="Times New Roman" pitchFamily="18" charset="0"/>
                        </a:rPr>
                        <a:t>）混凝土模板支撑工程：搭设高度</a:t>
                      </a:r>
                      <a:r>
                        <a:rPr lang="en-US" sz="1500" b="1" kern="100">
                          <a:effectLst/>
                          <a:latin typeface="Times New Roman" pitchFamily="18" charset="0"/>
                          <a:ea typeface="宋体" pitchFamily="2" charset="-122"/>
                          <a:cs typeface="Times New Roman" pitchFamily="18" charset="0"/>
                        </a:rPr>
                        <a:t>8m</a:t>
                      </a:r>
                      <a:r>
                        <a:rPr lang="zh-CN" sz="1500" b="1" kern="100">
                          <a:effectLst/>
                          <a:latin typeface="Times New Roman" pitchFamily="18" charset="0"/>
                          <a:ea typeface="宋体" pitchFamily="2" charset="-122"/>
                          <a:cs typeface="Times New Roman" pitchFamily="18" charset="0"/>
                        </a:rPr>
                        <a:t>及以上；搭设跨</a:t>
                      </a:r>
                      <a:r>
                        <a:rPr lang="en-US" sz="1500" b="1" kern="100">
                          <a:effectLst/>
                          <a:latin typeface="Times New Roman" pitchFamily="18" charset="0"/>
                          <a:ea typeface="宋体" pitchFamily="2" charset="-122"/>
                          <a:cs typeface="Times New Roman" pitchFamily="18" charset="0"/>
                        </a:rPr>
                        <a:t>18m</a:t>
                      </a:r>
                      <a:r>
                        <a:rPr lang="zh-CN" sz="1500" b="1" kern="100">
                          <a:effectLst/>
                          <a:latin typeface="Times New Roman" pitchFamily="18" charset="0"/>
                          <a:ea typeface="宋体" pitchFamily="2" charset="-122"/>
                          <a:cs typeface="Times New Roman" pitchFamily="18" charset="0"/>
                        </a:rPr>
                        <a:t>及以上；施工总荷载</a:t>
                      </a:r>
                      <a:r>
                        <a:rPr lang="en-US" sz="1500" b="1" kern="100">
                          <a:effectLst/>
                          <a:latin typeface="Times New Roman" pitchFamily="18" charset="0"/>
                          <a:ea typeface="宋体" pitchFamily="2" charset="-122"/>
                          <a:cs typeface="Times New Roman" pitchFamily="18" charset="0"/>
                        </a:rPr>
                        <a:t>(</a:t>
                      </a:r>
                      <a:r>
                        <a:rPr lang="zh-CN" sz="1500" b="1" kern="100">
                          <a:effectLst/>
                          <a:latin typeface="Times New Roman" pitchFamily="18" charset="0"/>
                          <a:ea typeface="宋体" pitchFamily="2" charset="-122"/>
                          <a:cs typeface="Times New Roman" pitchFamily="18" charset="0"/>
                        </a:rPr>
                        <a:t>设计值）</a:t>
                      </a:r>
                      <a:r>
                        <a:rPr lang="en-US" sz="1500" b="1" kern="100">
                          <a:effectLst/>
                          <a:latin typeface="Times New Roman" pitchFamily="18" charset="0"/>
                          <a:ea typeface="宋体" pitchFamily="2" charset="-122"/>
                          <a:cs typeface="Times New Roman" pitchFamily="18" charset="0"/>
                        </a:rPr>
                        <a:t>15kN/m</a:t>
                      </a:r>
                      <a:r>
                        <a:rPr lang="en-US" sz="1500" b="1" kern="100" baseline="30000">
                          <a:effectLst/>
                          <a:latin typeface="Times New Roman" pitchFamily="18" charset="0"/>
                          <a:ea typeface="宋体" pitchFamily="2" charset="-122"/>
                          <a:cs typeface="Times New Roman" pitchFamily="18" charset="0"/>
                        </a:rPr>
                        <a:t>2</a:t>
                      </a:r>
                      <a:r>
                        <a:rPr lang="zh-CN" sz="1500" b="1" kern="100">
                          <a:effectLst/>
                          <a:latin typeface="Times New Roman" pitchFamily="18" charset="0"/>
                          <a:ea typeface="宋体" pitchFamily="2" charset="-122"/>
                          <a:cs typeface="Times New Roman" pitchFamily="18" charset="0"/>
                        </a:rPr>
                        <a:t>及以上；或集中线荷载（设计值）</a:t>
                      </a:r>
                      <a:r>
                        <a:rPr lang="en-US" sz="1500" b="1" kern="100">
                          <a:effectLst/>
                          <a:latin typeface="Times New Roman" pitchFamily="18" charset="0"/>
                          <a:ea typeface="宋体" pitchFamily="2" charset="-122"/>
                          <a:cs typeface="Times New Roman" pitchFamily="18" charset="0"/>
                        </a:rPr>
                        <a:t>20kN/m</a:t>
                      </a:r>
                      <a:r>
                        <a:rPr lang="zh-CN" sz="1500" b="1" kern="100">
                          <a:effectLst/>
                          <a:latin typeface="Times New Roman" pitchFamily="18" charset="0"/>
                          <a:ea typeface="宋体" pitchFamily="2" charset="-122"/>
                          <a:cs typeface="Times New Roman" pitchFamily="18" charset="0"/>
                        </a:rPr>
                        <a:t>及以上。</a:t>
                      </a:r>
                    </a:p>
                  </a:txBody>
                  <a:tcPr marL="68580" marR="68580" marT="0" marB="0" anchor="ctr"/>
                </a:tc>
                <a:extLst>
                  <a:ext uri="{0D108BD9-81ED-4DB2-BD59-A6C34878D82A}">
                    <a16:rowId xmlns:a16="http://schemas.microsoft.com/office/drawing/2014/main" val="10002"/>
                  </a:ext>
                </a:extLst>
              </a:tr>
              <a:tr h="337362">
                <a:tc vMerge="1">
                  <a:txBody>
                    <a:bodyPr/>
                    <a:lstStyle/>
                    <a:p>
                      <a:endParaRPr lang="zh-CN" altLang="en-US"/>
                    </a:p>
                  </a:txBody>
                  <a:tcPr/>
                </a:tc>
                <a:tc>
                  <a:txBody>
                    <a:bodyPr/>
                    <a:lstStyle/>
                    <a:p>
                      <a:pPr algn="just">
                        <a:spcAft>
                          <a:spcPts val="0"/>
                        </a:spcAft>
                      </a:pPr>
                      <a:r>
                        <a:rPr lang="en-US" sz="1500" b="1" kern="100">
                          <a:effectLst/>
                          <a:latin typeface="Times New Roman" pitchFamily="18" charset="0"/>
                          <a:ea typeface="宋体" pitchFamily="2" charset="-122"/>
                          <a:cs typeface="Times New Roman" pitchFamily="18" charset="0"/>
                        </a:rPr>
                        <a:t>1</a:t>
                      </a:r>
                      <a:r>
                        <a:rPr lang="zh-CN" sz="1500" b="1" kern="100">
                          <a:effectLst/>
                          <a:latin typeface="Times New Roman" pitchFamily="18" charset="0"/>
                          <a:ea typeface="宋体" pitchFamily="2" charset="-122"/>
                          <a:cs typeface="Times New Roman" pitchFamily="18" charset="0"/>
                        </a:rPr>
                        <a:t>）搭设高度</a:t>
                      </a:r>
                      <a:r>
                        <a:rPr lang="en-US" sz="1500" b="1" kern="100">
                          <a:effectLst/>
                          <a:latin typeface="Times New Roman" pitchFamily="18" charset="0"/>
                          <a:ea typeface="宋体" pitchFamily="2" charset="-122"/>
                          <a:cs typeface="Times New Roman" pitchFamily="18" charset="0"/>
                        </a:rPr>
                        <a:t>5m</a:t>
                      </a:r>
                      <a:r>
                        <a:rPr lang="zh-CN" sz="1500" b="1" kern="100">
                          <a:effectLst/>
                          <a:latin typeface="Times New Roman" pitchFamily="18" charset="0"/>
                          <a:ea typeface="宋体" pitchFamily="2" charset="-122"/>
                          <a:cs typeface="Times New Roman" pitchFamily="18" charset="0"/>
                        </a:rPr>
                        <a:t>及以上；</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3"/>
                  </a:ext>
                </a:extLst>
              </a:tr>
              <a:tr h="337362">
                <a:tc vMerge="1">
                  <a:txBody>
                    <a:bodyPr/>
                    <a:lstStyle/>
                    <a:p>
                      <a:endParaRPr lang="zh-CN" altLang="en-US"/>
                    </a:p>
                  </a:txBody>
                  <a:tcPr/>
                </a:tc>
                <a:tc>
                  <a:txBody>
                    <a:bodyPr/>
                    <a:lstStyle/>
                    <a:p>
                      <a:pPr algn="just">
                        <a:spcAft>
                          <a:spcPts val="0"/>
                        </a:spcAft>
                      </a:pPr>
                      <a:r>
                        <a:rPr lang="en-US" sz="1500" b="1" kern="100">
                          <a:effectLst/>
                          <a:latin typeface="Times New Roman" pitchFamily="18" charset="0"/>
                          <a:ea typeface="宋体" pitchFamily="2" charset="-122"/>
                          <a:cs typeface="Times New Roman" pitchFamily="18" charset="0"/>
                        </a:rPr>
                        <a:t>2</a:t>
                      </a:r>
                      <a:r>
                        <a:rPr lang="zh-CN" sz="1500" b="1" kern="100">
                          <a:effectLst/>
                          <a:latin typeface="Times New Roman" pitchFamily="18" charset="0"/>
                          <a:ea typeface="宋体" pitchFamily="2" charset="-122"/>
                          <a:cs typeface="Times New Roman" pitchFamily="18" charset="0"/>
                        </a:rPr>
                        <a:t>）搭设跨度</a:t>
                      </a:r>
                      <a:r>
                        <a:rPr lang="en-US" sz="1500" b="1" kern="100">
                          <a:effectLst/>
                          <a:latin typeface="Times New Roman" pitchFamily="18" charset="0"/>
                          <a:ea typeface="宋体" pitchFamily="2" charset="-122"/>
                          <a:cs typeface="Times New Roman" pitchFamily="18" charset="0"/>
                        </a:rPr>
                        <a:t>10m</a:t>
                      </a:r>
                      <a:r>
                        <a:rPr lang="zh-CN" sz="1500" b="1" kern="100">
                          <a:effectLst/>
                          <a:latin typeface="Times New Roman" pitchFamily="18" charset="0"/>
                          <a:ea typeface="宋体" pitchFamily="2" charset="-122"/>
                          <a:cs typeface="Times New Roman" pitchFamily="18" charset="0"/>
                        </a:rPr>
                        <a:t>及以上；</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4"/>
                  </a:ext>
                </a:extLst>
              </a:tr>
              <a:tr h="674723">
                <a:tc vMerge="1">
                  <a:txBody>
                    <a:bodyPr/>
                    <a:lstStyle/>
                    <a:p>
                      <a:endParaRPr lang="zh-CN" altLang="en-US"/>
                    </a:p>
                  </a:txBody>
                  <a:tcPr/>
                </a:tc>
                <a:tc>
                  <a:txBody>
                    <a:bodyPr/>
                    <a:lstStyle/>
                    <a:p>
                      <a:pPr algn="just">
                        <a:spcAft>
                          <a:spcPts val="0"/>
                        </a:spcAft>
                      </a:pPr>
                      <a:r>
                        <a:rPr lang="en-US" sz="1500" b="1" kern="100">
                          <a:effectLst/>
                          <a:latin typeface="Times New Roman" pitchFamily="18" charset="0"/>
                          <a:ea typeface="宋体" pitchFamily="2" charset="-122"/>
                          <a:cs typeface="Times New Roman" pitchFamily="18" charset="0"/>
                        </a:rPr>
                        <a:t>3</a:t>
                      </a:r>
                      <a:r>
                        <a:rPr lang="zh-CN" sz="1500" b="1" kern="100">
                          <a:effectLst/>
                          <a:latin typeface="Times New Roman" pitchFamily="18" charset="0"/>
                          <a:ea typeface="宋体" pitchFamily="2" charset="-122"/>
                          <a:cs typeface="Times New Roman" pitchFamily="18" charset="0"/>
                        </a:rPr>
                        <a:t>）施工总荷载</a:t>
                      </a:r>
                      <a:r>
                        <a:rPr lang="en-US" sz="1500" b="1" kern="100">
                          <a:effectLst/>
                          <a:latin typeface="Times New Roman" pitchFamily="18" charset="0"/>
                          <a:ea typeface="宋体" pitchFamily="2" charset="-122"/>
                          <a:cs typeface="Times New Roman" pitchFamily="18" charset="0"/>
                        </a:rPr>
                        <a:t>(</a:t>
                      </a:r>
                      <a:r>
                        <a:rPr lang="zh-CN" sz="1500" b="1" kern="100">
                          <a:effectLst/>
                          <a:latin typeface="Times New Roman" pitchFamily="18" charset="0"/>
                          <a:ea typeface="宋体" pitchFamily="2" charset="-122"/>
                          <a:cs typeface="Times New Roman" pitchFamily="18" charset="0"/>
                        </a:rPr>
                        <a:t>荷载效应基本组合的设计值，以下简称设计值）</a:t>
                      </a:r>
                      <a:r>
                        <a:rPr lang="en-US" sz="1500" b="1" kern="100">
                          <a:effectLst/>
                          <a:latin typeface="Times New Roman" pitchFamily="18" charset="0"/>
                          <a:ea typeface="宋体" pitchFamily="2" charset="-122"/>
                          <a:cs typeface="Times New Roman" pitchFamily="18" charset="0"/>
                        </a:rPr>
                        <a:t>10kN/m</a:t>
                      </a:r>
                      <a:r>
                        <a:rPr lang="en-US" sz="1500" b="1" kern="100" baseline="30000">
                          <a:effectLst/>
                          <a:latin typeface="Times New Roman" pitchFamily="18" charset="0"/>
                          <a:ea typeface="宋体" pitchFamily="2" charset="-122"/>
                          <a:cs typeface="Times New Roman" pitchFamily="18" charset="0"/>
                        </a:rPr>
                        <a:t>2</a:t>
                      </a:r>
                      <a:r>
                        <a:rPr lang="zh-CN" sz="1500" b="1" kern="100">
                          <a:effectLst/>
                          <a:latin typeface="Times New Roman" pitchFamily="18" charset="0"/>
                          <a:ea typeface="宋体" pitchFamily="2" charset="-122"/>
                          <a:cs typeface="Times New Roman" pitchFamily="18" charset="0"/>
                        </a:rPr>
                        <a:t>及以上；</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5"/>
                  </a:ext>
                </a:extLst>
              </a:tr>
              <a:tr h="674723">
                <a:tc vMerge="1">
                  <a:txBody>
                    <a:bodyPr/>
                    <a:lstStyle/>
                    <a:p>
                      <a:endParaRPr lang="zh-CN" altLang="en-US"/>
                    </a:p>
                  </a:txBody>
                  <a:tcPr/>
                </a:tc>
                <a:tc>
                  <a:txBody>
                    <a:bodyPr/>
                    <a:lstStyle/>
                    <a:p>
                      <a:pPr algn="just">
                        <a:spcAft>
                          <a:spcPts val="0"/>
                        </a:spcAft>
                      </a:pPr>
                      <a:r>
                        <a:rPr lang="en-US" sz="1500" b="1" kern="100">
                          <a:effectLst/>
                          <a:latin typeface="Times New Roman" pitchFamily="18" charset="0"/>
                          <a:ea typeface="宋体" pitchFamily="2" charset="-122"/>
                          <a:cs typeface="Times New Roman" pitchFamily="18" charset="0"/>
                        </a:rPr>
                        <a:t>4</a:t>
                      </a:r>
                      <a:r>
                        <a:rPr lang="zh-CN" sz="1500" b="1" kern="100">
                          <a:effectLst/>
                          <a:latin typeface="Times New Roman" pitchFamily="18" charset="0"/>
                          <a:ea typeface="宋体" pitchFamily="2" charset="-122"/>
                          <a:cs typeface="Times New Roman" pitchFamily="18" charset="0"/>
                        </a:rPr>
                        <a:t>）集中线荷载（设计值）</a:t>
                      </a:r>
                      <a:r>
                        <a:rPr lang="en-US" sz="1500" b="1" kern="100">
                          <a:effectLst/>
                          <a:latin typeface="Times New Roman" pitchFamily="18" charset="0"/>
                          <a:ea typeface="宋体" pitchFamily="2" charset="-122"/>
                          <a:cs typeface="Times New Roman" pitchFamily="18" charset="0"/>
                        </a:rPr>
                        <a:t>15kN/m</a:t>
                      </a:r>
                      <a:r>
                        <a:rPr lang="zh-CN" sz="1500" b="1" kern="100">
                          <a:effectLst/>
                          <a:latin typeface="Times New Roman" pitchFamily="18" charset="0"/>
                          <a:ea typeface="宋体" pitchFamily="2" charset="-122"/>
                          <a:cs typeface="Times New Roman" pitchFamily="18" charset="0"/>
                        </a:rPr>
                        <a:t>及以上；</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6"/>
                  </a:ext>
                </a:extLst>
              </a:tr>
              <a:tr h="674723">
                <a:tc vMerge="1">
                  <a:txBody>
                    <a:bodyPr/>
                    <a:lstStyle/>
                    <a:p>
                      <a:endParaRPr lang="zh-CN" altLang="en-US"/>
                    </a:p>
                  </a:txBody>
                  <a:tcPr/>
                </a:tc>
                <a:tc>
                  <a:txBody>
                    <a:bodyPr/>
                    <a:lstStyle/>
                    <a:p>
                      <a:pPr algn="just">
                        <a:spcAft>
                          <a:spcPts val="0"/>
                        </a:spcAft>
                      </a:pPr>
                      <a:r>
                        <a:rPr lang="en-US" sz="1500" b="1" kern="100">
                          <a:effectLst/>
                          <a:latin typeface="Times New Roman" pitchFamily="18" charset="0"/>
                          <a:ea typeface="宋体" pitchFamily="2" charset="-122"/>
                          <a:cs typeface="Times New Roman" pitchFamily="18" charset="0"/>
                        </a:rPr>
                        <a:t>5</a:t>
                      </a:r>
                      <a:r>
                        <a:rPr lang="zh-CN" sz="1500" b="1" kern="100">
                          <a:effectLst/>
                          <a:latin typeface="Times New Roman" pitchFamily="18" charset="0"/>
                          <a:ea typeface="宋体" pitchFamily="2" charset="-122"/>
                          <a:cs typeface="Times New Roman" pitchFamily="18" charset="0"/>
                        </a:rPr>
                        <a:t>）或高度大于支撑水平投影宽度且相对独立无联系构件的混凝土模板支撑工程。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7"/>
                  </a:ext>
                </a:extLst>
              </a:tr>
              <a:tr h="674723">
                <a:tc vMerge="1">
                  <a:txBody>
                    <a:bodyPr/>
                    <a:lstStyle/>
                    <a:p>
                      <a:endParaRPr lang="zh-CN" altLang="en-US"/>
                    </a:p>
                  </a:txBody>
                  <a:tcPr/>
                </a:tc>
                <a:tc>
                  <a:txBody>
                    <a:bodyPr/>
                    <a:lstStyle/>
                    <a:p>
                      <a:pPr algn="just">
                        <a:spcAft>
                          <a:spcPts val="0"/>
                        </a:spcAft>
                      </a:pPr>
                      <a:r>
                        <a:rPr lang="zh-CN" sz="1500" b="1" kern="100">
                          <a:effectLst/>
                          <a:latin typeface="Times New Roman" pitchFamily="18" charset="0"/>
                          <a:ea typeface="宋体" pitchFamily="2" charset="-122"/>
                          <a:cs typeface="Times New Roman" pitchFamily="18" charset="0"/>
                        </a:rPr>
                        <a:t>（</a:t>
                      </a:r>
                      <a:r>
                        <a:rPr lang="en-US" sz="1500" b="1" kern="100">
                          <a:effectLst/>
                          <a:latin typeface="Times New Roman" pitchFamily="18" charset="0"/>
                          <a:ea typeface="宋体" pitchFamily="2" charset="-122"/>
                          <a:cs typeface="Times New Roman" pitchFamily="18" charset="0"/>
                        </a:rPr>
                        <a:t>3</a:t>
                      </a:r>
                      <a:r>
                        <a:rPr lang="zh-CN" sz="1500" b="1" kern="100">
                          <a:effectLst/>
                          <a:latin typeface="Times New Roman" pitchFamily="18" charset="0"/>
                          <a:ea typeface="宋体" pitchFamily="2" charset="-122"/>
                          <a:cs typeface="Times New Roman" pitchFamily="18" charset="0"/>
                        </a:rPr>
                        <a:t>）承重支撑体系：用于钢结构安装等满堂支撑体系。</a:t>
                      </a:r>
                    </a:p>
                  </a:txBody>
                  <a:tcPr marL="68580" marR="68580" marT="0" marB="0" anchor="ctr"/>
                </a:tc>
                <a:tc>
                  <a:txBody>
                    <a:bodyPr/>
                    <a:lstStyle/>
                    <a:p>
                      <a:pPr algn="just">
                        <a:spcAft>
                          <a:spcPts val="0"/>
                        </a:spcAft>
                      </a:pPr>
                      <a:r>
                        <a:rPr lang="zh-CN" sz="1500" b="1" kern="100" dirty="0">
                          <a:effectLst/>
                          <a:latin typeface="Times New Roman" pitchFamily="18" charset="0"/>
                          <a:ea typeface="宋体" pitchFamily="2" charset="-122"/>
                          <a:cs typeface="Times New Roman" pitchFamily="18" charset="0"/>
                        </a:rPr>
                        <a:t>（</a:t>
                      </a:r>
                      <a:r>
                        <a:rPr lang="en-US" sz="1500" b="1" kern="100" dirty="0">
                          <a:effectLst/>
                          <a:latin typeface="Times New Roman" pitchFamily="18" charset="0"/>
                          <a:ea typeface="宋体" pitchFamily="2" charset="-122"/>
                          <a:cs typeface="Times New Roman" pitchFamily="18" charset="0"/>
                        </a:rPr>
                        <a:t>3</a:t>
                      </a:r>
                      <a:r>
                        <a:rPr lang="zh-CN" sz="1500" b="1" kern="100" dirty="0">
                          <a:effectLst/>
                          <a:latin typeface="Times New Roman" pitchFamily="18" charset="0"/>
                          <a:ea typeface="宋体" pitchFamily="2" charset="-122"/>
                          <a:cs typeface="Times New Roman" pitchFamily="18" charset="0"/>
                        </a:rPr>
                        <a:t>）用于钢结构安装等满堂支撑体系，单点集中荷载</a:t>
                      </a:r>
                      <a:r>
                        <a:rPr lang="en-US" sz="1500" b="1" kern="100" dirty="0">
                          <a:effectLst/>
                          <a:latin typeface="Times New Roman" pitchFamily="18" charset="0"/>
                          <a:ea typeface="宋体" pitchFamily="2" charset="-122"/>
                          <a:cs typeface="Times New Roman" pitchFamily="18" charset="0"/>
                        </a:rPr>
                        <a:t>7kN</a:t>
                      </a:r>
                      <a:r>
                        <a:rPr lang="zh-CN" sz="1500" b="1" kern="100" dirty="0">
                          <a:effectLst/>
                          <a:latin typeface="Times New Roman" pitchFamily="18" charset="0"/>
                          <a:ea typeface="宋体" pitchFamily="2" charset="-122"/>
                          <a:cs typeface="Times New Roman" pitchFamily="18" charset="0"/>
                        </a:rPr>
                        <a:t>及以上。</a:t>
                      </a: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284346977"/>
              </p:ext>
            </p:extLst>
          </p:nvPr>
        </p:nvGraphicFramePr>
        <p:xfrm>
          <a:off x="1043609" y="368964"/>
          <a:ext cx="8064894" cy="4723066"/>
        </p:xfrm>
        <a:graphic>
          <a:graphicData uri="http://schemas.openxmlformats.org/drawingml/2006/table">
            <a:tbl>
              <a:tblPr firstRow="1" firstCol="1" bandRow="1">
                <a:tableStyleId>{C4B1156A-380E-4F78-BDF5-A606A8083BF9}</a:tableStyleId>
              </a:tblPr>
              <a:tblGrid>
                <a:gridCol w="936103">
                  <a:extLst>
                    <a:ext uri="{9D8B030D-6E8A-4147-A177-3AD203B41FA5}">
                      <a16:colId xmlns:a16="http://schemas.microsoft.com/office/drawing/2014/main" val="20000"/>
                    </a:ext>
                  </a:extLst>
                </a:gridCol>
                <a:gridCol w="3888432">
                  <a:extLst>
                    <a:ext uri="{9D8B030D-6E8A-4147-A177-3AD203B41FA5}">
                      <a16:colId xmlns:a16="http://schemas.microsoft.com/office/drawing/2014/main" val="20001"/>
                    </a:ext>
                  </a:extLst>
                </a:gridCol>
                <a:gridCol w="3240359">
                  <a:extLst>
                    <a:ext uri="{9D8B030D-6E8A-4147-A177-3AD203B41FA5}">
                      <a16:colId xmlns:a16="http://schemas.microsoft.com/office/drawing/2014/main" val="20002"/>
                    </a:ext>
                  </a:extLst>
                </a:gridCol>
              </a:tblGrid>
              <a:tr h="590383">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1771150">
                <a:tc rowSpan="3">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起重吊装及起重机械安装拆卸工程</a:t>
                      </a:r>
                    </a:p>
                  </a:txBody>
                  <a:tcPr marL="68580" marR="68580"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）采用非常规起重设备、方法，且单件起吊重量在</a:t>
                      </a:r>
                      <a:r>
                        <a:rPr lang="en-US" sz="1600" b="1" kern="100">
                          <a:effectLst/>
                          <a:latin typeface="Times New Roman" pitchFamily="18" charset="0"/>
                          <a:ea typeface="宋体" pitchFamily="2" charset="-122"/>
                          <a:cs typeface="Times New Roman" pitchFamily="18" charset="0"/>
                        </a:rPr>
                        <a:t>10kN</a:t>
                      </a:r>
                      <a:r>
                        <a:rPr lang="zh-CN" sz="1600" b="1" kern="100">
                          <a:effectLst/>
                          <a:latin typeface="Times New Roman" pitchFamily="18" charset="0"/>
                          <a:ea typeface="宋体" pitchFamily="2" charset="-122"/>
                          <a:cs typeface="Times New Roman" pitchFamily="18" charset="0"/>
                        </a:rPr>
                        <a:t>及以上的起重吊装工程。</a:t>
                      </a:r>
                    </a:p>
                  </a:txBody>
                  <a:tcPr marL="68580" marR="68580" marT="0" marB="0" anchor="ctr"/>
                </a:tc>
                <a:tc rowSpan="3">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）采用非常规起重设备、方法，且单件起吊重量在</a:t>
                      </a:r>
                      <a:r>
                        <a:rPr lang="en-US" sz="1600" b="1" kern="100">
                          <a:effectLst/>
                          <a:latin typeface="Times New Roman" pitchFamily="18" charset="0"/>
                          <a:ea typeface="宋体" pitchFamily="2" charset="-122"/>
                          <a:cs typeface="Times New Roman" pitchFamily="18" charset="0"/>
                        </a:rPr>
                        <a:t>100kN</a:t>
                      </a:r>
                      <a:r>
                        <a:rPr lang="zh-CN" sz="1600" b="1" kern="100">
                          <a:effectLst/>
                          <a:latin typeface="Times New Roman" pitchFamily="18" charset="0"/>
                          <a:ea typeface="宋体" pitchFamily="2" charset="-122"/>
                          <a:cs typeface="Times New Roman" pitchFamily="18" charset="0"/>
                        </a:rPr>
                        <a:t>及以上的起重吊装工程。</a:t>
                      </a:r>
                    </a:p>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）起重量</a:t>
                      </a:r>
                      <a:r>
                        <a:rPr lang="en-US" sz="1600" b="1" kern="100">
                          <a:effectLst/>
                          <a:latin typeface="Times New Roman" pitchFamily="18" charset="0"/>
                          <a:ea typeface="宋体" pitchFamily="2" charset="-122"/>
                          <a:cs typeface="Times New Roman" pitchFamily="18" charset="0"/>
                        </a:rPr>
                        <a:t>300kN</a:t>
                      </a:r>
                      <a:r>
                        <a:rPr lang="zh-CN" sz="1600" b="1" kern="100">
                          <a:effectLst/>
                          <a:latin typeface="Times New Roman" pitchFamily="18" charset="0"/>
                          <a:ea typeface="宋体" pitchFamily="2" charset="-122"/>
                          <a:cs typeface="Times New Roman" pitchFamily="18" charset="0"/>
                        </a:rPr>
                        <a:t>及以上，或搭设总高度</a:t>
                      </a:r>
                      <a:r>
                        <a:rPr lang="en-US" sz="1600" b="1" kern="100">
                          <a:effectLst/>
                          <a:latin typeface="Times New Roman" pitchFamily="18" charset="0"/>
                          <a:ea typeface="宋体" pitchFamily="2" charset="-122"/>
                          <a:cs typeface="Times New Roman" pitchFamily="18" charset="0"/>
                        </a:rPr>
                        <a:t>200m</a:t>
                      </a:r>
                      <a:r>
                        <a:rPr lang="zh-CN" sz="1600" b="1" kern="100">
                          <a:effectLst/>
                          <a:latin typeface="Times New Roman" pitchFamily="18" charset="0"/>
                          <a:ea typeface="宋体" pitchFamily="2" charset="-122"/>
                          <a:cs typeface="Times New Roman" pitchFamily="18" charset="0"/>
                        </a:rPr>
                        <a:t>及以上，或搭设基础标高在</a:t>
                      </a:r>
                      <a:r>
                        <a:rPr lang="en-US" sz="1600" b="1" kern="100">
                          <a:effectLst/>
                          <a:latin typeface="Times New Roman" pitchFamily="18" charset="0"/>
                          <a:ea typeface="宋体" pitchFamily="2" charset="-122"/>
                          <a:cs typeface="Times New Roman" pitchFamily="18" charset="0"/>
                        </a:rPr>
                        <a:t>200m</a:t>
                      </a:r>
                      <a:r>
                        <a:rPr lang="zh-CN" sz="1600" b="1" kern="100">
                          <a:effectLst/>
                          <a:latin typeface="Times New Roman" pitchFamily="18" charset="0"/>
                          <a:ea typeface="宋体" pitchFamily="2" charset="-122"/>
                          <a:cs typeface="Times New Roman" pitchFamily="18" charset="0"/>
                        </a:rPr>
                        <a:t>及以上的起重机械安装和拆卸工程。</a:t>
                      </a:r>
                    </a:p>
                  </a:txBody>
                  <a:tcPr marL="68580" marR="68580" marT="0" marB="0" anchor="ctr"/>
                </a:tc>
                <a:extLst>
                  <a:ext uri="{0D108BD9-81ED-4DB2-BD59-A6C34878D82A}">
                    <a16:rowId xmlns:a16="http://schemas.microsoft.com/office/drawing/2014/main" val="10001"/>
                  </a:ext>
                </a:extLst>
              </a:tr>
              <a:tr h="59038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）采用起重机械进行安装的工程。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2"/>
                  </a:ext>
                </a:extLst>
              </a:tr>
              <a:tr h="1771150">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）起重机械安装和拆卸工程。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4136689684"/>
              </p:ext>
            </p:extLst>
          </p:nvPr>
        </p:nvGraphicFramePr>
        <p:xfrm>
          <a:off x="1043608" y="368966"/>
          <a:ext cx="8064894" cy="4723064"/>
        </p:xfrm>
        <a:graphic>
          <a:graphicData uri="http://schemas.openxmlformats.org/drawingml/2006/table">
            <a:tbl>
              <a:tblPr firstRow="1" firstCol="1" bandRow="1">
                <a:tableStyleId>{22838BEF-8BB2-4498-84A7-C5851F593DF1}</a:tableStyleId>
              </a:tblPr>
              <a:tblGrid>
                <a:gridCol w="648072">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gridCol w="3312366">
                  <a:extLst>
                    <a:ext uri="{9D8B030D-6E8A-4147-A177-3AD203B41FA5}">
                      <a16:colId xmlns:a16="http://schemas.microsoft.com/office/drawing/2014/main" val="20002"/>
                    </a:ext>
                  </a:extLst>
                </a:gridCol>
              </a:tblGrid>
              <a:tr h="662716">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1015088">
                <a:tc rowSpan="6">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脚手架工程</a:t>
                      </a:r>
                    </a:p>
                  </a:txBody>
                  <a:tcPr marL="68580" marR="68580"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）搭设高度</a:t>
                      </a:r>
                      <a:r>
                        <a:rPr lang="en-US" sz="1600" b="1" kern="100">
                          <a:effectLst/>
                          <a:latin typeface="Times New Roman" pitchFamily="18" charset="0"/>
                          <a:ea typeface="宋体" pitchFamily="2" charset="-122"/>
                          <a:cs typeface="Times New Roman" pitchFamily="18" charset="0"/>
                        </a:rPr>
                        <a:t>24m</a:t>
                      </a:r>
                      <a:r>
                        <a:rPr lang="zh-CN" sz="1600" b="1" kern="100">
                          <a:effectLst/>
                          <a:latin typeface="Times New Roman" pitchFamily="18" charset="0"/>
                          <a:ea typeface="宋体" pitchFamily="2" charset="-122"/>
                          <a:cs typeface="Times New Roman" pitchFamily="18" charset="0"/>
                        </a:rPr>
                        <a:t>及以上的落地式钢管脚手架工程（包括采光井、电梯井脚手架）。</a:t>
                      </a:r>
                    </a:p>
                  </a:txBody>
                  <a:tcPr marL="68580" marR="68580" marT="0" marB="0" anchor="ctr"/>
                </a:tc>
                <a:tc rowSpan="6">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）搭设高度</a:t>
                      </a:r>
                      <a:r>
                        <a:rPr lang="en-US" sz="1600" b="1" kern="100">
                          <a:effectLst/>
                          <a:latin typeface="Times New Roman" pitchFamily="18" charset="0"/>
                          <a:ea typeface="宋体" pitchFamily="2" charset="-122"/>
                          <a:cs typeface="Times New Roman" pitchFamily="18" charset="0"/>
                        </a:rPr>
                        <a:t>50m</a:t>
                      </a:r>
                      <a:r>
                        <a:rPr lang="zh-CN" sz="1600" b="1" kern="100">
                          <a:effectLst/>
                          <a:latin typeface="Times New Roman" pitchFamily="18" charset="0"/>
                          <a:ea typeface="宋体" pitchFamily="2" charset="-122"/>
                          <a:cs typeface="Times New Roman" pitchFamily="18" charset="0"/>
                        </a:rPr>
                        <a:t>及以上落地式钢管脚手架工程。</a:t>
                      </a:r>
                    </a:p>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）提升高度</a:t>
                      </a:r>
                      <a:r>
                        <a:rPr lang="en-US" sz="1600" b="1" kern="100">
                          <a:effectLst/>
                          <a:latin typeface="Times New Roman" pitchFamily="18" charset="0"/>
                          <a:ea typeface="宋体" pitchFamily="2" charset="-122"/>
                          <a:cs typeface="Times New Roman" pitchFamily="18" charset="0"/>
                        </a:rPr>
                        <a:t>150m</a:t>
                      </a:r>
                      <a:r>
                        <a:rPr lang="zh-CN" sz="1600" b="1" kern="100">
                          <a:effectLst/>
                          <a:latin typeface="Times New Roman" pitchFamily="18" charset="0"/>
                          <a:ea typeface="宋体" pitchFamily="2" charset="-122"/>
                          <a:cs typeface="Times New Roman" pitchFamily="18" charset="0"/>
                        </a:rPr>
                        <a:t>及以上附着式升降脚手架工程或附着式升降操作平台工程。</a:t>
                      </a:r>
                    </a:p>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）分段架体搭设高度</a:t>
                      </a:r>
                      <a:r>
                        <a:rPr lang="en-US" sz="1600" b="1" kern="100">
                          <a:effectLst/>
                          <a:latin typeface="Times New Roman" pitchFamily="18" charset="0"/>
                          <a:ea typeface="宋体" pitchFamily="2" charset="-122"/>
                          <a:cs typeface="Times New Roman" pitchFamily="18" charset="0"/>
                        </a:rPr>
                        <a:t>20m</a:t>
                      </a:r>
                      <a:r>
                        <a:rPr lang="zh-CN" sz="1600" b="1" kern="100">
                          <a:effectLst/>
                          <a:latin typeface="Times New Roman" pitchFamily="18" charset="0"/>
                          <a:ea typeface="宋体" pitchFamily="2" charset="-122"/>
                          <a:cs typeface="Times New Roman" pitchFamily="18" charset="0"/>
                        </a:rPr>
                        <a:t>及以上的悬挑式脚手架工程。</a:t>
                      </a:r>
                    </a:p>
                  </a:txBody>
                  <a:tcPr marL="68580" marR="68580" marT="0" marB="0" anchor="ctr"/>
                </a:tc>
                <a:extLst>
                  <a:ext uri="{0D108BD9-81ED-4DB2-BD59-A6C34878D82A}">
                    <a16:rowId xmlns:a16="http://schemas.microsoft.com/office/drawing/2014/main" val="10001"/>
                  </a:ext>
                </a:extLst>
              </a:tr>
              <a:tr h="50754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）附着式升降脚手架工程。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2"/>
                  </a:ext>
                </a:extLst>
              </a:tr>
              <a:tr h="50754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）悬挑式脚手架工程。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3"/>
                  </a:ext>
                </a:extLst>
              </a:tr>
              <a:tr h="50754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）高处作业吊篮。</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4"/>
                  </a:ext>
                </a:extLst>
              </a:tr>
              <a:tr h="50754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）卸料平台、操作平台工程。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5"/>
                  </a:ext>
                </a:extLst>
              </a:tr>
              <a:tr h="1015088">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6</a:t>
                      </a:r>
                      <a:r>
                        <a:rPr lang="zh-CN" sz="1600" b="1" kern="100" dirty="0">
                          <a:effectLst/>
                          <a:latin typeface="Times New Roman" pitchFamily="18" charset="0"/>
                          <a:ea typeface="宋体" pitchFamily="2" charset="-122"/>
                          <a:cs typeface="Times New Roman" pitchFamily="18" charset="0"/>
                        </a:rPr>
                        <a:t>）异型脚手架工程。</a:t>
                      </a:r>
                    </a:p>
                  </a:txBody>
                  <a:tcPr marL="68580" marR="68580" marT="0" marB="0" anchor="ctr"/>
                </a:tc>
                <a:tc vMerge="1">
                  <a:txBody>
                    <a:bodyPr/>
                    <a:lstStyle/>
                    <a:p>
                      <a:endParaRPr lang="zh-CN" alt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2178394450"/>
              </p:ext>
            </p:extLst>
          </p:nvPr>
        </p:nvGraphicFramePr>
        <p:xfrm>
          <a:off x="1043608" y="368963"/>
          <a:ext cx="8064894" cy="4723066"/>
        </p:xfrm>
        <a:graphic>
          <a:graphicData uri="http://schemas.openxmlformats.org/drawingml/2006/table">
            <a:tbl>
              <a:tblPr firstRow="1" firstCol="1" bandRow="1">
                <a:tableStyleId>{16D9F66E-5EB9-4882-86FB-DCBF35E3C3E4}</a:tableStyleId>
              </a:tblPr>
              <a:tblGrid>
                <a:gridCol w="864096">
                  <a:extLst>
                    <a:ext uri="{9D8B030D-6E8A-4147-A177-3AD203B41FA5}">
                      <a16:colId xmlns:a16="http://schemas.microsoft.com/office/drawing/2014/main" val="20000"/>
                    </a:ext>
                  </a:extLst>
                </a:gridCol>
                <a:gridCol w="3240360">
                  <a:extLst>
                    <a:ext uri="{9D8B030D-6E8A-4147-A177-3AD203B41FA5}">
                      <a16:colId xmlns:a16="http://schemas.microsoft.com/office/drawing/2014/main" val="20001"/>
                    </a:ext>
                  </a:extLst>
                </a:gridCol>
                <a:gridCol w="3960438">
                  <a:extLst>
                    <a:ext uri="{9D8B030D-6E8A-4147-A177-3AD203B41FA5}">
                      <a16:colId xmlns:a16="http://schemas.microsoft.com/office/drawing/2014/main" val="20002"/>
                    </a:ext>
                  </a:extLst>
                </a:gridCol>
              </a:tblGrid>
              <a:tr h="524785">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2099141">
                <a:tc rowSpan="2">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拆除、爆破工程</a:t>
                      </a:r>
                    </a:p>
                  </a:txBody>
                  <a:tcPr marL="68580" marR="68580" marT="0" marB="0" anchor="ctr"/>
                </a:tc>
                <a:tc rowSpan="2">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可能影响行人、交通、电力设施、通信设施或其他建、构筑物安全的拆除工程。</a:t>
                      </a:r>
                    </a:p>
                  </a:txBody>
                  <a:tcPr marL="68580" marR="68580"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）码头、桥梁、高架、烟囱、水塔或拆除中容易引起有毒有害气（液 ）体或粉尘扩散、易燃易爆事故发生的特殊建、构筑物的拆除工程。</a:t>
                      </a:r>
                    </a:p>
                  </a:txBody>
                  <a:tcPr marL="68580" marR="68580" marT="0" marB="0" anchor="ctr"/>
                </a:tc>
                <a:extLst>
                  <a:ext uri="{0D108BD9-81ED-4DB2-BD59-A6C34878D82A}">
                    <a16:rowId xmlns:a16="http://schemas.microsoft.com/office/drawing/2014/main" val="10001"/>
                  </a:ext>
                </a:extLst>
              </a:tr>
              <a:tr h="1049570">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）文物保护建筑、优秀历史建筑或历史文化风貌区控制范围内的拆除工程。</a:t>
                      </a:r>
                    </a:p>
                  </a:txBody>
                  <a:tcPr marL="68580" marR="68580" marT="0" marB="0" anchor="ctr"/>
                </a:tc>
                <a:extLst>
                  <a:ext uri="{0D108BD9-81ED-4DB2-BD59-A6C34878D82A}">
                    <a16:rowId xmlns:a16="http://schemas.microsoft.com/office/drawing/2014/main" val="10002"/>
                  </a:ext>
                </a:extLst>
              </a:tr>
              <a:tr h="1049570">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暗挖工程</a:t>
                      </a:r>
                    </a:p>
                  </a:txBody>
                  <a:tcPr marL="68580" marR="68580"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采用矿山法、盾构法、顶管法施工的隧道、洞室工程。</a:t>
                      </a:r>
                    </a:p>
                  </a:txBody>
                  <a:tcPr marL="68580" marR="68580" marT="0" marB="0" anchor="ct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采用矿山法、盾构法、顶管法施工的隧道、洞室工程。</a:t>
                      </a: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575171036"/>
              </p:ext>
            </p:extLst>
          </p:nvPr>
        </p:nvGraphicFramePr>
        <p:xfrm>
          <a:off x="1043608" y="357261"/>
          <a:ext cx="8064895" cy="4734769"/>
        </p:xfrm>
        <a:graphic>
          <a:graphicData uri="http://schemas.openxmlformats.org/drawingml/2006/table">
            <a:tbl>
              <a:tblPr firstRow="1" firstCol="1" bandRow="1">
                <a:tableStyleId>{69CF1AB2-1976-4502-BF36-3FF5EA218861}</a:tableStyleId>
              </a:tblPr>
              <a:tblGrid>
                <a:gridCol w="576064">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4032447">
                  <a:extLst>
                    <a:ext uri="{9D8B030D-6E8A-4147-A177-3AD203B41FA5}">
                      <a16:colId xmlns:a16="http://schemas.microsoft.com/office/drawing/2014/main" val="20002"/>
                    </a:ext>
                  </a:extLst>
                </a:gridCol>
              </a:tblGrid>
              <a:tr h="624058">
                <a:tc>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项目</a:t>
                      </a:r>
                    </a:p>
                  </a:txBody>
                  <a:tcPr marL="68580" marR="68580" marT="0" marB="0" anchor="ct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单独编制方案</a:t>
                      </a:r>
                    </a:p>
                  </a:txBody>
                  <a:tcPr marL="68580" marR="68580" marT="0" marB="0" anchor="ct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专家论证</a:t>
                      </a:r>
                    </a:p>
                  </a:txBody>
                  <a:tcPr marL="68580" marR="68580" marT="0" marB="0" anchor="ctr"/>
                </a:tc>
                <a:extLst>
                  <a:ext uri="{0D108BD9-81ED-4DB2-BD59-A6C34878D82A}">
                    <a16:rowId xmlns:a16="http://schemas.microsoft.com/office/drawing/2014/main" val="10000"/>
                  </a:ext>
                </a:extLst>
              </a:tr>
              <a:tr h="624058">
                <a:tc rowSpan="6">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其他</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）建筑幕墙安装工程。</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）施工高度</a:t>
                      </a:r>
                      <a:r>
                        <a:rPr lang="en-US" sz="1600" b="1" kern="100">
                          <a:effectLst/>
                          <a:latin typeface="Times New Roman" pitchFamily="18" charset="0"/>
                          <a:ea typeface="宋体" pitchFamily="2" charset="-122"/>
                          <a:cs typeface="Times New Roman" pitchFamily="18" charset="0"/>
                        </a:rPr>
                        <a:t>50m</a:t>
                      </a:r>
                      <a:r>
                        <a:rPr lang="zh-CN" sz="1600" b="1" kern="100">
                          <a:effectLst/>
                          <a:latin typeface="Times New Roman" pitchFamily="18" charset="0"/>
                          <a:ea typeface="宋体" pitchFamily="2" charset="-122"/>
                          <a:cs typeface="Times New Roman" pitchFamily="18" charset="0"/>
                        </a:rPr>
                        <a:t>及以上的建筑幕墙安装工程。</a:t>
                      </a:r>
                    </a:p>
                  </a:txBody>
                  <a:tcPr marL="68580" marR="68580" marT="0" marB="0" anchor="ctr"/>
                </a:tc>
                <a:extLst>
                  <a:ext uri="{0D108BD9-81ED-4DB2-BD59-A6C34878D82A}">
                    <a16:rowId xmlns:a16="http://schemas.microsoft.com/office/drawing/2014/main" val="10001"/>
                  </a:ext>
                </a:extLst>
              </a:tr>
              <a:tr h="936086">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）钢结构、网架和索膜结构安装工程。</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）跨度</a:t>
                      </a:r>
                      <a:r>
                        <a:rPr lang="en-US" sz="1600" b="1" kern="100">
                          <a:effectLst/>
                          <a:latin typeface="Times New Roman" pitchFamily="18" charset="0"/>
                          <a:ea typeface="宋体" pitchFamily="2" charset="-122"/>
                          <a:cs typeface="Times New Roman" pitchFamily="18" charset="0"/>
                        </a:rPr>
                        <a:t>36m</a:t>
                      </a:r>
                      <a:r>
                        <a:rPr lang="zh-CN" sz="1600" b="1" kern="100">
                          <a:effectLst/>
                          <a:latin typeface="Times New Roman" pitchFamily="18" charset="0"/>
                          <a:ea typeface="宋体" pitchFamily="2" charset="-122"/>
                          <a:cs typeface="Times New Roman" pitchFamily="18" charset="0"/>
                        </a:rPr>
                        <a:t>及以上的钢结构安装工程；或跨度</a:t>
                      </a:r>
                      <a:r>
                        <a:rPr lang="en-US" sz="1600" b="1" kern="100">
                          <a:effectLst/>
                          <a:latin typeface="Times New Roman" pitchFamily="18" charset="0"/>
                          <a:ea typeface="宋体" pitchFamily="2" charset="-122"/>
                          <a:cs typeface="Times New Roman" pitchFamily="18" charset="0"/>
                        </a:rPr>
                        <a:t>60m</a:t>
                      </a:r>
                      <a:r>
                        <a:rPr lang="zh-CN" sz="1600" b="1" kern="100">
                          <a:effectLst/>
                          <a:latin typeface="Times New Roman" pitchFamily="18" charset="0"/>
                          <a:ea typeface="宋体" pitchFamily="2" charset="-122"/>
                          <a:cs typeface="Times New Roman" pitchFamily="18" charset="0"/>
                        </a:rPr>
                        <a:t>及以上的网架和索膜结构安装工程。</a:t>
                      </a:r>
                    </a:p>
                  </a:txBody>
                  <a:tcPr marL="68580" marR="68580" marT="0" marB="0" anchor="ctr"/>
                </a:tc>
                <a:extLst>
                  <a:ext uri="{0D108BD9-81ED-4DB2-BD59-A6C34878D82A}">
                    <a16:rowId xmlns:a16="http://schemas.microsoft.com/office/drawing/2014/main" val="10002"/>
                  </a:ext>
                </a:extLst>
              </a:tr>
              <a:tr h="62405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）人工挖扩孔桩工程。</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）开挖深度</a:t>
                      </a:r>
                      <a:r>
                        <a:rPr lang="en-US" sz="1600" b="1" kern="100">
                          <a:effectLst/>
                          <a:latin typeface="Times New Roman" pitchFamily="18" charset="0"/>
                          <a:ea typeface="宋体" pitchFamily="2" charset="-122"/>
                          <a:cs typeface="Times New Roman" pitchFamily="18" charset="0"/>
                        </a:rPr>
                        <a:t>16m</a:t>
                      </a:r>
                      <a:r>
                        <a:rPr lang="zh-CN" sz="1600" b="1" kern="100">
                          <a:effectLst/>
                          <a:latin typeface="Times New Roman" pitchFamily="18" charset="0"/>
                          <a:ea typeface="宋体" pitchFamily="2" charset="-122"/>
                          <a:cs typeface="Times New Roman" pitchFamily="18" charset="0"/>
                        </a:rPr>
                        <a:t>及以上的人工挖孔桩工程。</a:t>
                      </a:r>
                    </a:p>
                  </a:txBody>
                  <a:tcPr marL="68580" marR="68580" marT="0" marB="0" anchor="ctr"/>
                </a:tc>
                <a:extLst>
                  <a:ext uri="{0D108BD9-81ED-4DB2-BD59-A6C34878D82A}">
                    <a16:rowId xmlns:a16="http://schemas.microsoft.com/office/drawing/2014/main" val="10003"/>
                  </a:ext>
                </a:extLst>
              </a:tr>
              <a:tr h="31202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）水下作业工程。</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）水下作业工程。</a:t>
                      </a:r>
                    </a:p>
                  </a:txBody>
                  <a:tcPr marL="68580" marR="68580" marT="0" marB="0" anchor="ctr"/>
                </a:tc>
                <a:extLst>
                  <a:ext uri="{0D108BD9-81ED-4DB2-BD59-A6C34878D82A}">
                    <a16:rowId xmlns:a16="http://schemas.microsoft.com/office/drawing/2014/main" val="10004"/>
                  </a:ext>
                </a:extLst>
              </a:tr>
              <a:tr h="624058">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）装配式建筑混凝土预制构件安装工程。</a:t>
                      </a:r>
                    </a:p>
                  </a:txBody>
                  <a:tcPr marL="68580" marR="68580"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）重量</a:t>
                      </a:r>
                      <a:r>
                        <a:rPr lang="en-US" sz="1600" b="1" kern="100">
                          <a:effectLst/>
                          <a:latin typeface="Times New Roman" pitchFamily="18" charset="0"/>
                          <a:ea typeface="宋体" pitchFamily="2" charset="-122"/>
                          <a:cs typeface="Times New Roman" pitchFamily="18" charset="0"/>
                        </a:rPr>
                        <a:t>1000kN</a:t>
                      </a:r>
                      <a:r>
                        <a:rPr lang="zh-CN" sz="1600" b="1" kern="100">
                          <a:effectLst/>
                          <a:latin typeface="Times New Roman" pitchFamily="18" charset="0"/>
                          <a:ea typeface="宋体" pitchFamily="2" charset="-122"/>
                          <a:cs typeface="Times New Roman" pitchFamily="18" charset="0"/>
                        </a:rPr>
                        <a:t>及以上的大型结构整体顶升、平移、转体等施工工艺。</a:t>
                      </a:r>
                    </a:p>
                  </a:txBody>
                  <a:tcPr marL="68580" marR="68580" marT="0" marB="0" anchor="ctr"/>
                </a:tc>
                <a:extLst>
                  <a:ext uri="{0D108BD9-81ED-4DB2-BD59-A6C34878D82A}">
                    <a16:rowId xmlns:a16="http://schemas.microsoft.com/office/drawing/2014/main" val="10005"/>
                  </a:ext>
                </a:extLst>
              </a:tr>
              <a:tr h="990423">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）采用新技术、新工艺、新材料、新设备可能影响工程施工安全，尚无国家、行业及地方技术标准的分部分项工程。</a:t>
                      </a:r>
                    </a:p>
                  </a:txBody>
                  <a:tcPr marL="68580" marR="68580"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6</a:t>
                      </a:r>
                      <a:r>
                        <a:rPr lang="zh-CN" sz="1600" b="1" kern="100" dirty="0">
                          <a:effectLst/>
                          <a:latin typeface="Times New Roman" pitchFamily="18" charset="0"/>
                          <a:ea typeface="宋体" pitchFamily="2" charset="-122"/>
                          <a:cs typeface="Times New Roman" pitchFamily="18" charset="0"/>
                        </a:rPr>
                        <a:t>）采用新技术、新工艺、新材料、新设备可能影响工程施工安全，尚无国家、行业及地方技术标准的分部分项工程。</a:t>
                      </a: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50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400110"/>
          </a:xfrm>
          <a:prstGeom prst="rect">
            <a:avLst/>
          </a:prstGeom>
          <a:noFill/>
        </p:spPr>
        <p:txBody>
          <a:bodyPr wrap="square" rtlCol="0">
            <a:spAutoFit/>
          </a:bodyPr>
          <a:lstStyle/>
          <a:p>
            <a:r>
              <a:rPr lang="zh-CN" altLang="en-US" sz="2000" b="1" dirty="0">
                <a:latin typeface="Times New Roman" pitchFamily="18" charset="0"/>
                <a:ea typeface="宋体" pitchFamily="2" charset="-122"/>
                <a:cs typeface="Times New Roman" pitchFamily="18" charset="0"/>
              </a:rPr>
              <a:t>（二）危大工程专项施工方案</a:t>
            </a:r>
          </a:p>
        </p:txBody>
      </p:sp>
      <p:graphicFrame>
        <p:nvGraphicFramePr>
          <p:cNvPr id="2" name="表格 1"/>
          <p:cNvGraphicFramePr>
            <a:graphicFrameLocks noGrp="1"/>
          </p:cNvGraphicFramePr>
          <p:nvPr>
            <p:extLst>
              <p:ext uri="{D42A27DB-BD31-4B8C-83A1-F6EECF244321}">
                <p14:modId xmlns:p14="http://schemas.microsoft.com/office/powerpoint/2010/main" val="2302065778"/>
              </p:ext>
            </p:extLst>
          </p:nvPr>
        </p:nvGraphicFramePr>
        <p:xfrm>
          <a:off x="1043608" y="843556"/>
          <a:ext cx="8064894" cy="4248474"/>
        </p:xfrm>
        <a:graphic>
          <a:graphicData uri="http://schemas.openxmlformats.org/drawingml/2006/table">
            <a:tbl>
              <a:tblPr firstRow="1" firstCol="1" bandRow="1">
                <a:tableStyleId>{8A107856-5554-42FB-B03E-39F5DBC370BA}</a:tableStyleId>
              </a:tblPr>
              <a:tblGrid>
                <a:gridCol w="1290465">
                  <a:extLst>
                    <a:ext uri="{9D8B030D-6E8A-4147-A177-3AD203B41FA5}">
                      <a16:colId xmlns:a16="http://schemas.microsoft.com/office/drawing/2014/main" val="20000"/>
                    </a:ext>
                  </a:extLst>
                </a:gridCol>
                <a:gridCol w="6774429">
                  <a:extLst>
                    <a:ext uri="{9D8B030D-6E8A-4147-A177-3AD203B41FA5}">
                      <a16:colId xmlns:a16="http://schemas.microsoft.com/office/drawing/2014/main" val="20001"/>
                    </a:ext>
                  </a:extLst>
                </a:gridCol>
              </a:tblGrid>
              <a:tr h="796588">
                <a:tc>
                  <a:txBody>
                    <a:bodyPr/>
                    <a:lstStyle/>
                    <a:p>
                      <a:pPr algn="ctr">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、编制单位</a:t>
                      </a:r>
                    </a:p>
                  </a:txBody>
                  <a:tcPr marL="59508" marR="59508"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施工单位应当在危大工程施工前组织工程技术人员编制专项施工方案。实行施工总承包的，专项施工方案应当由施工总承包单位组织编制。危大工程实行分包的，专项施工方案可以由相关专业分包单位组织编制。</a:t>
                      </a:r>
                    </a:p>
                  </a:txBody>
                  <a:tcPr marL="59508" marR="59508" marT="0" marB="0" anchor="ctr"/>
                </a:tc>
                <a:extLst>
                  <a:ext uri="{0D108BD9-81ED-4DB2-BD59-A6C34878D82A}">
                    <a16:rowId xmlns:a16="http://schemas.microsoft.com/office/drawing/2014/main" val="10000"/>
                  </a:ext>
                </a:extLst>
              </a:tr>
              <a:tr h="531059">
                <a:tc rowSpan="9">
                  <a:txBody>
                    <a:bodyPr/>
                    <a:lstStyle/>
                    <a:p>
                      <a:pPr algn="ctr">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、危大工程专项施工方案的主要内容</a:t>
                      </a:r>
                    </a:p>
                  </a:txBody>
                  <a:tcPr marL="59508" marR="59508"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）工程概况：危大工程概况和特点、施工平面布置、施工要求和技术保证条件。</a:t>
                      </a:r>
                    </a:p>
                  </a:txBody>
                  <a:tcPr marL="59508" marR="59508" marT="0" marB="0" anchor="ctr"/>
                </a:tc>
                <a:extLst>
                  <a:ext uri="{0D108BD9-81ED-4DB2-BD59-A6C34878D82A}">
                    <a16:rowId xmlns:a16="http://schemas.microsoft.com/office/drawing/2014/main" val="10001"/>
                  </a:ext>
                </a:extLst>
              </a:tr>
              <a:tr h="53105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）编制依据：相关法律、法规、规范性文件、标准、规范及施工图设计文件、施工组织设计等。</a:t>
                      </a:r>
                    </a:p>
                  </a:txBody>
                  <a:tcPr marL="59508" marR="59508" marT="0" marB="0" anchor="ctr"/>
                </a:tc>
                <a:extLst>
                  <a:ext uri="{0D108BD9-81ED-4DB2-BD59-A6C34878D82A}">
                    <a16:rowId xmlns:a16="http://schemas.microsoft.com/office/drawing/2014/main" val="10002"/>
                  </a:ext>
                </a:extLst>
              </a:tr>
              <a:tr h="26553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）施工计划：包括施工进度计划、材料与设备计划。</a:t>
                      </a:r>
                    </a:p>
                  </a:txBody>
                  <a:tcPr marL="59508" marR="59508" marT="0" marB="0" anchor="ctr"/>
                </a:tc>
                <a:extLst>
                  <a:ext uri="{0D108BD9-81ED-4DB2-BD59-A6C34878D82A}">
                    <a16:rowId xmlns:a16="http://schemas.microsoft.com/office/drawing/2014/main" val="10003"/>
                  </a:ext>
                </a:extLst>
              </a:tr>
              <a:tr h="53105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）施工工艺技术：技术参数、工艺流程、施工方法、操作要求、检查要求等。</a:t>
                      </a:r>
                    </a:p>
                  </a:txBody>
                  <a:tcPr marL="59508" marR="59508" marT="0" marB="0" anchor="ctr"/>
                </a:tc>
                <a:extLst>
                  <a:ext uri="{0D108BD9-81ED-4DB2-BD59-A6C34878D82A}">
                    <a16:rowId xmlns:a16="http://schemas.microsoft.com/office/drawing/2014/main" val="10004"/>
                  </a:ext>
                </a:extLst>
              </a:tr>
              <a:tr h="26553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）施工安全保证措施：组织保障措施、技术措施、监测监控措施等。</a:t>
                      </a:r>
                    </a:p>
                  </a:txBody>
                  <a:tcPr marL="59508" marR="59508" marT="0" marB="0" anchor="ctr"/>
                </a:tc>
                <a:extLst>
                  <a:ext uri="{0D108BD9-81ED-4DB2-BD59-A6C34878D82A}">
                    <a16:rowId xmlns:a16="http://schemas.microsoft.com/office/drawing/2014/main" val="10005"/>
                  </a:ext>
                </a:extLst>
              </a:tr>
              <a:tr h="531059">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）施工管理及作业人员配备和分工：施工管理人员、专职安全生产管理人员、特种作业人员、其他作业人员等。</a:t>
                      </a:r>
                    </a:p>
                  </a:txBody>
                  <a:tcPr marL="59508" marR="59508" marT="0" marB="0" anchor="ctr"/>
                </a:tc>
                <a:extLst>
                  <a:ext uri="{0D108BD9-81ED-4DB2-BD59-A6C34878D82A}">
                    <a16:rowId xmlns:a16="http://schemas.microsoft.com/office/drawing/2014/main" val="10006"/>
                  </a:ext>
                </a:extLst>
              </a:tr>
              <a:tr h="26553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a:t>
                      </a:r>
                      <a:r>
                        <a:rPr lang="zh-CN" sz="1600" b="1" kern="100">
                          <a:effectLst/>
                          <a:latin typeface="Times New Roman" pitchFamily="18" charset="0"/>
                          <a:ea typeface="宋体" pitchFamily="2" charset="-122"/>
                          <a:cs typeface="Times New Roman" pitchFamily="18" charset="0"/>
                        </a:rPr>
                        <a:t>）验收要求：验收标准、验收程序、验收内容、验收人员等。</a:t>
                      </a:r>
                    </a:p>
                  </a:txBody>
                  <a:tcPr marL="59508" marR="59508" marT="0" marB="0" anchor="ctr"/>
                </a:tc>
                <a:extLst>
                  <a:ext uri="{0D108BD9-81ED-4DB2-BD59-A6C34878D82A}">
                    <a16:rowId xmlns:a16="http://schemas.microsoft.com/office/drawing/2014/main" val="10007"/>
                  </a:ext>
                </a:extLst>
              </a:tr>
              <a:tr h="265530">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8</a:t>
                      </a:r>
                      <a:r>
                        <a:rPr lang="zh-CN" sz="1600" b="1" kern="100">
                          <a:effectLst/>
                          <a:latin typeface="Times New Roman" pitchFamily="18" charset="0"/>
                          <a:ea typeface="宋体" pitchFamily="2" charset="-122"/>
                          <a:cs typeface="Times New Roman" pitchFamily="18" charset="0"/>
                        </a:rPr>
                        <a:t>）应急处置措施。</a:t>
                      </a:r>
                    </a:p>
                  </a:txBody>
                  <a:tcPr marL="59508" marR="59508" marT="0" marB="0" anchor="ctr"/>
                </a:tc>
                <a:extLst>
                  <a:ext uri="{0D108BD9-81ED-4DB2-BD59-A6C34878D82A}">
                    <a16:rowId xmlns:a16="http://schemas.microsoft.com/office/drawing/2014/main" val="10008"/>
                  </a:ext>
                </a:extLst>
              </a:tr>
              <a:tr h="265530">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9</a:t>
                      </a:r>
                      <a:r>
                        <a:rPr lang="zh-CN" sz="1600" b="1" kern="100" dirty="0">
                          <a:effectLst/>
                          <a:latin typeface="Times New Roman" pitchFamily="18" charset="0"/>
                          <a:ea typeface="宋体" pitchFamily="2" charset="-122"/>
                          <a:cs typeface="Times New Roman" pitchFamily="18" charset="0"/>
                        </a:rPr>
                        <a:t>）计算书及相关施工图纸。</a:t>
                      </a:r>
                    </a:p>
                  </a:txBody>
                  <a:tcPr marL="59508" marR="59508"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260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2196734541"/>
              </p:ext>
            </p:extLst>
          </p:nvPr>
        </p:nvGraphicFramePr>
        <p:xfrm>
          <a:off x="1043607" y="368965"/>
          <a:ext cx="7992889" cy="4723066"/>
        </p:xfrm>
        <a:graphic>
          <a:graphicData uri="http://schemas.openxmlformats.org/drawingml/2006/table">
            <a:tbl>
              <a:tblPr firstRow="1" firstCol="1" bandRow="1">
                <a:tableStyleId>{0505E3EF-67EA-436B-97B2-0124C06EBD24}</a:tableStyleId>
              </a:tblPr>
              <a:tblGrid>
                <a:gridCol w="936105">
                  <a:extLst>
                    <a:ext uri="{9D8B030D-6E8A-4147-A177-3AD203B41FA5}">
                      <a16:colId xmlns:a16="http://schemas.microsoft.com/office/drawing/2014/main" val="20000"/>
                    </a:ext>
                  </a:extLst>
                </a:gridCol>
                <a:gridCol w="7056784">
                  <a:extLst>
                    <a:ext uri="{9D8B030D-6E8A-4147-A177-3AD203B41FA5}">
                      <a16:colId xmlns:a16="http://schemas.microsoft.com/office/drawing/2014/main" val="20001"/>
                    </a:ext>
                  </a:extLst>
                </a:gridCol>
              </a:tblGrid>
              <a:tr h="787179">
                <a:tc rowSpan="2">
                  <a:txBody>
                    <a:bodyPr/>
                    <a:lstStyle/>
                    <a:p>
                      <a:pPr algn="ctr">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、审批流程</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）专项施工方案应当由施工单位技术负责人审核签字、加盖单位公章，并由总监理工程师审查签字、加盖执业印章后方可实施。</a:t>
                      </a:r>
                    </a:p>
                  </a:txBody>
                  <a:tcPr marL="59508" marR="59508" marT="0" marB="0" anchor="ctr"/>
                </a:tc>
                <a:extLst>
                  <a:ext uri="{0D108BD9-81ED-4DB2-BD59-A6C34878D82A}">
                    <a16:rowId xmlns:a16="http://schemas.microsoft.com/office/drawing/2014/main" val="10000"/>
                  </a:ext>
                </a:extLst>
              </a:tr>
              <a:tr h="1180766">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）危大工程实行分包并由分包单位编制专项施工方案的，专项施工方案应当由总承包单位技术负责人及分包单位技术负责人共同审核签字并加盖单位公章。</a:t>
                      </a:r>
                    </a:p>
                  </a:txBody>
                  <a:tcPr marL="59508" marR="59508" marT="0" marB="0" anchor="ctr"/>
                </a:tc>
                <a:extLst>
                  <a:ext uri="{0D108BD9-81ED-4DB2-BD59-A6C34878D82A}">
                    <a16:rowId xmlns:a16="http://schemas.microsoft.com/office/drawing/2014/main" val="10001"/>
                  </a:ext>
                </a:extLst>
              </a:tr>
              <a:tr h="1574355">
                <a:tc rowSpan="2">
                  <a:txBody>
                    <a:bodyPr/>
                    <a:lstStyle/>
                    <a:p>
                      <a:pPr algn="ctr">
                        <a:lnSpc>
                          <a:spcPct val="150000"/>
                        </a:lnSpc>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、专家论证</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对于超过一定规模的危大工程，施工单位应当组织召开专家论证会对专项施工方案进行论证。实行施工总承包的，由施工总承包单位组织召开专家论证会。专家论证前专项施工方案应当通过施工单位审核和总监理工程师审查。</a:t>
                      </a:r>
                    </a:p>
                  </a:txBody>
                  <a:tcPr marL="59508" marR="59508" marT="0" marB="0" anchor="ctr"/>
                </a:tc>
                <a:extLst>
                  <a:ext uri="{0D108BD9-81ED-4DB2-BD59-A6C34878D82A}">
                    <a16:rowId xmlns:a16="http://schemas.microsoft.com/office/drawing/2014/main" val="10002"/>
                  </a:ext>
                </a:extLst>
              </a:tr>
              <a:tr h="1180766">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）专家应当从地方人民政府住房城乡建设主管部门建立的专家库中选取，符合专业要求且人数不得少于</a:t>
                      </a:r>
                      <a:r>
                        <a:rPr lang="en-US" sz="1600" b="1" kern="100" dirty="0">
                          <a:effectLst/>
                          <a:latin typeface="Times New Roman" pitchFamily="18" charset="0"/>
                          <a:ea typeface="宋体" pitchFamily="2" charset="-122"/>
                          <a:cs typeface="Times New Roman" pitchFamily="18" charset="0"/>
                        </a:rPr>
                        <a:t>5</a:t>
                      </a:r>
                      <a:r>
                        <a:rPr lang="zh-CN" sz="1600" b="1" kern="100" dirty="0">
                          <a:effectLst/>
                          <a:latin typeface="Times New Roman" pitchFamily="18" charset="0"/>
                          <a:ea typeface="宋体" pitchFamily="2" charset="-122"/>
                          <a:cs typeface="Times New Roman" pitchFamily="18" charset="0"/>
                        </a:rPr>
                        <a:t>名。与本工程有利害关系的人员不得以专家身份参加专家论证会。</a:t>
                      </a:r>
                    </a:p>
                  </a:txBody>
                  <a:tcPr marL="59508" marR="59508"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60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412309192"/>
              </p:ext>
            </p:extLst>
          </p:nvPr>
        </p:nvGraphicFramePr>
        <p:xfrm>
          <a:off x="1043607" y="411509"/>
          <a:ext cx="7992889" cy="4680520"/>
        </p:xfrm>
        <a:graphic>
          <a:graphicData uri="http://schemas.openxmlformats.org/drawingml/2006/table">
            <a:tbl>
              <a:tblPr firstRow="1" firstCol="1" bandRow="1">
                <a:tableStyleId>{C4B1156A-380E-4F78-BDF5-A606A8083BF9}</a:tableStyleId>
              </a:tblPr>
              <a:tblGrid>
                <a:gridCol w="1584177">
                  <a:extLst>
                    <a:ext uri="{9D8B030D-6E8A-4147-A177-3AD203B41FA5}">
                      <a16:colId xmlns:a16="http://schemas.microsoft.com/office/drawing/2014/main" val="20000"/>
                    </a:ext>
                  </a:extLst>
                </a:gridCol>
                <a:gridCol w="6408712">
                  <a:extLst>
                    <a:ext uri="{9D8B030D-6E8A-4147-A177-3AD203B41FA5}">
                      <a16:colId xmlns:a16="http://schemas.microsoft.com/office/drawing/2014/main" val="20001"/>
                    </a:ext>
                  </a:extLst>
                </a:gridCol>
              </a:tblGrid>
              <a:tr h="851004">
                <a:tc rowSpan="5">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）专家论证会的参会人员</a:t>
                      </a:r>
                    </a:p>
                  </a:txBody>
                  <a:tcPr marL="59508" marR="59508" marT="0" marB="0" anchor="ct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）专家组成员：诚实守信、作风正派、学术严谨；从事专业工作</a:t>
                      </a:r>
                      <a:r>
                        <a:rPr lang="en-US" sz="1600" b="1" kern="100">
                          <a:effectLst/>
                          <a:latin typeface="Times New Roman" pitchFamily="18" charset="0"/>
                          <a:ea typeface="宋体" pitchFamily="2" charset="-122"/>
                          <a:cs typeface="Times New Roman" pitchFamily="18" charset="0"/>
                        </a:rPr>
                        <a:t>15</a:t>
                      </a:r>
                      <a:r>
                        <a:rPr lang="zh-CN" sz="1600" b="1" kern="100">
                          <a:effectLst/>
                          <a:latin typeface="Times New Roman" pitchFamily="18" charset="0"/>
                          <a:ea typeface="宋体" pitchFamily="2" charset="-122"/>
                          <a:cs typeface="Times New Roman" pitchFamily="18" charset="0"/>
                        </a:rPr>
                        <a:t>年以上或具有丰富的专业经验；具有高级专业技术职称；</a:t>
                      </a:r>
                    </a:p>
                  </a:txBody>
                  <a:tcPr marL="59508" marR="59508" marT="0" marB="0" anchor="ctr"/>
                </a:tc>
                <a:extLst>
                  <a:ext uri="{0D108BD9-81ED-4DB2-BD59-A6C34878D82A}">
                    <a16:rowId xmlns:a16="http://schemas.microsoft.com/office/drawing/2014/main" val="10000"/>
                  </a:ext>
                </a:extLst>
              </a:tr>
              <a:tr h="42550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）建设单位项目负责人。</a:t>
                      </a:r>
                    </a:p>
                  </a:txBody>
                  <a:tcPr marL="59508" marR="59508" marT="0" marB="0" anchor="ctr"/>
                </a:tc>
                <a:extLst>
                  <a:ext uri="{0D108BD9-81ED-4DB2-BD59-A6C34878D82A}">
                    <a16:rowId xmlns:a16="http://schemas.microsoft.com/office/drawing/2014/main" val="10001"/>
                  </a:ext>
                </a:extLst>
              </a:tr>
              <a:tr h="42550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）监理单位项目总监理工程师及专业监理工程师。</a:t>
                      </a:r>
                    </a:p>
                  </a:txBody>
                  <a:tcPr marL="59508" marR="59508" marT="0" marB="0" anchor="ctr"/>
                </a:tc>
                <a:extLst>
                  <a:ext uri="{0D108BD9-81ED-4DB2-BD59-A6C34878D82A}">
                    <a16:rowId xmlns:a16="http://schemas.microsoft.com/office/drawing/2014/main" val="10002"/>
                  </a:ext>
                </a:extLst>
              </a:tr>
              <a:tr h="1276504">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）总承包单位和分包单位技术负责人或授权委派的专业技术人员、项目负责人、项目技术负责人、专项施工方案编制人员、项目专职安全生产管理人员及相关人员。</a:t>
                      </a:r>
                    </a:p>
                  </a:txBody>
                  <a:tcPr marL="59508" marR="59508" marT="0" marB="0" anchor="ctr"/>
                </a:tc>
                <a:extLst>
                  <a:ext uri="{0D108BD9-81ED-4DB2-BD59-A6C34878D82A}">
                    <a16:rowId xmlns:a16="http://schemas.microsoft.com/office/drawing/2014/main" val="10003"/>
                  </a:ext>
                </a:extLst>
              </a:tr>
              <a:tr h="42550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）勘察、设计单位项目技术负责人及相关人员。</a:t>
                      </a:r>
                    </a:p>
                  </a:txBody>
                  <a:tcPr marL="59508" marR="59508" marT="0" marB="0" anchor="ctr"/>
                </a:tc>
                <a:extLst>
                  <a:ext uri="{0D108BD9-81ED-4DB2-BD59-A6C34878D82A}">
                    <a16:rowId xmlns:a16="http://schemas.microsoft.com/office/drawing/2014/main" val="10004"/>
                  </a:ext>
                </a:extLst>
              </a:tr>
              <a:tr h="425502">
                <a:tc rowSpan="3">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）专家论证的主要内容</a:t>
                      </a:r>
                    </a:p>
                  </a:txBody>
                  <a:tcPr marL="59508" marR="59508" marT="0" marB="0" anchor="ct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）专项方案内容是否完整、可行。</a:t>
                      </a:r>
                    </a:p>
                  </a:txBody>
                  <a:tcPr marL="59508" marR="59508" marT="0" marB="0" anchor="ctr"/>
                </a:tc>
                <a:extLst>
                  <a:ext uri="{0D108BD9-81ED-4DB2-BD59-A6C34878D82A}">
                    <a16:rowId xmlns:a16="http://schemas.microsoft.com/office/drawing/2014/main" val="10005"/>
                  </a:ext>
                </a:extLst>
              </a:tr>
              <a:tr h="42550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）专项方案计算书和验算依据、施工图是否符合有关标准规范。</a:t>
                      </a:r>
                    </a:p>
                  </a:txBody>
                  <a:tcPr marL="59508" marR="59508" marT="0" marB="0" anchor="ctr"/>
                </a:tc>
                <a:extLst>
                  <a:ext uri="{0D108BD9-81ED-4DB2-BD59-A6C34878D82A}">
                    <a16:rowId xmlns:a16="http://schemas.microsoft.com/office/drawing/2014/main" val="10006"/>
                  </a:ext>
                </a:extLst>
              </a:tr>
              <a:tr h="425502">
                <a:tc vMerge="1">
                  <a:txBody>
                    <a:bodyPr/>
                    <a:lstStyle/>
                    <a:p>
                      <a:endParaRPr lang="zh-CN" altLang="en-US"/>
                    </a:p>
                  </a:txBody>
                  <a:tcPr/>
                </a:tc>
                <a:tc>
                  <a:txBody>
                    <a:bodyPr/>
                    <a:lstStyle/>
                    <a:p>
                      <a:pPr algn="just">
                        <a:lnSpc>
                          <a:spcPct val="150000"/>
                        </a:lnSpc>
                        <a:spcAft>
                          <a:spcPts val="0"/>
                        </a:spcAft>
                      </a:pP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）专项施工方案是否满足现场实际情况，并能够确保施工安全。</a:t>
                      </a:r>
                    </a:p>
                  </a:txBody>
                  <a:tcPr marL="59508" marR="59508"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260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966552848"/>
              </p:ext>
            </p:extLst>
          </p:nvPr>
        </p:nvGraphicFramePr>
        <p:xfrm>
          <a:off x="1043607" y="411510"/>
          <a:ext cx="7920881" cy="4608512"/>
        </p:xfrm>
        <a:graphic>
          <a:graphicData uri="http://schemas.openxmlformats.org/drawingml/2006/table">
            <a:tbl>
              <a:tblPr firstRow="1" firstCol="1" bandRow="1">
                <a:tableStyleId>{22838BEF-8BB2-4498-84A7-C5851F593DF1}</a:tableStyleId>
              </a:tblPr>
              <a:tblGrid>
                <a:gridCol w="988462">
                  <a:extLst>
                    <a:ext uri="{9D8B030D-6E8A-4147-A177-3AD203B41FA5}">
                      <a16:colId xmlns:a16="http://schemas.microsoft.com/office/drawing/2014/main" val="20000"/>
                    </a:ext>
                  </a:extLst>
                </a:gridCol>
                <a:gridCol w="6932419">
                  <a:extLst>
                    <a:ext uri="{9D8B030D-6E8A-4147-A177-3AD203B41FA5}">
                      <a16:colId xmlns:a16="http://schemas.microsoft.com/office/drawing/2014/main" val="20001"/>
                    </a:ext>
                  </a:extLst>
                </a:gridCol>
              </a:tblGrid>
              <a:tr h="1152129">
                <a:tc rowSpan="4">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）专家论证结论</a:t>
                      </a:r>
                    </a:p>
                  </a:txBody>
                  <a:tcPr marL="59508" marR="59508" marT="0" marB="0" anchor="ct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）专家论证会后，应当形成论证报告，对专项施工方案提出通过、修改后通过或者不通过的一致意见。专家对论证报告负责并签字确认。</a:t>
                      </a:r>
                    </a:p>
                  </a:txBody>
                  <a:tcPr marL="59508" marR="59508" marT="0" marB="0" anchor="ctr"/>
                </a:tc>
                <a:extLst>
                  <a:ext uri="{0D108BD9-81ED-4DB2-BD59-A6C34878D82A}">
                    <a16:rowId xmlns:a16="http://schemas.microsoft.com/office/drawing/2014/main" val="10000"/>
                  </a:ext>
                </a:extLst>
              </a:tr>
              <a:tr h="576065">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）结论为“通过”的，施工单位可参考专家意见自行修改完善；</a:t>
                      </a:r>
                    </a:p>
                  </a:txBody>
                  <a:tcPr marL="59508" marR="59508" marT="0" marB="0" anchor="ctr"/>
                </a:tc>
                <a:extLst>
                  <a:ext uri="{0D108BD9-81ED-4DB2-BD59-A6C34878D82A}">
                    <a16:rowId xmlns:a16="http://schemas.microsoft.com/office/drawing/2014/main" val="10001"/>
                  </a:ext>
                </a:extLst>
              </a:tr>
              <a:tr h="1728189">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）结论为“修改后通过”的，专家意见要明确具体修改内容，施工单位应当按照专家意见进行修改，并履行有关审核和审查手续后方可实施，修改情况应及时告知专家。</a:t>
                      </a:r>
                    </a:p>
                  </a:txBody>
                  <a:tcPr marL="59508" marR="59508" marT="0" marB="0" anchor="ctr"/>
                </a:tc>
                <a:extLst>
                  <a:ext uri="{0D108BD9-81ED-4DB2-BD59-A6C34878D82A}">
                    <a16:rowId xmlns:a16="http://schemas.microsoft.com/office/drawing/2014/main" val="10002"/>
                  </a:ext>
                </a:extLst>
              </a:tr>
              <a:tr h="1152129">
                <a:tc vMerge="1">
                  <a:txBody>
                    <a:bodyPr/>
                    <a:lstStyle/>
                    <a:p>
                      <a:endParaRPr lang="zh-CN" altLang="en-US"/>
                    </a:p>
                  </a:txBody>
                  <a:tcPr/>
                </a:tc>
                <a:tc>
                  <a:txBody>
                    <a:bodyPr/>
                    <a:lstStyle/>
                    <a:p>
                      <a:pPr algn="just">
                        <a:lnSpc>
                          <a:spcPct val="150000"/>
                        </a:lnSpc>
                        <a:spcAft>
                          <a:spcPts val="0"/>
                        </a:spcAft>
                      </a:pP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）结论为“不通过”的，施工单位修改后应当按照规定要求重新组织专家论证。</a:t>
                      </a:r>
                    </a:p>
                  </a:txBody>
                  <a:tcPr marL="59508" marR="59508"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60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2201118984"/>
              </p:ext>
            </p:extLst>
          </p:nvPr>
        </p:nvGraphicFramePr>
        <p:xfrm>
          <a:off x="1043607" y="368965"/>
          <a:ext cx="7992889" cy="4723064"/>
        </p:xfrm>
        <a:graphic>
          <a:graphicData uri="http://schemas.openxmlformats.org/drawingml/2006/table">
            <a:tbl>
              <a:tblPr firstRow="1" firstCol="1" bandRow="1">
                <a:tableStyleId>{16D9F66E-5EB9-4882-86FB-DCBF35E3C3E4}</a:tableStyleId>
              </a:tblPr>
              <a:tblGrid>
                <a:gridCol w="924279">
                  <a:extLst>
                    <a:ext uri="{9D8B030D-6E8A-4147-A177-3AD203B41FA5}">
                      <a16:colId xmlns:a16="http://schemas.microsoft.com/office/drawing/2014/main" val="20000"/>
                    </a:ext>
                  </a:extLst>
                </a:gridCol>
                <a:gridCol w="7068610">
                  <a:extLst>
                    <a:ext uri="{9D8B030D-6E8A-4147-A177-3AD203B41FA5}">
                      <a16:colId xmlns:a16="http://schemas.microsoft.com/office/drawing/2014/main" val="20001"/>
                    </a:ext>
                  </a:extLst>
                </a:gridCol>
              </a:tblGrid>
              <a:tr h="1771148">
                <a:tc>
                  <a:txBody>
                    <a:bodyPr/>
                    <a:lstStyle/>
                    <a:p>
                      <a:pPr algn="ctr">
                        <a:lnSpc>
                          <a:spcPct val="150000"/>
                        </a:lnSpc>
                        <a:spcAft>
                          <a:spcPts val="0"/>
                        </a:spcAft>
                      </a:pP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、监测方案</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进行第三方监测的危大工程监测方案的主要内容应当包括工程概况、监测依据、监测内容、监测方法、人员及设备、测点布置与保护、监测频次、预警标准及监测成果报送等。</a:t>
                      </a:r>
                    </a:p>
                  </a:txBody>
                  <a:tcPr marL="59508" marR="59508" marT="0" marB="0" anchor="ctr"/>
                </a:tc>
                <a:extLst>
                  <a:ext uri="{0D108BD9-81ED-4DB2-BD59-A6C34878D82A}">
                    <a16:rowId xmlns:a16="http://schemas.microsoft.com/office/drawing/2014/main" val="10000"/>
                  </a:ext>
                </a:extLst>
              </a:tr>
              <a:tr h="1771148">
                <a:tc rowSpan="3">
                  <a:txBody>
                    <a:bodyPr/>
                    <a:lstStyle/>
                    <a:p>
                      <a:pPr algn="ctr">
                        <a:lnSpc>
                          <a:spcPct val="150000"/>
                        </a:lnSpc>
                        <a:spcAft>
                          <a:spcPts val="0"/>
                        </a:spcAft>
                      </a:pP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、验收人员</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）总承包单位和分包单位技术负责人或授权委派的专业技术人员、项目负责人、项目技术负责人、专项施工方案编制人员、项目专职安全生产管理人员及相关人员。</a:t>
                      </a:r>
                    </a:p>
                  </a:txBody>
                  <a:tcPr marL="59508" marR="59508" marT="0" marB="0" anchor="ctr"/>
                </a:tc>
                <a:extLst>
                  <a:ext uri="{0D108BD9-81ED-4DB2-BD59-A6C34878D82A}">
                    <a16:rowId xmlns:a16="http://schemas.microsoft.com/office/drawing/2014/main" val="10001"/>
                  </a:ext>
                </a:extLst>
              </a:tr>
              <a:tr h="590384">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）监理单位项目总监理工程师及专业监理工程师。</a:t>
                      </a:r>
                    </a:p>
                  </a:txBody>
                  <a:tcPr marL="59508" marR="59508" marT="0" marB="0" anchor="ctr"/>
                </a:tc>
                <a:extLst>
                  <a:ext uri="{0D108BD9-81ED-4DB2-BD59-A6C34878D82A}">
                    <a16:rowId xmlns:a16="http://schemas.microsoft.com/office/drawing/2014/main" val="10002"/>
                  </a:ext>
                </a:extLst>
              </a:tr>
              <a:tr h="590384">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）有关勘察、设计和监测单位项目技术负责人。</a:t>
                      </a:r>
                    </a:p>
                  </a:txBody>
                  <a:tcPr marL="59508" marR="59508"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603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10129</TotalTime>
  <Words>2688</Words>
  <Application>Microsoft Office PowerPoint</Application>
  <PresentationFormat>全屏显示(16:9)</PresentationFormat>
  <Paragraphs>157</Paragraphs>
  <Slides>16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黑体</vt:lpstr>
      <vt:lpstr>华文行楷</vt:lpstr>
      <vt:lpstr>微软雅黑</vt:lpstr>
      <vt:lpstr>幼圆</vt:lpstr>
      <vt:lpstr>Arial</vt:lpstr>
      <vt:lpstr>Calibri</vt:lpstr>
      <vt:lpstr>Franklin Gothic Book</vt:lpstr>
      <vt:lpstr>Times New Roman</vt:lpstr>
      <vt:lpstr>Wingdings 2</vt:lpstr>
      <vt:lpstr>A000120140530A99PPBG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1038</cp:revision>
  <dcterms:created xsi:type="dcterms:W3CDTF">2019-02-28T02:56:41Z</dcterms:created>
  <dcterms:modified xsi:type="dcterms:W3CDTF">2024-12-02T03:00:50Z</dcterms:modified>
</cp:coreProperties>
</file>