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3" r:id="rId1"/>
  </p:sldMasterIdLst>
  <p:notesMasterIdLst>
    <p:notesMasterId r:id="rId6"/>
  </p:notesMasterIdLst>
  <p:sldIdLst>
    <p:sldId id="675" r:id="rId2"/>
    <p:sldId id="676" r:id="rId3"/>
    <p:sldId id="677" r:id="rId4"/>
    <p:sldId id="678" r:id="rId5"/>
  </p:sldIdLst>
  <p:sldSz cx="9144000" cy="5143500" type="screen16x9"/>
  <p:notesSz cx="6858000" cy="9144000"/>
  <p:custDataLst>
    <p:tags r:id="rId7"/>
  </p:custDataLst>
  <p:defaultTextStyle>
    <a:defPPr>
      <a:defRPr lang="zh-CN"/>
    </a:defPPr>
    <a:lvl1pPr marL="0" algn="l" defTabSz="914130" rtl="0" eaLnBrk="1" latinLnBrk="0" hangingPunct="1">
      <a:defRPr sz="1800" kern="1200">
        <a:solidFill>
          <a:schemeClr val="tx1"/>
        </a:solidFill>
        <a:latin typeface="+mn-lt"/>
        <a:ea typeface="+mn-ea"/>
        <a:cs typeface="+mn-cs"/>
      </a:defRPr>
    </a:lvl1pPr>
    <a:lvl2pPr marL="457058" algn="l" defTabSz="914130" rtl="0" eaLnBrk="1" latinLnBrk="0" hangingPunct="1">
      <a:defRPr sz="1800" kern="1200">
        <a:solidFill>
          <a:schemeClr val="tx1"/>
        </a:solidFill>
        <a:latin typeface="+mn-lt"/>
        <a:ea typeface="+mn-ea"/>
        <a:cs typeface="+mn-cs"/>
      </a:defRPr>
    </a:lvl2pPr>
    <a:lvl3pPr marL="914130" algn="l" defTabSz="914130" rtl="0" eaLnBrk="1" latinLnBrk="0" hangingPunct="1">
      <a:defRPr sz="1800" kern="1200">
        <a:solidFill>
          <a:schemeClr val="tx1"/>
        </a:solidFill>
        <a:latin typeface="+mn-lt"/>
        <a:ea typeface="+mn-ea"/>
        <a:cs typeface="+mn-cs"/>
      </a:defRPr>
    </a:lvl3pPr>
    <a:lvl4pPr marL="1371192" algn="l" defTabSz="914130" rtl="0" eaLnBrk="1" latinLnBrk="0" hangingPunct="1">
      <a:defRPr sz="1800" kern="1200">
        <a:solidFill>
          <a:schemeClr val="tx1"/>
        </a:solidFill>
        <a:latin typeface="+mn-lt"/>
        <a:ea typeface="+mn-ea"/>
        <a:cs typeface="+mn-cs"/>
      </a:defRPr>
    </a:lvl4pPr>
    <a:lvl5pPr marL="1828259" algn="l" defTabSz="914130" rtl="0" eaLnBrk="1" latinLnBrk="0" hangingPunct="1">
      <a:defRPr sz="1800" kern="1200">
        <a:solidFill>
          <a:schemeClr val="tx1"/>
        </a:solidFill>
        <a:latin typeface="+mn-lt"/>
        <a:ea typeface="+mn-ea"/>
        <a:cs typeface="+mn-cs"/>
      </a:defRPr>
    </a:lvl5pPr>
    <a:lvl6pPr marL="2285316" algn="l" defTabSz="914130" rtl="0" eaLnBrk="1" latinLnBrk="0" hangingPunct="1">
      <a:defRPr sz="1800" kern="1200">
        <a:solidFill>
          <a:schemeClr val="tx1"/>
        </a:solidFill>
        <a:latin typeface="+mn-lt"/>
        <a:ea typeface="+mn-ea"/>
        <a:cs typeface="+mn-cs"/>
      </a:defRPr>
    </a:lvl6pPr>
    <a:lvl7pPr marL="2742374" algn="l" defTabSz="914130" rtl="0" eaLnBrk="1" latinLnBrk="0" hangingPunct="1">
      <a:defRPr sz="1800" kern="1200">
        <a:solidFill>
          <a:schemeClr val="tx1"/>
        </a:solidFill>
        <a:latin typeface="+mn-lt"/>
        <a:ea typeface="+mn-ea"/>
        <a:cs typeface="+mn-cs"/>
      </a:defRPr>
    </a:lvl7pPr>
    <a:lvl8pPr marL="3199440" algn="l" defTabSz="914130" rtl="0" eaLnBrk="1" latinLnBrk="0" hangingPunct="1">
      <a:defRPr sz="1800" kern="1200">
        <a:solidFill>
          <a:schemeClr val="tx1"/>
        </a:solidFill>
        <a:latin typeface="+mn-lt"/>
        <a:ea typeface="+mn-ea"/>
        <a:cs typeface="+mn-cs"/>
      </a:defRPr>
    </a:lvl8pPr>
    <a:lvl9pPr marL="3656503" algn="l" defTabSz="9141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115" d="100"/>
          <a:sy n="115" d="100"/>
        </p:scale>
        <p:origin x="-514" y="-67"/>
      </p:cViewPr>
      <p:guideLst>
        <p:guide orient="horz" pos="1620"/>
        <p:guide pos="2880"/>
      </p:guideLst>
    </p:cSldViewPr>
  </p:slideViewPr>
  <p:notesTextViewPr>
    <p:cViewPr>
      <p:scale>
        <a:sx n="1" d="1"/>
        <a:sy n="1" d="1"/>
      </p:scale>
      <p:origin x="0" y="0"/>
    </p:cViewPr>
  </p:notesTextViewPr>
  <p:sorterViewPr>
    <p:cViewPr>
      <p:scale>
        <a:sx n="100" d="100"/>
        <a:sy n="100" d="100"/>
      </p:scale>
      <p:origin x="0" y="180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tags" Target="tags/tag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417AAB-FCBD-40B2-B028-268332E93037}" type="datetimeFigureOut">
              <a:rPr lang="zh-CN" altLang="en-US" smtClean="0"/>
              <a:t>2024/11/30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03F446-A760-4077-983F-8A30C4399FE6}" type="slidenum">
              <a:rPr lang="zh-CN" altLang="en-US" smtClean="0"/>
              <a:t>‹#›</a:t>
            </a:fld>
            <a:endParaRPr lang="zh-CN" altLang="en-US"/>
          </a:p>
        </p:txBody>
      </p:sp>
    </p:spTree>
    <p:extLst>
      <p:ext uri="{BB962C8B-B14F-4D97-AF65-F5344CB8AC3E}">
        <p14:creationId xmlns:p14="http://schemas.microsoft.com/office/powerpoint/2010/main" val="1005467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233" t="12301" r="1751" b="16008"/>
          <a:stretch/>
        </p:blipFill>
        <p:spPr>
          <a:xfrm>
            <a:off x="0" y="0"/>
            <a:ext cx="9144000" cy="5143500"/>
          </a:xfrm>
          <a:prstGeom prst="rect">
            <a:avLst/>
          </a:prstGeom>
        </p:spPr>
      </p:pic>
      <p:sp>
        <p:nvSpPr>
          <p:cNvPr id="4" name="KSO_FD"/>
          <p:cNvSpPr>
            <a:spLocks noGrp="1"/>
          </p:cNvSpPr>
          <p:nvPr>
            <p:ph type="dt" sz="half" idx="10"/>
          </p:nvPr>
        </p:nvSpPr>
        <p:spPr/>
        <p:txBody>
          <a:bodyPr/>
          <a:lstStyle/>
          <a:p>
            <a:fld id="{C9E60F58-3108-4415-857A-6D0360DF626E}"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5133793" y="1806593"/>
            <a:ext cx="2945922" cy="303719"/>
          </a:xfrm>
          <a:prstGeom prst="roundRect">
            <a:avLst>
              <a:gd name="adj" fmla="val 50000"/>
            </a:avLst>
          </a:prstGeom>
          <a:noFill/>
          <a:ln>
            <a:noFill/>
          </a:ln>
        </p:spPr>
        <p:txBody>
          <a:bodyPr vert="horz" anchor="ctr">
            <a:noAutofit/>
          </a:bodyPr>
          <a:lstStyle>
            <a:lvl1pPr marL="0" indent="0" algn="ctr">
              <a:buNone/>
              <a:defRPr sz="1400" b="0">
                <a:solidFill>
                  <a:schemeClr val="tx1"/>
                </a:solidFill>
                <a:effectLst/>
                <a:latin typeface="+mn-ea"/>
                <a:ea typeface="+mn-ea"/>
              </a:defRPr>
            </a:lvl1pPr>
            <a:lvl2pPr marL="257175" indent="0" algn="ctr">
              <a:buNone/>
              <a:defRPr sz="1100"/>
            </a:lvl2pPr>
            <a:lvl3pPr marL="514350" indent="0" algn="ctr">
              <a:buNone/>
              <a:defRPr sz="1000"/>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dirty="0"/>
              <a:t>单击此处添加您的副标题</a:t>
            </a:r>
          </a:p>
        </p:txBody>
      </p:sp>
      <p:sp>
        <p:nvSpPr>
          <p:cNvPr id="7" name="KSO_CT1"/>
          <p:cNvSpPr>
            <a:spLocks noGrp="1"/>
          </p:cNvSpPr>
          <p:nvPr>
            <p:ph type="title" hasCustomPrompt="1"/>
          </p:nvPr>
        </p:nvSpPr>
        <p:spPr>
          <a:xfrm>
            <a:off x="4822164" y="983400"/>
            <a:ext cx="3727691" cy="805914"/>
          </a:xfrm>
        </p:spPr>
        <p:txBody>
          <a:bodyPr vert="horz" anchor="b">
            <a:noAutofit/>
          </a:bodyPr>
          <a:lstStyle>
            <a:lvl1pPr algn="ctr">
              <a:lnSpc>
                <a:spcPct val="100000"/>
              </a:lnSpc>
              <a:defRPr sz="2400" b="1" kern="1000" baseline="0">
                <a:solidFill>
                  <a:schemeClr val="accent1"/>
                </a:solidFill>
                <a:effectLst/>
                <a:latin typeface="+mj-ea"/>
                <a:ea typeface="+mj-ea"/>
              </a:defRPr>
            </a:lvl1pPr>
          </a:lstStyle>
          <a:p>
            <a:r>
              <a:rPr lang="zh-CN" altLang="en-US" dirty="0"/>
              <a:t>单击此处添加您的标题文字</a:t>
            </a:r>
          </a:p>
        </p:txBody>
      </p:sp>
    </p:spTree>
    <p:extLst>
      <p:ext uri="{BB962C8B-B14F-4D97-AF65-F5344CB8AC3E}">
        <p14:creationId xmlns:p14="http://schemas.microsoft.com/office/powerpoint/2010/main" val="489679569"/>
      </p:ext>
    </p:extLst>
  </p:cSld>
  <p:clrMapOvr>
    <a:masterClrMapping/>
  </p:clrMapOvr>
  <p:extLst>
    <p:ext uri="{DCECCB84-F9BA-43D5-87BE-67443E8EF086}">
      <p15:sldGuideLst xmlns:p15="http://schemas.microsoft.com/office/powerpoint/2012/main" xmlns="">
        <p15:guide id="1" pos="4967">
          <p15:clr>
            <a:srgbClr val="FBAE40"/>
          </p15:clr>
        </p15:guide>
        <p15:guide id="0" orient="horz" pos="2160" userDrawn="1">
          <p15:clr>
            <a:srgbClr val="FBAE40"/>
          </p15:clr>
        </p15:guide>
        <p15:guide id="2" pos="662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lgn="ctr">
              <a:defRPr sz="3200" b="1">
                <a:latin typeface="+mn-ea"/>
                <a:ea typeface="+mn-ea"/>
              </a:defRPr>
            </a:lvl1pPr>
          </a:lstStyle>
          <a:p>
            <a:r>
              <a:rPr lang="zh-CN" altLang="en-US" dirty="0"/>
              <a:t>单击此处编辑母版标题样式</a:t>
            </a:r>
            <a:endParaRPr lang="en-US" dirty="0"/>
          </a:p>
        </p:txBody>
      </p:sp>
      <p:sp>
        <p:nvSpPr>
          <p:cNvPr id="3" name="KSO_BC1"/>
          <p:cNvSpPr>
            <a:spLocks noGrp="1"/>
          </p:cNvSpPr>
          <p:nvPr>
            <p:ph idx="1"/>
          </p:nvPr>
        </p:nvSpPr>
        <p:spPr/>
        <p:txBody>
          <a:bodyPr>
            <a:normAutofit/>
          </a:bodyPr>
          <a:lstStyle>
            <a:lvl1pPr>
              <a:defRPr sz="2400" b="1">
                <a:solidFill>
                  <a:schemeClr val="tx1">
                    <a:lumMod val="50000"/>
                  </a:schemeClr>
                </a:solidFill>
                <a:latin typeface="+mj-ea"/>
                <a:ea typeface="+mj-ea"/>
              </a:defRPr>
            </a:lvl1pPr>
            <a:lvl2pPr>
              <a:defRPr sz="1400" b="1">
                <a:latin typeface="+mj-ea"/>
                <a:ea typeface="+mj-ea"/>
              </a:defRPr>
            </a:lvl2p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1050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1574008" y="1581152"/>
            <a:ext cx="5995988" cy="926306"/>
          </a:xfrm>
        </p:spPr>
        <p:txBody>
          <a:bodyPr anchor="b">
            <a:normAutofit/>
          </a:bodyPr>
          <a:lstStyle>
            <a:lvl1pPr algn="ctr">
              <a:defRPr sz="2000">
                <a:solidFill>
                  <a:schemeClr val="tx1">
                    <a:lumMod val="50000"/>
                  </a:schemeClr>
                </a:solidFill>
                <a:effectLst/>
              </a:defRPr>
            </a:lvl1pPr>
          </a:lstStyle>
          <a:p>
            <a:r>
              <a:rPr lang="zh-CN" altLang="en-US" dirty="0"/>
              <a:t>此处添加您的标题</a:t>
            </a:r>
            <a:endParaRPr lang="en-US" dirty="0"/>
          </a:p>
        </p:txBody>
      </p:sp>
      <p:sp>
        <p:nvSpPr>
          <p:cNvPr id="3" name="KSO_ST2"/>
          <p:cNvSpPr>
            <a:spLocks noGrp="1"/>
          </p:cNvSpPr>
          <p:nvPr>
            <p:ph type="body" idx="1" hasCustomPrompt="1"/>
          </p:nvPr>
        </p:nvSpPr>
        <p:spPr>
          <a:xfrm>
            <a:off x="3038171" y="2550318"/>
            <a:ext cx="3067663" cy="268109"/>
          </a:xfrm>
          <a:prstGeom prst="roundRect">
            <a:avLst>
              <a:gd name="adj" fmla="val 50000"/>
            </a:avLst>
          </a:prstGeom>
          <a:noFill/>
        </p:spPr>
        <p:txBody>
          <a:bodyPr anchor="ctr">
            <a:normAutofit/>
          </a:bodyPr>
          <a:lstStyle>
            <a:lvl1pPr marL="0" indent="0" algn="ctr">
              <a:buNone/>
              <a:defRPr sz="900">
                <a:solidFill>
                  <a:schemeClr val="tx1"/>
                </a:solidFill>
              </a:defRPr>
            </a:lvl1pPr>
            <a:lvl2pPr marL="257175" indent="0">
              <a:buNone/>
              <a:defRPr sz="1100">
                <a:solidFill>
                  <a:schemeClr val="tx1">
                    <a:tint val="75000"/>
                  </a:schemeClr>
                </a:solidFill>
              </a:defRPr>
            </a:lvl2pPr>
            <a:lvl3pPr marL="514350" indent="0">
              <a:buNone/>
              <a:defRPr sz="1000">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3341061"/>
      </p:ext>
    </p:extLst>
  </p:cSld>
  <p:clrMapOvr>
    <a:masterClrMapping/>
  </p:clrMapOvr>
  <p:extLst>
    <p:ext uri="{DCECCB84-F9BA-43D5-87BE-67443E8EF086}">
      <p15:sldGuideLst xmlns:p15="http://schemas.microsoft.com/office/powerpoint/2012/main" xmlns=""/>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049867" y="933453"/>
            <a:ext cx="3810000"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4" name="KSO_BC2"/>
          <p:cNvSpPr>
            <a:spLocks noGrp="1"/>
          </p:cNvSpPr>
          <p:nvPr>
            <p:ph sz="half" idx="2"/>
          </p:nvPr>
        </p:nvSpPr>
        <p:spPr>
          <a:xfrm>
            <a:off x="4889501" y="933453"/>
            <a:ext cx="3820587"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5"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157290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1727199" y="88899"/>
            <a:ext cx="6984076" cy="53776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4578" y="1032272"/>
            <a:ext cx="3868340"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4" name="KSO_BC1"/>
          <p:cNvSpPr>
            <a:spLocks noGrp="1"/>
          </p:cNvSpPr>
          <p:nvPr>
            <p:ph sz="half" idx="2"/>
          </p:nvPr>
        </p:nvSpPr>
        <p:spPr>
          <a:xfrm>
            <a:off x="824578" y="1650206"/>
            <a:ext cx="3868340" cy="2763441"/>
          </a:xfrm>
        </p:spPr>
        <p:txBody>
          <a:bodyPr/>
          <a:lstStyle/>
          <a:p>
            <a:pPr lvl="0"/>
            <a:r>
              <a:rPr lang="zh-CN" altLang="en-US"/>
              <a:t>单击此处编辑母版文本样式</a:t>
            </a:r>
          </a:p>
          <a:p>
            <a:pPr lvl="1"/>
            <a:r>
              <a:rPr lang="zh-CN" altLang="en-US"/>
              <a:t>第二级</a:t>
            </a:r>
          </a:p>
        </p:txBody>
      </p:sp>
      <p:sp>
        <p:nvSpPr>
          <p:cNvPr id="5" name="Text Placeholder 4"/>
          <p:cNvSpPr>
            <a:spLocks noGrp="1"/>
          </p:cNvSpPr>
          <p:nvPr>
            <p:ph type="body" sz="quarter" idx="3"/>
          </p:nvPr>
        </p:nvSpPr>
        <p:spPr>
          <a:xfrm>
            <a:off x="4823885" y="1032272"/>
            <a:ext cx="3887391"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6" name="KSO_BC2"/>
          <p:cNvSpPr>
            <a:spLocks noGrp="1"/>
          </p:cNvSpPr>
          <p:nvPr>
            <p:ph sz="quarter" idx="4"/>
          </p:nvPr>
        </p:nvSpPr>
        <p:spPr>
          <a:xfrm>
            <a:off x="4823885" y="1650206"/>
            <a:ext cx="3887391" cy="2763441"/>
          </a:xfrm>
        </p:spPr>
        <p:txBody>
          <a:bodyPr/>
          <a:lstStyle/>
          <a:p>
            <a:pPr lvl="0"/>
            <a:r>
              <a:rPr lang="zh-CN" altLang="en-US"/>
              <a:t>单击此处编辑母版文本样式</a:t>
            </a:r>
          </a:p>
          <a:p>
            <a:pPr lvl="1"/>
            <a:r>
              <a:rPr lang="zh-CN" altLang="en-US"/>
              <a:t>第二级</a:t>
            </a:r>
          </a:p>
        </p:txBody>
      </p:sp>
      <p:sp>
        <p:nvSpPr>
          <p:cNvPr id="7"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39508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975767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825798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858444" y="400052"/>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p:cNvSpPr>
          <p:nvPr>
            <p:ph idx="1"/>
          </p:nvPr>
        </p:nvSpPr>
        <p:spPr>
          <a:xfrm>
            <a:off x="4115992" y="797724"/>
            <a:ext cx="4629150" cy="3655219"/>
          </a:xfrm>
        </p:spPr>
        <p:txBody>
          <a:bodyPr>
            <a:normAutofit/>
          </a:bodyPr>
          <a:lstStyle>
            <a:lvl1pPr>
              <a:defRPr sz="1100"/>
            </a:lvl1pPr>
            <a:lvl2pPr>
              <a:defRPr sz="1000"/>
            </a:lvl2pPr>
            <a:lvl3pPr>
              <a:defRPr sz="900"/>
            </a:lvl3pPr>
            <a:lvl4pPr>
              <a:defRPr sz="800"/>
            </a:lvl4pPr>
            <a:lvl5pPr>
              <a:defRPr sz="800"/>
            </a:lvl5pPr>
            <a:lvl6pPr>
              <a:defRPr sz="1100"/>
            </a:lvl6pPr>
            <a:lvl7pPr>
              <a:defRPr sz="1100"/>
            </a:lvl7pPr>
            <a:lvl8pPr>
              <a:defRPr sz="1100"/>
            </a:lvl8pPr>
            <a:lvl9pPr>
              <a:defRPr sz="1100"/>
            </a:lvl9pPr>
          </a:lstStyle>
          <a:p>
            <a:pPr lvl="0"/>
            <a:r>
              <a:rPr lang="zh-CN" altLang="en-US"/>
              <a:t>单击此处编辑母版文本样式</a:t>
            </a:r>
          </a:p>
          <a:p>
            <a:pPr lvl="1"/>
            <a:r>
              <a:rPr lang="zh-CN" altLang="en-US"/>
              <a:t>第二级</a:t>
            </a:r>
          </a:p>
        </p:txBody>
      </p:sp>
      <p:sp>
        <p:nvSpPr>
          <p:cNvPr id="4" name="KSO_BC2"/>
          <p:cNvSpPr>
            <a:spLocks noGrp="1"/>
          </p:cNvSpPr>
          <p:nvPr>
            <p:ph type="body" sz="half" idx="2"/>
          </p:nvPr>
        </p:nvSpPr>
        <p:spPr>
          <a:xfrm>
            <a:off x="858444" y="1600202"/>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70248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934644" y="342900"/>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4082125" y="740572"/>
            <a:ext cx="4629150" cy="3655219"/>
          </a:xfrm>
        </p:spPr>
        <p:txBody>
          <a:bodyPr anchor="t"/>
          <a:lstStyle>
            <a:lvl1pPr marL="0" indent="0">
              <a:buNone/>
              <a:defRPr sz="1800"/>
            </a:lvl1pPr>
            <a:lvl2pPr marL="257175" indent="0">
              <a:buNone/>
              <a:defRPr sz="1600"/>
            </a:lvl2pPr>
            <a:lvl3pPr marL="514350" indent="0">
              <a:buNone/>
              <a:defRPr sz="1400"/>
            </a:lvl3pPr>
            <a:lvl4pPr marL="771525" indent="0">
              <a:buNone/>
              <a:defRPr sz="1100"/>
            </a:lvl4pPr>
            <a:lvl5pPr marL="1028700" indent="0">
              <a:buNone/>
              <a:defRPr sz="1100"/>
            </a:lvl5pPr>
            <a:lvl6pPr marL="1285875" indent="0">
              <a:buNone/>
              <a:defRPr sz="1100"/>
            </a:lvl6pPr>
            <a:lvl7pPr marL="1543050" indent="0">
              <a:buNone/>
              <a:defRPr sz="1100"/>
            </a:lvl7pPr>
            <a:lvl8pPr marL="1800225" indent="0">
              <a:buNone/>
              <a:defRPr sz="1100"/>
            </a:lvl8pPr>
            <a:lvl9pPr marL="2057400" indent="0">
              <a:buNone/>
              <a:defRPr sz="1100"/>
            </a:lvl9pPr>
          </a:lstStyle>
          <a:p>
            <a:r>
              <a:rPr lang="zh-CN" altLang="en-US"/>
              <a:t>单击图标添加图片</a:t>
            </a:r>
            <a:endParaRPr lang="en-US" dirty="0"/>
          </a:p>
        </p:txBody>
      </p:sp>
      <p:sp>
        <p:nvSpPr>
          <p:cNvPr id="4" name="KSO_BC2"/>
          <p:cNvSpPr>
            <a:spLocks noGrp="1"/>
          </p:cNvSpPr>
          <p:nvPr>
            <p:ph type="body" sz="half" idx="2"/>
          </p:nvPr>
        </p:nvSpPr>
        <p:spPr>
          <a:xfrm>
            <a:off x="934644" y="1543050"/>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49400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769067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7628469" y="273844"/>
            <a:ext cx="886883" cy="4358879"/>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1585383" y="273844"/>
            <a:ext cx="5949952" cy="4358879"/>
          </a:xfrm>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612963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3">
            <a:extLst>
              <a:ext uri="{28A0092B-C50C-407E-A947-70E740481C1C}">
                <a14:useLocalDpi xmlns:a14="http://schemas.microsoft.com/office/drawing/2010/main" val="0"/>
              </a:ext>
            </a:extLst>
          </a:blip>
          <a:srcRect l="1474" t="26028" r="6166" b="4484"/>
          <a:stretch/>
        </p:blipFill>
        <p:spPr>
          <a:xfrm>
            <a:off x="-2" y="1753372"/>
            <a:ext cx="5924552" cy="3390128"/>
          </a:xfrm>
          <a:prstGeom prst="rect">
            <a:avLst/>
          </a:prstGeom>
        </p:spPr>
      </p:pic>
      <p:sp>
        <p:nvSpPr>
          <p:cNvPr id="4" name="KSO_FD"/>
          <p:cNvSpPr>
            <a:spLocks noGrp="1"/>
          </p:cNvSpPr>
          <p:nvPr>
            <p:ph type="dt" sz="half" idx="2"/>
          </p:nvPr>
        </p:nvSpPr>
        <p:spPr>
          <a:xfrm>
            <a:off x="628650" y="4838703"/>
            <a:ext cx="2057400" cy="273844"/>
          </a:xfrm>
          <a:prstGeom prst="rect">
            <a:avLst/>
          </a:prstGeom>
        </p:spPr>
        <p:txBody>
          <a:bodyPr vert="horz" lIns="68580" tIns="34290" rIns="68580" bIns="34290" rtlCol="0" anchor="ctr"/>
          <a:lstStyle>
            <a:lvl1pPr algn="l">
              <a:defRPr sz="900">
                <a:solidFill>
                  <a:schemeClr val="tx1"/>
                </a:solidFill>
              </a:defRPr>
            </a:lvl1pPr>
          </a:lstStyle>
          <a:p>
            <a:fld id="{1FE7BD1D-B284-4506-85BF-D02BB5BA5E47}" type="datetimeFigureOut">
              <a:rPr lang="zh-CN" altLang="en-US" smtClean="0"/>
              <a:t>2024/11/30</a:t>
            </a:fld>
            <a:endParaRPr lang="zh-CN" altLang="en-US"/>
          </a:p>
        </p:txBody>
      </p:sp>
      <p:sp>
        <p:nvSpPr>
          <p:cNvPr id="5" name="KSO_FT"/>
          <p:cNvSpPr>
            <a:spLocks noGrp="1"/>
          </p:cNvSpPr>
          <p:nvPr>
            <p:ph type="ftr" sz="quarter" idx="3"/>
          </p:nvPr>
        </p:nvSpPr>
        <p:spPr>
          <a:xfrm>
            <a:off x="3028950" y="4838703"/>
            <a:ext cx="3086100" cy="273844"/>
          </a:xfrm>
          <a:prstGeom prst="rect">
            <a:avLst/>
          </a:prstGeom>
        </p:spPr>
        <p:txBody>
          <a:bodyPr vert="horz" lIns="68580" tIns="34290" rIns="68580" bIns="34290" rtlCol="0" anchor="ctr"/>
          <a:lstStyle>
            <a:lvl1pPr algn="ctr">
              <a:defRPr sz="900">
                <a:solidFill>
                  <a:schemeClr val="tx1"/>
                </a:solidFill>
              </a:defRPr>
            </a:lvl1pPr>
          </a:lstStyle>
          <a:p>
            <a:endParaRPr lang="zh-CN" altLang="en-US"/>
          </a:p>
        </p:txBody>
      </p:sp>
      <p:sp>
        <p:nvSpPr>
          <p:cNvPr id="6" name="KSO_FN"/>
          <p:cNvSpPr>
            <a:spLocks noGrp="1"/>
          </p:cNvSpPr>
          <p:nvPr>
            <p:ph type="sldNum" sz="quarter" idx="4"/>
          </p:nvPr>
        </p:nvSpPr>
        <p:spPr>
          <a:xfrm>
            <a:off x="6457950" y="4838703"/>
            <a:ext cx="2057400" cy="273844"/>
          </a:xfrm>
          <a:prstGeom prst="rect">
            <a:avLst/>
          </a:prstGeom>
        </p:spPr>
        <p:txBody>
          <a:bodyPr vert="horz" lIns="68580" tIns="34290" rIns="68580" bIns="34290" rtlCol="0" anchor="ctr"/>
          <a:lstStyle>
            <a:lvl1pPr algn="r">
              <a:defRPr sz="900">
                <a:solidFill>
                  <a:schemeClr val="tx1"/>
                </a:solidFill>
              </a:defRPr>
            </a:lvl1pPr>
          </a:lstStyle>
          <a:p>
            <a:fld id="{B175336B-BC74-4DD6-BD11-FD15792EF55D}" type="slidenum">
              <a:rPr lang="zh-CN" altLang="en-US" smtClean="0"/>
              <a:t>‹#›</a:t>
            </a:fld>
            <a:endParaRPr lang="zh-CN" altLang="en-US"/>
          </a:p>
        </p:txBody>
      </p:sp>
      <p:sp>
        <p:nvSpPr>
          <p:cNvPr id="3" name="KSO_BC1"/>
          <p:cNvSpPr>
            <a:spLocks noGrp="1"/>
          </p:cNvSpPr>
          <p:nvPr>
            <p:ph type="body" idx="1"/>
          </p:nvPr>
        </p:nvSpPr>
        <p:spPr>
          <a:xfrm>
            <a:off x="854015" y="850107"/>
            <a:ext cx="7866654" cy="3825107"/>
          </a:xfrm>
          <a:prstGeom prst="rect">
            <a:avLst/>
          </a:prstGeom>
        </p:spPr>
        <p:txBody>
          <a:bodyPr vert="horz" lIns="68580" tIns="34290" rIns="68580" bIns="34290" rtlCol="0">
            <a:normAutofit/>
          </a:bodyPr>
          <a:lstStyle/>
          <a:p>
            <a:pPr lvl="0"/>
            <a:r>
              <a:rPr lang="zh-CN" altLang="en-US" dirty="0"/>
              <a:t>单击此处编辑母版文本样式</a:t>
            </a:r>
          </a:p>
          <a:p>
            <a:pPr lvl="1"/>
            <a:r>
              <a:rPr lang="zh-CN" altLang="en-US" dirty="0"/>
              <a:t>第二级</a:t>
            </a:r>
          </a:p>
        </p:txBody>
      </p:sp>
      <p:sp>
        <p:nvSpPr>
          <p:cNvPr id="2" name="KSO_BT1"/>
          <p:cNvSpPr>
            <a:spLocks noGrp="1"/>
          </p:cNvSpPr>
          <p:nvPr>
            <p:ph type="title"/>
          </p:nvPr>
        </p:nvSpPr>
        <p:spPr>
          <a:xfrm>
            <a:off x="504826" y="160440"/>
            <a:ext cx="8215844" cy="597008"/>
          </a:xfrm>
          <a:prstGeom prst="rect">
            <a:avLst/>
          </a:prstGeom>
        </p:spPr>
        <p:txBody>
          <a:bodyPr vert="horz" lIns="68580" tIns="34290" rIns="68580" bIns="34290" rtlCol="0" anchor="ctr">
            <a:normAutofit/>
          </a:bodyPr>
          <a:lstStyle/>
          <a:p>
            <a:r>
              <a:rPr lang="zh-CN" altLang="en-US" dirty="0"/>
              <a:t>单击此处编辑母版标题样式</a:t>
            </a:r>
            <a:endParaRPr lang="en-US" dirty="0"/>
          </a:p>
        </p:txBody>
      </p:sp>
    </p:spTree>
    <p:extLst>
      <p:ext uri="{BB962C8B-B14F-4D97-AF65-F5344CB8AC3E}">
        <p14:creationId xmlns:p14="http://schemas.microsoft.com/office/powerpoint/2010/main" val="2821067487"/>
      </p:ext>
    </p:extLst>
  </p:cSld>
  <p:clrMap bg1="lt1" tx1="dk1" bg2="lt2" tx2="dk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txStyles>
    <p:titleStyle>
      <a:lvl1pPr algn="ctr" defTabSz="514350" rtl="0" eaLnBrk="1" latinLnBrk="0" hangingPunct="1">
        <a:lnSpc>
          <a:spcPct val="90000"/>
        </a:lnSpc>
        <a:spcBef>
          <a:spcPct val="0"/>
        </a:spcBef>
        <a:buNone/>
        <a:defRPr sz="2400" b="0" i="0" kern="1200" baseline="0">
          <a:solidFill>
            <a:schemeClr val="tx1">
              <a:lumMod val="50000"/>
            </a:schemeClr>
          </a:solidFill>
          <a:effectLst/>
          <a:latin typeface="+mj-ea"/>
          <a:ea typeface="+mj-ea"/>
          <a:cs typeface="+mj-cs"/>
        </a:defRPr>
      </a:lvl1pPr>
    </p:titleStyle>
    <p:bodyStyle>
      <a:lvl1pPr marL="271463" indent="-271463" algn="just" defTabSz="514350" rtl="0" eaLnBrk="1" latinLnBrk="0" hangingPunct="1">
        <a:lnSpc>
          <a:spcPct val="110000"/>
        </a:lnSpc>
        <a:spcBef>
          <a:spcPts val="900"/>
        </a:spcBef>
        <a:spcAft>
          <a:spcPts val="0"/>
        </a:spcAft>
        <a:buClr>
          <a:schemeClr val="accent2"/>
        </a:buClr>
        <a:buSzPct val="50000"/>
        <a:buFont typeface="Wingdings 2" panose="05020102010507070707" pitchFamily="18" charset="2"/>
        <a:buChar char=""/>
        <a:defRPr lang="zh-CN" altLang="en-US" sz="1800" b="1" kern="1200" baseline="0" dirty="0" smtClean="0">
          <a:solidFill>
            <a:schemeClr val="accent1"/>
          </a:solidFill>
          <a:latin typeface="+mn-ea"/>
          <a:ea typeface="+mn-ea"/>
          <a:cs typeface="+mn-cs"/>
        </a:defRPr>
      </a:lvl1pPr>
      <a:lvl2pPr marL="271463" indent="-271463" algn="just" defTabSz="514350" rtl="0" eaLnBrk="1" latinLnBrk="0" hangingPunct="1">
        <a:lnSpc>
          <a:spcPct val="120000"/>
        </a:lnSpc>
        <a:spcBef>
          <a:spcPts val="0"/>
        </a:spcBef>
        <a:spcAft>
          <a:spcPts val="900"/>
        </a:spcAft>
        <a:buClr>
          <a:schemeClr val="accent2">
            <a:lumMod val="60000"/>
            <a:lumOff val="40000"/>
          </a:schemeClr>
        </a:buClr>
        <a:buFont typeface="幼圆" panose="02010509060101010101" pitchFamily="49" charset="-122"/>
        <a:buChar char=" "/>
        <a:defRPr sz="1400" b="0" kern="1200" baseline="0">
          <a:solidFill>
            <a:schemeClr val="tx1"/>
          </a:solidFill>
          <a:latin typeface="+mn-ea"/>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00"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514350" rtl="0" eaLnBrk="1" latinLnBrk="0" hangingPunct="1">
        <a:defRPr sz="1000" kern="1200">
          <a:solidFill>
            <a:schemeClr val="tx1"/>
          </a:solidFill>
          <a:latin typeface="+mn-lt"/>
          <a:ea typeface="+mn-ea"/>
          <a:cs typeface="+mn-cs"/>
        </a:defRPr>
      </a:lvl1pPr>
      <a:lvl2pPr marL="257175" algn="l" defTabSz="514350" rtl="0" eaLnBrk="1" latinLnBrk="0" hangingPunct="1">
        <a:defRPr sz="1000" kern="1200">
          <a:solidFill>
            <a:schemeClr val="tx1"/>
          </a:solidFill>
          <a:latin typeface="+mn-lt"/>
          <a:ea typeface="+mn-ea"/>
          <a:cs typeface="+mn-cs"/>
        </a:defRPr>
      </a:lvl2pPr>
      <a:lvl3pPr marL="514350" algn="l" defTabSz="514350" rtl="0" eaLnBrk="1" latinLnBrk="0" hangingPunct="1">
        <a:defRPr sz="1000" kern="1200">
          <a:solidFill>
            <a:schemeClr val="tx1"/>
          </a:solidFill>
          <a:latin typeface="+mn-lt"/>
          <a:ea typeface="+mn-ea"/>
          <a:cs typeface="+mn-cs"/>
        </a:defRPr>
      </a:lvl3pPr>
      <a:lvl4pPr marL="771525" algn="l" defTabSz="514350" rtl="0" eaLnBrk="1" latinLnBrk="0" hangingPunct="1">
        <a:defRPr sz="1000" kern="1200">
          <a:solidFill>
            <a:schemeClr val="tx1"/>
          </a:solidFill>
          <a:latin typeface="+mn-lt"/>
          <a:ea typeface="+mn-ea"/>
          <a:cs typeface="+mn-cs"/>
        </a:defRPr>
      </a:lvl4pPr>
      <a:lvl5pPr marL="1028700" algn="l" defTabSz="514350" rtl="0" eaLnBrk="1" latinLnBrk="0" hangingPunct="1">
        <a:defRPr sz="1000" kern="1200">
          <a:solidFill>
            <a:schemeClr val="tx1"/>
          </a:solidFill>
          <a:latin typeface="+mn-lt"/>
          <a:ea typeface="+mn-ea"/>
          <a:cs typeface="+mn-cs"/>
        </a:defRPr>
      </a:lvl5pPr>
      <a:lvl6pPr marL="1285875" algn="l" defTabSz="514350" rtl="0" eaLnBrk="1" latinLnBrk="0" hangingPunct="1">
        <a:defRPr sz="1000" kern="1200">
          <a:solidFill>
            <a:schemeClr val="tx1"/>
          </a:solidFill>
          <a:latin typeface="+mn-lt"/>
          <a:ea typeface="+mn-ea"/>
          <a:cs typeface="+mn-cs"/>
        </a:defRPr>
      </a:lvl6pPr>
      <a:lvl7pPr marL="1543050" algn="l" defTabSz="514350" rtl="0" eaLnBrk="1" latinLnBrk="0" hangingPunct="1">
        <a:defRPr sz="1000" kern="1200">
          <a:solidFill>
            <a:schemeClr val="tx1"/>
          </a:solidFill>
          <a:latin typeface="+mn-lt"/>
          <a:ea typeface="+mn-ea"/>
          <a:cs typeface="+mn-cs"/>
        </a:defRPr>
      </a:lvl7pPr>
      <a:lvl8pPr marL="1800225" algn="l" defTabSz="514350" rtl="0" eaLnBrk="1" latinLnBrk="0" hangingPunct="1">
        <a:defRPr sz="1000" kern="1200">
          <a:solidFill>
            <a:schemeClr val="tx1"/>
          </a:solidFill>
          <a:latin typeface="+mn-lt"/>
          <a:ea typeface="+mn-ea"/>
          <a:cs typeface="+mn-cs"/>
        </a:defRPr>
      </a:lvl8pPr>
      <a:lvl9pPr marL="2057400" algn="l" defTabSz="51435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523220"/>
          </a:xfrm>
          <a:prstGeom prst="rect">
            <a:avLst/>
          </a:prstGeom>
          <a:noFill/>
        </p:spPr>
        <p:txBody>
          <a:bodyPr wrap="square" rtlCol="0">
            <a:spAutoFit/>
          </a:bodyPr>
          <a:lstStyle/>
          <a:p>
            <a:r>
              <a:rPr lang="zh-CN" altLang="en-US" sz="2800" b="1" dirty="0">
                <a:latin typeface="Times New Roman" pitchFamily="18" charset="0"/>
                <a:ea typeface="宋体" pitchFamily="2" charset="-122"/>
                <a:cs typeface="Times New Roman" pitchFamily="18" charset="0"/>
              </a:rPr>
              <a:t>五、砌体工程冬期施工</a:t>
            </a:r>
          </a:p>
        </p:txBody>
      </p:sp>
      <p:graphicFrame>
        <p:nvGraphicFramePr>
          <p:cNvPr id="2" name="表格 1"/>
          <p:cNvGraphicFramePr>
            <a:graphicFrameLocks noGrp="1"/>
          </p:cNvGraphicFramePr>
          <p:nvPr>
            <p:extLst>
              <p:ext uri="{D42A27DB-BD31-4B8C-83A1-F6EECF244321}">
                <p14:modId xmlns:p14="http://schemas.microsoft.com/office/powerpoint/2010/main" val="1987194664"/>
              </p:ext>
            </p:extLst>
          </p:nvPr>
        </p:nvGraphicFramePr>
        <p:xfrm>
          <a:off x="1043607" y="915567"/>
          <a:ext cx="8000848" cy="4176464"/>
        </p:xfrm>
        <a:graphic>
          <a:graphicData uri="http://schemas.openxmlformats.org/drawingml/2006/table">
            <a:tbl>
              <a:tblPr firstRow="1" firstCol="1" bandRow="1">
                <a:tableStyleId>{8A107856-5554-42FB-B03E-39F5DBC370BA}</a:tableStyleId>
              </a:tblPr>
              <a:tblGrid>
                <a:gridCol w="412506">
                  <a:extLst>
                    <a:ext uri="{9D8B030D-6E8A-4147-A177-3AD203B41FA5}">
                      <a16:colId xmlns:a16="http://schemas.microsoft.com/office/drawing/2014/main" xmlns="" val="20000"/>
                    </a:ext>
                  </a:extLst>
                </a:gridCol>
                <a:gridCol w="7588342">
                  <a:extLst>
                    <a:ext uri="{9D8B030D-6E8A-4147-A177-3AD203B41FA5}">
                      <a16:colId xmlns:a16="http://schemas.microsoft.com/office/drawing/2014/main" xmlns="" val="20001"/>
                    </a:ext>
                  </a:extLst>
                </a:gridCol>
              </a:tblGrid>
              <a:tr h="417647">
                <a:tc rowSpan="7">
                  <a:txBody>
                    <a:bodyPr/>
                    <a:lstStyle/>
                    <a:p>
                      <a:pPr algn="ctr">
                        <a:lnSpc>
                          <a:spcPct val="150000"/>
                        </a:lnSpc>
                        <a:spcAft>
                          <a:spcPts val="0"/>
                        </a:spcAft>
                      </a:pPr>
                      <a:r>
                        <a:rPr lang="zh-CN" sz="1600" b="1" kern="100" dirty="0">
                          <a:effectLst/>
                          <a:latin typeface="Times New Roman" pitchFamily="18" charset="0"/>
                          <a:ea typeface="宋体" pitchFamily="2" charset="-122"/>
                          <a:cs typeface="Times New Roman" pitchFamily="18" charset="0"/>
                        </a:rPr>
                        <a:t>砌体工程</a:t>
                      </a:r>
                    </a:p>
                  </a:txBody>
                  <a:tcPr marL="54131" marR="54131"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）冬期施工所用材料应符合下列规定：</a:t>
                      </a:r>
                    </a:p>
                  </a:txBody>
                  <a:tcPr marL="54131" marR="54131" marT="0" marB="0" anchor="ctr"/>
                </a:tc>
                <a:extLst>
                  <a:ext uri="{0D108BD9-81ED-4DB2-BD59-A6C34878D82A}">
                    <a16:rowId xmlns:a16="http://schemas.microsoft.com/office/drawing/2014/main" xmlns="" val="10000"/>
                  </a:ext>
                </a:extLst>
              </a:tr>
              <a:tr h="835292">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）砖、砌块在砌筑前，应清除表面污物、冰雪等，不得使用遭水浸和受冻后表面结冰、污染的砖或砌块；</a:t>
                      </a:r>
                    </a:p>
                  </a:txBody>
                  <a:tcPr marL="54131" marR="54131" marT="0" marB="0" anchor="ctr"/>
                </a:tc>
                <a:extLst>
                  <a:ext uri="{0D108BD9-81ED-4DB2-BD59-A6C34878D82A}">
                    <a16:rowId xmlns:a16="http://schemas.microsoft.com/office/drawing/2014/main" xmlns="" val="10001"/>
                  </a:ext>
                </a:extLst>
              </a:tr>
              <a:tr h="417647">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）砌筑砂浆宜采用普通硅酸盐水泥配制，不得使用无水泥拌制的砂浆；</a:t>
                      </a:r>
                    </a:p>
                  </a:txBody>
                  <a:tcPr marL="54131" marR="54131" marT="0" marB="0" anchor="ctr"/>
                </a:tc>
                <a:extLst>
                  <a:ext uri="{0D108BD9-81ED-4DB2-BD59-A6C34878D82A}">
                    <a16:rowId xmlns:a16="http://schemas.microsoft.com/office/drawing/2014/main" xmlns="" val="10002"/>
                  </a:ext>
                </a:extLst>
              </a:tr>
              <a:tr h="417647">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）现场拌制砂浆所用砂中不得含有直径大于</a:t>
                      </a:r>
                      <a:r>
                        <a:rPr lang="en-US" sz="1600" b="1" kern="100">
                          <a:effectLst/>
                          <a:latin typeface="Times New Roman" pitchFamily="18" charset="0"/>
                          <a:ea typeface="宋体" pitchFamily="2" charset="-122"/>
                          <a:cs typeface="Times New Roman" pitchFamily="18" charset="0"/>
                        </a:rPr>
                        <a:t>10mm</a:t>
                      </a:r>
                      <a:r>
                        <a:rPr lang="zh-CN" sz="1600" b="1" kern="100">
                          <a:effectLst/>
                          <a:latin typeface="Times New Roman" pitchFamily="18" charset="0"/>
                          <a:ea typeface="宋体" pitchFamily="2" charset="-122"/>
                          <a:cs typeface="Times New Roman" pitchFamily="18" charset="0"/>
                        </a:rPr>
                        <a:t>的冻结块或冰块；</a:t>
                      </a:r>
                    </a:p>
                  </a:txBody>
                  <a:tcPr marL="54131" marR="54131" marT="0" marB="0" anchor="ctr"/>
                </a:tc>
                <a:extLst>
                  <a:ext uri="{0D108BD9-81ED-4DB2-BD59-A6C34878D82A}">
                    <a16:rowId xmlns:a16="http://schemas.microsoft.com/office/drawing/2014/main" xmlns="" val="10003"/>
                  </a:ext>
                </a:extLst>
              </a:tr>
              <a:tr h="417647">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）石灰膏、电石渣膏等材料应有保温措施，遭冻结时应经融化后方可使用；</a:t>
                      </a:r>
                    </a:p>
                  </a:txBody>
                  <a:tcPr marL="54131" marR="54131" marT="0" marB="0" anchor="ctr"/>
                </a:tc>
                <a:extLst>
                  <a:ext uri="{0D108BD9-81ED-4DB2-BD59-A6C34878D82A}">
                    <a16:rowId xmlns:a16="http://schemas.microsoft.com/office/drawing/2014/main" xmlns="" val="10004"/>
                  </a:ext>
                </a:extLst>
              </a:tr>
              <a:tr h="835292">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）砂浆拌合水温不宜超过</a:t>
                      </a:r>
                      <a:r>
                        <a:rPr lang="en-US" sz="1600" b="1" kern="100">
                          <a:effectLst/>
                          <a:latin typeface="Times New Roman" pitchFamily="18" charset="0"/>
                          <a:ea typeface="宋体" pitchFamily="2" charset="-122"/>
                          <a:cs typeface="Times New Roman" pitchFamily="18" charset="0"/>
                        </a:rPr>
                        <a:t>80</a:t>
                      </a:r>
                      <a:r>
                        <a:rPr lang="zh-CN" sz="1600" b="1" kern="100">
                          <a:effectLst/>
                          <a:latin typeface="Times New Roman" pitchFamily="18" charset="0"/>
                          <a:ea typeface="宋体" pitchFamily="2" charset="-122"/>
                          <a:cs typeface="Times New Roman" pitchFamily="18" charset="0"/>
                        </a:rPr>
                        <a:t>℃，砂加热温度不宜超过</a:t>
                      </a:r>
                      <a:r>
                        <a:rPr lang="en-US" sz="1600" b="1" kern="100">
                          <a:effectLst/>
                          <a:latin typeface="Times New Roman" pitchFamily="18" charset="0"/>
                          <a:ea typeface="宋体" pitchFamily="2" charset="-122"/>
                          <a:cs typeface="Times New Roman" pitchFamily="18" charset="0"/>
                        </a:rPr>
                        <a:t>40</a:t>
                      </a:r>
                      <a:r>
                        <a:rPr lang="zh-CN" sz="1600" b="1" kern="100">
                          <a:effectLst/>
                          <a:latin typeface="Times New Roman" pitchFamily="18" charset="0"/>
                          <a:ea typeface="宋体" pitchFamily="2" charset="-122"/>
                          <a:cs typeface="Times New Roman" pitchFamily="18" charset="0"/>
                        </a:rPr>
                        <a:t>℃，且水泥不得与</a:t>
                      </a:r>
                      <a:r>
                        <a:rPr lang="en-US" sz="1600" b="1" kern="100">
                          <a:effectLst/>
                          <a:latin typeface="Times New Roman" pitchFamily="18" charset="0"/>
                          <a:ea typeface="宋体" pitchFamily="2" charset="-122"/>
                          <a:cs typeface="Times New Roman" pitchFamily="18" charset="0"/>
                        </a:rPr>
                        <a:t>80</a:t>
                      </a:r>
                      <a:r>
                        <a:rPr lang="zh-CN" sz="1600" b="1" kern="100">
                          <a:effectLst/>
                          <a:latin typeface="Times New Roman" pitchFamily="18" charset="0"/>
                          <a:ea typeface="宋体" pitchFamily="2" charset="-122"/>
                          <a:cs typeface="Times New Roman" pitchFamily="18" charset="0"/>
                        </a:rPr>
                        <a:t>℃以上热水直接接触；砂浆稠度宜较常温适当增大，且不得二次加水调整砂浆和易性。</a:t>
                      </a:r>
                    </a:p>
                  </a:txBody>
                  <a:tcPr marL="54131" marR="54131" marT="0" marB="0" anchor="ctr"/>
                </a:tc>
                <a:extLst>
                  <a:ext uri="{0D108BD9-81ED-4DB2-BD59-A6C34878D82A}">
                    <a16:rowId xmlns:a16="http://schemas.microsoft.com/office/drawing/2014/main" xmlns="" val="10005"/>
                  </a:ext>
                </a:extLst>
              </a:tr>
              <a:tr h="835292">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2</a:t>
                      </a:r>
                      <a:r>
                        <a:rPr lang="zh-CN" sz="1600" b="1" kern="100" dirty="0">
                          <a:effectLst/>
                          <a:latin typeface="Times New Roman" pitchFamily="18" charset="0"/>
                          <a:ea typeface="宋体" pitchFamily="2" charset="-122"/>
                          <a:cs typeface="Times New Roman" pitchFamily="18" charset="0"/>
                        </a:rPr>
                        <a:t>）砌筑施工时，砂浆温度不应低于</a:t>
                      </a:r>
                      <a:r>
                        <a:rPr lang="en-US" sz="1600" b="1" kern="100" dirty="0">
                          <a:effectLst/>
                          <a:latin typeface="Times New Roman" pitchFamily="18" charset="0"/>
                          <a:ea typeface="宋体" pitchFamily="2" charset="-122"/>
                          <a:cs typeface="Times New Roman" pitchFamily="18" charset="0"/>
                        </a:rPr>
                        <a:t>5</a:t>
                      </a:r>
                      <a:r>
                        <a:rPr lang="zh-CN" sz="1600" b="1" kern="100" dirty="0">
                          <a:effectLst/>
                          <a:latin typeface="Times New Roman" pitchFamily="18" charset="0"/>
                          <a:ea typeface="宋体" pitchFamily="2" charset="-122"/>
                          <a:cs typeface="Times New Roman" pitchFamily="18" charset="0"/>
                        </a:rPr>
                        <a:t>℃。当设计无要求，且最低气温等于或低</a:t>
                      </a:r>
                      <a:r>
                        <a:rPr lang="en-US" sz="1600" b="1" kern="100" dirty="0">
                          <a:effectLst/>
                          <a:latin typeface="Times New Roman" pitchFamily="18" charset="0"/>
                          <a:ea typeface="宋体" pitchFamily="2" charset="-122"/>
                          <a:cs typeface="Times New Roman" pitchFamily="18" charset="0"/>
                        </a:rPr>
                        <a:t>-15</a:t>
                      </a:r>
                      <a:r>
                        <a:rPr lang="zh-CN" sz="1600" b="1" kern="100" dirty="0">
                          <a:effectLst/>
                          <a:latin typeface="Times New Roman" pitchFamily="18" charset="0"/>
                          <a:ea typeface="宋体" pitchFamily="2" charset="-122"/>
                          <a:cs typeface="Times New Roman" pitchFamily="18" charset="0"/>
                        </a:rPr>
                        <a:t>℃时，砌体砂浆强度等级应较常温施工提高一级。</a:t>
                      </a:r>
                    </a:p>
                  </a:txBody>
                  <a:tcPr marL="54131" marR="54131" marT="0" marB="0" anchor="ct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875862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702408426"/>
              </p:ext>
            </p:extLst>
          </p:nvPr>
        </p:nvGraphicFramePr>
        <p:xfrm>
          <a:off x="1043607" y="411509"/>
          <a:ext cx="7992889" cy="4680520"/>
        </p:xfrm>
        <a:graphic>
          <a:graphicData uri="http://schemas.openxmlformats.org/drawingml/2006/table">
            <a:tbl>
              <a:tblPr firstRow="1" firstCol="1" bandRow="1">
                <a:tableStyleId>{0505E3EF-67EA-436B-97B2-0124C06EBD24}</a:tableStyleId>
              </a:tblPr>
              <a:tblGrid>
                <a:gridCol w="412096">
                  <a:extLst>
                    <a:ext uri="{9D8B030D-6E8A-4147-A177-3AD203B41FA5}">
                      <a16:colId xmlns:a16="http://schemas.microsoft.com/office/drawing/2014/main" xmlns="" val="20000"/>
                    </a:ext>
                  </a:extLst>
                </a:gridCol>
                <a:gridCol w="7580793">
                  <a:extLst>
                    <a:ext uri="{9D8B030D-6E8A-4147-A177-3AD203B41FA5}">
                      <a16:colId xmlns:a16="http://schemas.microsoft.com/office/drawing/2014/main" xmlns="" val="20001"/>
                    </a:ext>
                  </a:extLst>
                </a:gridCol>
              </a:tblGrid>
              <a:tr h="1040115">
                <a:tc rowSpan="7">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砌体工程</a:t>
                      </a:r>
                    </a:p>
                  </a:txBody>
                  <a:tcPr marL="54131" marR="54131"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）砌体采用氯盐砂浆施工，每日砌筑高度不宜超过</a:t>
                      </a:r>
                      <a:r>
                        <a:rPr lang="en-US" sz="1600" b="1" kern="100">
                          <a:effectLst/>
                          <a:latin typeface="Times New Roman" pitchFamily="18" charset="0"/>
                          <a:ea typeface="宋体" pitchFamily="2" charset="-122"/>
                          <a:cs typeface="Times New Roman" pitchFamily="18" charset="0"/>
                        </a:rPr>
                        <a:t>1.2m</a:t>
                      </a:r>
                      <a:r>
                        <a:rPr lang="zh-CN" sz="1600" b="1" kern="100">
                          <a:effectLst/>
                          <a:latin typeface="Times New Roman" pitchFamily="18" charset="0"/>
                          <a:ea typeface="宋体" pitchFamily="2" charset="-122"/>
                          <a:cs typeface="Times New Roman" pitchFamily="18" charset="0"/>
                        </a:rPr>
                        <a:t>，墙体留置的洞口，距交接墙处不应小于</a:t>
                      </a:r>
                      <a:r>
                        <a:rPr lang="en-US" sz="1600" b="1" kern="100">
                          <a:effectLst/>
                          <a:latin typeface="Times New Roman" pitchFamily="18" charset="0"/>
                          <a:ea typeface="宋体" pitchFamily="2" charset="-122"/>
                          <a:cs typeface="Times New Roman" pitchFamily="18" charset="0"/>
                        </a:rPr>
                        <a:t>500mm</a:t>
                      </a:r>
                      <a:r>
                        <a:rPr lang="zh-CN" sz="16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xmlns="" val="10000"/>
                  </a:ext>
                </a:extLst>
              </a:tr>
              <a:tr h="520058">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）下列情况不得采用掺氯盐的砂浆砌筑砌体：</a:t>
                      </a:r>
                    </a:p>
                  </a:txBody>
                  <a:tcPr marL="54131" marR="54131" marT="0" marB="0" anchor="ctr"/>
                </a:tc>
                <a:extLst>
                  <a:ext uri="{0D108BD9-81ED-4DB2-BD59-A6C34878D82A}">
                    <a16:rowId xmlns:a16="http://schemas.microsoft.com/office/drawing/2014/main" xmlns="" val="10001"/>
                  </a:ext>
                </a:extLst>
              </a:tr>
              <a:tr h="520058">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）对装饰工程有特殊要求的建筑物；</a:t>
                      </a:r>
                    </a:p>
                  </a:txBody>
                  <a:tcPr marL="54131" marR="54131" marT="0" marB="0" anchor="ctr"/>
                </a:tc>
                <a:extLst>
                  <a:ext uri="{0D108BD9-81ED-4DB2-BD59-A6C34878D82A}">
                    <a16:rowId xmlns:a16="http://schemas.microsoft.com/office/drawing/2014/main" xmlns="" val="10002"/>
                  </a:ext>
                </a:extLst>
              </a:tr>
              <a:tr h="520058">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）配筋、钢埋件无可靠防腐处理措施的砌体；</a:t>
                      </a:r>
                    </a:p>
                  </a:txBody>
                  <a:tcPr marL="54131" marR="54131" marT="0" marB="0" anchor="ctr"/>
                </a:tc>
                <a:extLst>
                  <a:ext uri="{0D108BD9-81ED-4DB2-BD59-A6C34878D82A}">
                    <a16:rowId xmlns:a16="http://schemas.microsoft.com/office/drawing/2014/main" xmlns="" val="10003"/>
                  </a:ext>
                </a:extLst>
              </a:tr>
              <a:tr h="520058">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）接近高压电线的建筑物（如变电所、发电站等）；</a:t>
                      </a:r>
                    </a:p>
                  </a:txBody>
                  <a:tcPr marL="54131" marR="54131" marT="0" marB="0" anchor="ctr"/>
                </a:tc>
                <a:extLst>
                  <a:ext uri="{0D108BD9-81ED-4DB2-BD59-A6C34878D82A}">
                    <a16:rowId xmlns:a16="http://schemas.microsoft.com/office/drawing/2014/main" xmlns="" val="10004"/>
                  </a:ext>
                </a:extLst>
              </a:tr>
              <a:tr h="520058">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）经常处于地下水位变化范围内，以及在地下未设防水层的结构。</a:t>
                      </a:r>
                    </a:p>
                  </a:txBody>
                  <a:tcPr marL="54131" marR="54131" marT="0" marB="0" anchor="ctr"/>
                </a:tc>
                <a:extLst>
                  <a:ext uri="{0D108BD9-81ED-4DB2-BD59-A6C34878D82A}">
                    <a16:rowId xmlns:a16="http://schemas.microsoft.com/office/drawing/2014/main" xmlns="" val="10005"/>
                  </a:ext>
                </a:extLst>
              </a:tr>
              <a:tr h="1040115">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5</a:t>
                      </a:r>
                      <a:r>
                        <a:rPr lang="zh-CN" sz="1600" b="1" kern="100" dirty="0">
                          <a:effectLst/>
                          <a:latin typeface="Times New Roman" pitchFamily="18" charset="0"/>
                          <a:ea typeface="宋体" pitchFamily="2" charset="-122"/>
                          <a:cs typeface="Times New Roman" pitchFamily="18" charset="0"/>
                        </a:rPr>
                        <a:t>）砂浆试块的留置，除应按常温规定的要求外，尚应增加一组与砌体同条件养护的试块，用于检验转入常温</a:t>
                      </a:r>
                      <a:r>
                        <a:rPr lang="en-US" sz="1600" b="1" kern="100" dirty="0">
                          <a:effectLst/>
                          <a:latin typeface="Times New Roman" pitchFamily="18" charset="0"/>
                          <a:ea typeface="宋体" pitchFamily="2" charset="-122"/>
                          <a:cs typeface="Times New Roman" pitchFamily="18" charset="0"/>
                        </a:rPr>
                        <a:t>28d</a:t>
                      </a:r>
                      <a:r>
                        <a:rPr lang="zh-CN" sz="1600" b="1" kern="100" dirty="0">
                          <a:effectLst/>
                          <a:latin typeface="Times New Roman" pitchFamily="18" charset="0"/>
                          <a:ea typeface="宋体" pitchFamily="2" charset="-122"/>
                          <a:cs typeface="Times New Roman" pitchFamily="18" charset="0"/>
                        </a:rPr>
                        <a:t>的强度。</a:t>
                      </a:r>
                    </a:p>
                  </a:txBody>
                  <a:tcPr marL="54131" marR="54131" marT="0" marB="0" anchor="ct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875862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523220"/>
          </a:xfrm>
          <a:prstGeom prst="rect">
            <a:avLst/>
          </a:prstGeom>
          <a:noFill/>
        </p:spPr>
        <p:txBody>
          <a:bodyPr wrap="square" rtlCol="0">
            <a:spAutoFit/>
          </a:bodyPr>
          <a:lstStyle/>
          <a:p>
            <a:r>
              <a:rPr lang="zh-CN" altLang="en-US" sz="2800" b="1" dirty="0">
                <a:latin typeface="Times New Roman" pitchFamily="18" charset="0"/>
                <a:ea typeface="宋体" pitchFamily="2" charset="-122"/>
                <a:cs typeface="Times New Roman" pitchFamily="18" charset="0"/>
              </a:rPr>
              <a:t>六、砌体工程雨期施工</a:t>
            </a:r>
          </a:p>
        </p:txBody>
      </p:sp>
      <p:graphicFrame>
        <p:nvGraphicFramePr>
          <p:cNvPr id="2" name="表格 1"/>
          <p:cNvGraphicFramePr>
            <a:graphicFrameLocks noGrp="1"/>
          </p:cNvGraphicFramePr>
          <p:nvPr>
            <p:extLst>
              <p:ext uri="{D42A27DB-BD31-4B8C-83A1-F6EECF244321}">
                <p14:modId xmlns:p14="http://schemas.microsoft.com/office/powerpoint/2010/main" val="2910355997"/>
              </p:ext>
            </p:extLst>
          </p:nvPr>
        </p:nvGraphicFramePr>
        <p:xfrm>
          <a:off x="1043607" y="915565"/>
          <a:ext cx="8000848" cy="4176466"/>
        </p:xfrm>
        <a:graphic>
          <a:graphicData uri="http://schemas.openxmlformats.org/drawingml/2006/table">
            <a:tbl>
              <a:tblPr firstRow="1" firstCol="1" bandRow="1">
                <a:tableStyleId>{C4B1156A-380E-4F78-BDF5-A606A8083BF9}</a:tableStyleId>
              </a:tblPr>
              <a:tblGrid>
                <a:gridCol w="558990">
                  <a:extLst>
                    <a:ext uri="{9D8B030D-6E8A-4147-A177-3AD203B41FA5}">
                      <a16:colId xmlns:a16="http://schemas.microsoft.com/office/drawing/2014/main" xmlns="" val="20000"/>
                    </a:ext>
                  </a:extLst>
                </a:gridCol>
                <a:gridCol w="7441858">
                  <a:extLst>
                    <a:ext uri="{9D8B030D-6E8A-4147-A177-3AD203B41FA5}">
                      <a16:colId xmlns:a16="http://schemas.microsoft.com/office/drawing/2014/main" xmlns="" val="20001"/>
                    </a:ext>
                  </a:extLst>
                </a:gridCol>
              </a:tblGrid>
              <a:tr h="1044117">
                <a:tc rowSpan="4">
                  <a:txBody>
                    <a:bodyPr/>
                    <a:lstStyle/>
                    <a:p>
                      <a:pPr algn="ctr">
                        <a:lnSpc>
                          <a:spcPct val="150000"/>
                        </a:lnSpc>
                        <a:spcAft>
                          <a:spcPts val="0"/>
                        </a:spcAft>
                      </a:pPr>
                      <a:r>
                        <a:rPr lang="zh-CN" sz="1700" b="1" kern="100" dirty="0">
                          <a:effectLst/>
                          <a:latin typeface="Times New Roman" pitchFamily="18" charset="0"/>
                          <a:ea typeface="宋体" pitchFamily="2" charset="-122"/>
                          <a:cs typeface="Times New Roman" pitchFamily="18" charset="0"/>
                        </a:rPr>
                        <a:t>砌体工程</a:t>
                      </a:r>
                    </a:p>
                  </a:txBody>
                  <a:tcPr marL="54131" marR="54131" marT="0" marB="0" anchor="ctr"/>
                </a:tc>
                <a:tc>
                  <a:txBody>
                    <a:bodyPr/>
                    <a:lstStyle/>
                    <a:p>
                      <a:pPr algn="just">
                        <a:lnSpc>
                          <a:spcPct val="150000"/>
                        </a:lnSpc>
                        <a:spcAft>
                          <a:spcPts val="0"/>
                        </a:spcAft>
                      </a:pPr>
                      <a:r>
                        <a:rPr lang="zh-CN" sz="1700" b="1" kern="100">
                          <a:effectLst/>
                          <a:latin typeface="Times New Roman" pitchFamily="18" charset="0"/>
                          <a:ea typeface="宋体" pitchFamily="2" charset="-122"/>
                          <a:cs typeface="Times New Roman" pitchFamily="18" charset="0"/>
                        </a:rPr>
                        <a:t>（</a:t>
                      </a:r>
                      <a:r>
                        <a:rPr lang="en-US" sz="1700" b="1" kern="100">
                          <a:effectLst/>
                          <a:latin typeface="Times New Roman" pitchFamily="18" charset="0"/>
                          <a:ea typeface="宋体" pitchFamily="2" charset="-122"/>
                          <a:cs typeface="Times New Roman" pitchFamily="18" charset="0"/>
                        </a:rPr>
                        <a:t>1</a:t>
                      </a:r>
                      <a:r>
                        <a:rPr lang="zh-CN" sz="1700" b="1" kern="100">
                          <a:effectLst/>
                          <a:latin typeface="Times New Roman" pitchFamily="18" charset="0"/>
                          <a:ea typeface="宋体" pitchFamily="2" charset="-122"/>
                          <a:cs typeface="Times New Roman" pitchFamily="18" charset="0"/>
                        </a:rPr>
                        <a:t>）雨天不应在露天砌筑墙体，对下雨当日砌筑的墙体应进行遮盖。继续施工时，应复核墙体的垂直度，如果垂直度超过允许偏差，应拆除重新砌筑。</a:t>
                      </a:r>
                    </a:p>
                  </a:txBody>
                  <a:tcPr marL="54131" marR="54131" marT="0" marB="0" anchor="ctr"/>
                </a:tc>
                <a:extLst>
                  <a:ext uri="{0D108BD9-81ED-4DB2-BD59-A6C34878D82A}">
                    <a16:rowId xmlns:a16="http://schemas.microsoft.com/office/drawing/2014/main" xmlns="" val="10000"/>
                  </a:ext>
                </a:extLst>
              </a:tr>
              <a:tr h="1566174">
                <a:tc vMerge="1">
                  <a:txBody>
                    <a:bodyPr/>
                    <a:lstStyle/>
                    <a:p>
                      <a:endParaRPr lang="zh-CN" altLang="en-US"/>
                    </a:p>
                  </a:txBody>
                  <a:tcPr/>
                </a:tc>
                <a:tc>
                  <a:txBody>
                    <a:bodyPr/>
                    <a:lstStyle/>
                    <a:p>
                      <a:pPr algn="just">
                        <a:lnSpc>
                          <a:spcPct val="150000"/>
                        </a:lnSpc>
                        <a:spcAft>
                          <a:spcPts val="0"/>
                        </a:spcAft>
                      </a:pPr>
                      <a:r>
                        <a:rPr lang="zh-CN" sz="1700" b="1" kern="100">
                          <a:effectLst/>
                          <a:latin typeface="Times New Roman" pitchFamily="18" charset="0"/>
                          <a:ea typeface="宋体" pitchFamily="2" charset="-122"/>
                          <a:cs typeface="Times New Roman" pitchFamily="18" charset="0"/>
                        </a:rPr>
                        <a:t>（</a:t>
                      </a:r>
                      <a:r>
                        <a:rPr lang="en-US" sz="1700" b="1" kern="100">
                          <a:effectLst/>
                          <a:latin typeface="Times New Roman" pitchFamily="18" charset="0"/>
                          <a:ea typeface="宋体" pitchFamily="2" charset="-122"/>
                          <a:cs typeface="Times New Roman" pitchFamily="18" charset="0"/>
                        </a:rPr>
                        <a:t>2</a:t>
                      </a:r>
                      <a:r>
                        <a:rPr lang="zh-CN" sz="1700" b="1" kern="100">
                          <a:effectLst/>
                          <a:latin typeface="Times New Roman" pitchFamily="18" charset="0"/>
                          <a:ea typeface="宋体" pitchFamily="2" charset="-122"/>
                          <a:cs typeface="Times New Roman" pitchFamily="18" charset="0"/>
                        </a:rPr>
                        <a:t>）砌体结构工程使用的湿拌砂浆，除直接使用外必须储存在不吸水的专用容器内，并根据气候条件采取遮阳、保温、防雨等措施，砂浆在使用过程中严禁随意加水。</a:t>
                      </a:r>
                    </a:p>
                  </a:txBody>
                  <a:tcPr marL="54131" marR="54131" marT="0" marB="0" anchor="ctr"/>
                </a:tc>
                <a:extLst>
                  <a:ext uri="{0D108BD9-81ED-4DB2-BD59-A6C34878D82A}">
                    <a16:rowId xmlns:a16="http://schemas.microsoft.com/office/drawing/2014/main" xmlns="" val="10001"/>
                  </a:ext>
                </a:extLst>
              </a:tr>
              <a:tr h="1044117">
                <a:tc vMerge="1">
                  <a:txBody>
                    <a:bodyPr/>
                    <a:lstStyle/>
                    <a:p>
                      <a:endParaRPr lang="zh-CN" altLang="en-US"/>
                    </a:p>
                  </a:txBody>
                  <a:tcPr/>
                </a:tc>
                <a:tc>
                  <a:txBody>
                    <a:bodyPr/>
                    <a:lstStyle/>
                    <a:p>
                      <a:pPr algn="just">
                        <a:lnSpc>
                          <a:spcPct val="150000"/>
                        </a:lnSpc>
                        <a:spcAft>
                          <a:spcPts val="0"/>
                        </a:spcAft>
                      </a:pPr>
                      <a:r>
                        <a:rPr lang="zh-CN" sz="1700" b="1" kern="100">
                          <a:effectLst/>
                          <a:latin typeface="Times New Roman" pitchFamily="18" charset="0"/>
                          <a:ea typeface="宋体" pitchFamily="2" charset="-122"/>
                          <a:cs typeface="Times New Roman" pitchFamily="18" charset="0"/>
                        </a:rPr>
                        <a:t>（</a:t>
                      </a:r>
                      <a:r>
                        <a:rPr lang="en-US" sz="1700" b="1" kern="100">
                          <a:effectLst/>
                          <a:latin typeface="Times New Roman" pitchFamily="18" charset="0"/>
                          <a:ea typeface="宋体" pitchFamily="2" charset="-122"/>
                          <a:cs typeface="Times New Roman" pitchFamily="18" charset="0"/>
                        </a:rPr>
                        <a:t>3</a:t>
                      </a:r>
                      <a:r>
                        <a:rPr lang="zh-CN" sz="1700" b="1" kern="100">
                          <a:effectLst/>
                          <a:latin typeface="Times New Roman" pitchFamily="18" charset="0"/>
                          <a:ea typeface="宋体" pitchFamily="2" charset="-122"/>
                          <a:cs typeface="Times New Roman" pitchFamily="18" charset="0"/>
                        </a:rPr>
                        <a:t>）对砖堆加以保护，确保块体湿润度不超过规定，淋雨过湿的砖不得使用，雨天及小砌块表面有浮水时，不得施工。</a:t>
                      </a:r>
                    </a:p>
                  </a:txBody>
                  <a:tcPr marL="54131" marR="54131" marT="0" marB="0" anchor="ctr"/>
                </a:tc>
                <a:extLst>
                  <a:ext uri="{0D108BD9-81ED-4DB2-BD59-A6C34878D82A}">
                    <a16:rowId xmlns:a16="http://schemas.microsoft.com/office/drawing/2014/main" xmlns="" val="10002"/>
                  </a:ext>
                </a:extLst>
              </a:tr>
              <a:tr h="522058">
                <a:tc vMerge="1">
                  <a:txBody>
                    <a:bodyPr/>
                    <a:lstStyle/>
                    <a:p>
                      <a:endParaRPr lang="zh-CN" altLang="en-US"/>
                    </a:p>
                  </a:txBody>
                  <a:tcPr/>
                </a:tc>
                <a:tc>
                  <a:txBody>
                    <a:bodyPr/>
                    <a:lstStyle/>
                    <a:p>
                      <a:pPr algn="just">
                        <a:lnSpc>
                          <a:spcPct val="150000"/>
                        </a:lnSpc>
                        <a:spcAft>
                          <a:spcPts val="0"/>
                        </a:spcAft>
                      </a:pPr>
                      <a:r>
                        <a:rPr lang="zh-CN" sz="1700" b="1" kern="100" dirty="0">
                          <a:effectLst/>
                          <a:latin typeface="Times New Roman" pitchFamily="18" charset="0"/>
                          <a:ea typeface="宋体" pitchFamily="2" charset="-122"/>
                          <a:cs typeface="Times New Roman" pitchFamily="18" charset="0"/>
                        </a:rPr>
                        <a:t>（</a:t>
                      </a:r>
                      <a:r>
                        <a:rPr lang="en-US" sz="1700" b="1" kern="100" dirty="0">
                          <a:effectLst/>
                          <a:latin typeface="Times New Roman" pitchFamily="18" charset="0"/>
                          <a:ea typeface="宋体" pitchFamily="2" charset="-122"/>
                          <a:cs typeface="Times New Roman" pitchFamily="18" charset="0"/>
                        </a:rPr>
                        <a:t>4</a:t>
                      </a:r>
                      <a:r>
                        <a:rPr lang="zh-CN" sz="1700" b="1" kern="100" dirty="0">
                          <a:effectLst/>
                          <a:latin typeface="Times New Roman" pitchFamily="18" charset="0"/>
                          <a:ea typeface="宋体" pitchFamily="2" charset="-122"/>
                          <a:cs typeface="Times New Roman" pitchFamily="18" charset="0"/>
                        </a:rPr>
                        <a:t>）每天砌筑高度不得超过</a:t>
                      </a:r>
                      <a:r>
                        <a:rPr lang="en-US" sz="1700" b="1" kern="100" dirty="0">
                          <a:effectLst/>
                          <a:latin typeface="Times New Roman" pitchFamily="18" charset="0"/>
                          <a:ea typeface="宋体" pitchFamily="2" charset="-122"/>
                          <a:cs typeface="Times New Roman" pitchFamily="18" charset="0"/>
                        </a:rPr>
                        <a:t>1.2m</a:t>
                      </a:r>
                      <a:r>
                        <a:rPr lang="zh-CN" sz="1700" b="1" kern="100" dirty="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3875862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523220"/>
          </a:xfrm>
          <a:prstGeom prst="rect">
            <a:avLst/>
          </a:prstGeom>
          <a:noFill/>
        </p:spPr>
        <p:txBody>
          <a:bodyPr wrap="square" rtlCol="0">
            <a:spAutoFit/>
          </a:bodyPr>
          <a:lstStyle/>
          <a:p>
            <a:r>
              <a:rPr lang="zh-CN" altLang="en-US" sz="2800" b="1" dirty="0">
                <a:latin typeface="Times New Roman" pitchFamily="18" charset="0"/>
                <a:ea typeface="宋体" pitchFamily="2" charset="-122"/>
                <a:cs typeface="Times New Roman" pitchFamily="18" charset="0"/>
              </a:rPr>
              <a:t>七、砌体工程高温天气施工</a:t>
            </a:r>
          </a:p>
        </p:txBody>
      </p:sp>
      <p:graphicFrame>
        <p:nvGraphicFramePr>
          <p:cNvPr id="2" name="表格 1"/>
          <p:cNvGraphicFramePr>
            <a:graphicFrameLocks noGrp="1"/>
          </p:cNvGraphicFramePr>
          <p:nvPr>
            <p:extLst>
              <p:ext uri="{D42A27DB-BD31-4B8C-83A1-F6EECF244321}">
                <p14:modId xmlns:p14="http://schemas.microsoft.com/office/powerpoint/2010/main" val="2819777737"/>
              </p:ext>
            </p:extLst>
          </p:nvPr>
        </p:nvGraphicFramePr>
        <p:xfrm>
          <a:off x="971600" y="987574"/>
          <a:ext cx="8064896" cy="4032448"/>
        </p:xfrm>
        <a:graphic>
          <a:graphicData uri="http://schemas.openxmlformats.org/drawingml/2006/table">
            <a:tbl>
              <a:tblPr firstRow="1" firstCol="1" bandRow="1">
                <a:tableStyleId>{22838BEF-8BB2-4498-84A7-C5851F593DF1}</a:tableStyleId>
              </a:tblPr>
              <a:tblGrid>
                <a:gridCol w="637293">
                  <a:extLst>
                    <a:ext uri="{9D8B030D-6E8A-4147-A177-3AD203B41FA5}">
                      <a16:colId xmlns:a16="http://schemas.microsoft.com/office/drawing/2014/main" xmlns="" val="20000"/>
                    </a:ext>
                  </a:extLst>
                </a:gridCol>
                <a:gridCol w="7427603">
                  <a:extLst>
                    <a:ext uri="{9D8B030D-6E8A-4147-A177-3AD203B41FA5}">
                      <a16:colId xmlns:a16="http://schemas.microsoft.com/office/drawing/2014/main" xmlns="" val="20001"/>
                    </a:ext>
                  </a:extLst>
                </a:gridCol>
              </a:tblGrid>
              <a:tr h="2016224">
                <a:tc rowSpan="3">
                  <a:txBody>
                    <a:bodyPr/>
                    <a:lstStyle/>
                    <a:p>
                      <a:pPr algn="ctr">
                        <a:lnSpc>
                          <a:spcPct val="200000"/>
                        </a:lnSpc>
                        <a:spcAft>
                          <a:spcPts val="0"/>
                        </a:spcAft>
                      </a:pPr>
                      <a:r>
                        <a:rPr lang="zh-CN" sz="1600" b="1" kern="100" dirty="0">
                          <a:effectLst/>
                          <a:latin typeface="Times New Roman" pitchFamily="18" charset="0"/>
                          <a:ea typeface="宋体" pitchFamily="2" charset="-122"/>
                          <a:cs typeface="Times New Roman" pitchFamily="18" charset="0"/>
                        </a:rPr>
                        <a:t>砌体工程</a:t>
                      </a:r>
                    </a:p>
                  </a:txBody>
                  <a:tcPr marL="54131" marR="54131" marT="0" marB="0" anchor="ctr"/>
                </a:tc>
                <a:tc>
                  <a:txBody>
                    <a:bodyPr/>
                    <a:lstStyle/>
                    <a:p>
                      <a:pPr algn="just">
                        <a:lnSpc>
                          <a:spcPct val="20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）现场拌制的砂浆应随拌随用，当施工期间最高气温超过</a:t>
                      </a:r>
                      <a:r>
                        <a:rPr lang="en-US" sz="1600" b="1" kern="100">
                          <a:effectLst/>
                          <a:latin typeface="Times New Roman" pitchFamily="18" charset="0"/>
                          <a:ea typeface="宋体" pitchFamily="2" charset="-122"/>
                          <a:cs typeface="Times New Roman" pitchFamily="18" charset="0"/>
                        </a:rPr>
                        <a:t>30</a:t>
                      </a:r>
                      <a:r>
                        <a:rPr lang="zh-CN" sz="1600" b="1" kern="100">
                          <a:effectLst/>
                          <a:latin typeface="Times New Roman" pitchFamily="18" charset="0"/>
                          <a:ea typeface="宋体" pitchFamily="2" charset="-122"/>
                          <a:cs typeface="Times New Roman" pitchFamily="18" charset="0"/>
                        </a:rPr>
                        <a:t>℃时，应在</a:t>
                      </a:r>
                      <a:r>
                        <a:rPr lang="en-US" sz="1600" b="1" kern="100">
                          <a:effectLst/>
                          <a:latin typeface="Times New Roman" pitchFamily="18" charset="0"/>
                          <a:ea typeface="宋体" pitchFamily="2" charset="-122"/>
                          <a:cs typeface="Times New Roman" pitchFamily="18" charset="0"/>
                        </a:rPr>
                        <a:t>2h</a:t>
                      </a:r>
                      <a:r>
                        <a:rPr lang="zh-CN" sz="1600" b="1" kern="100">
                          <a:effectLst/>
                          <a:latin typeface="Times New Roman" pitchFamily="18" charset="0"/>
                          <a:ea typeface="宋体" pitchFamily="2" charset="-122"/>
                          <a:cs typeface="Times New Roman" pitchFamily="18" charset="0"/>
                        </a:rPr>
                        <a:t>内使用完毕。预拌砂浆及蒸压加气混凝土砌块专用砂浆的使用时间应按照厂方提供的说明书确定。</a:t>
                      </a:r>
                    </a:p>
                  </a:txBody>
                  <a:tcPr marL="54131" marR="54131" marT="0" marB="0" anchor="ctr"/>
                </a:tc>
                <a:extLst>
                  <a:ext uri="{0D108BD9-81ED-4DB2-BD59-A6C34878D82A}">
                    <a16:rowId xmlns:a16="http://schemas.microsoft.com/office/drawing/2014/main" xmlns="" val="10000"/>
                  </a:ext>
                </a:extLst>
              </a:tr>
              <a:tr h="672075">
                <a:tc vMerge="1">
                  <a:txBody>
                    <a:bodyPr/>
                    <a:lstStyle/>
                    <a:p>
                      <a:endParaRPr lang="zh-CN" altLang="en-US"/>
                    </a:p>
                  </a:txBody>
                  <a:tcPr/>
                </a:tc>
                <a:tc>
                  <a:txBody>
                    <a:bodyPr/>
                    <a:lstStyle/>
                    <a:p>
                      <a:pPr algn="just">
                        <a:lnSpc>
                          <a:spcPct val="20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）采用铺浆法砌筑砌体，施工期间气温超过</a:t>
                      </a:r>
                      <a:r>
                        <a:rPr lang="en-US" sz="1600" b="1" kern="100">
                          <a:effectLst/>
                          <a:latin typeface="Times New Roman" pitchFamily="18" charset="0"/>
                          <a:ea typeface="宋体" pitchFamily="2" charset="-122"/>
                          <a:cs typeface="Times New Roman" pitchFamily="18" charset="0"/>
                        </a:rPr>
                        <a:t>30</a:t>
                      </a:r>
                      <a:r>
                        <a:rPr lang="zh-CN" sz="1600" b="1" kern="100">
                          <a:effectLst/>
                          <a:latin typeface="Times New Roman" pitchFamily="18" charset="0"/>
                          <a:ea typeface="宋体" pitchFamily="2" charset="-122"/>
                          <a:cs typeface="Times New Roman" pitchFamily="18" charset="0"/>
                        </a:rPr>
                        <a:t>℃时，铺浆长度不得超过</a:t>
                      </a:r>
                      <a:r>
                        <a:rPr lang="en-US" sz="1600" b="1" kern="100">
                          <a:effectLst/>
                          <a:latin typeface="Times New Roman" pitchFamily="18" charset="0"/>
                          <a:ea typeface="宋体" pitchFamily="2" charset="-122"/>
                          <a:cs typeface="Times New Roman" pitchFamily="18" charset="0"/>
                        </a:rPr>
                        <a:t>500mm</a:t>
                      </a:r>
                      <a:r>
                        <a:rPr lang="zh-CN" sz="16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xmlns="" val="10001"/>
                  </a:ext>
                </a:extLst>
              </a:tr>
              <a:tr h="1344149">
                <a:tc vMerge="1">
                  <a:txBody>
                    <a:bodyPr/>
                    <a:lstStyle/>
                    <a:p>
                      <a:endParaRPr lang="zh-CN" altLang="en-US"/>
                    </a:p>
                  </a:txBody>
                  <a:tcPr/>
                </a:tc>
                <a:tc>
                  <a:txBody>
                    <a:bodyPr/>
                    <a:lstStyle/>
                    <a:p>
                      <a:pPr algn="just">
                        <a:lnSpc>
                          <a:spcPct val="20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3</a:t>
                      </a:r>
                      <a:r>
                        <a:rPr lang="zh-CN" sz="1600" b="1" kern="100" dirty="0">
                          <a:effectLst/>
                          <a:latin typeface="Times New Roman" pitchFamily="18" charset="0"/>
                          <a:ea typeface="宋体" pitchFamily="2" charset="-122"/>
                          <a:cs typeface="Times New Roman" pitchFamily="18" charset="0"/>
                        </a:rPr>
                        <a:t>）砌筑普通混凝土小型空心砌块砌体，遇天气干燥炎热，宜在砌筑前对其喷水湿润。</a:t>
                      </a:r>
                    </a:p>
                  </a:txBody>
                  <a:tcPr marL="54131" marR="54131" marT="0" marB="0" anchor="ct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3875862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RESOURCELIBID_PRE" val="13076"/>
  <p:tag name="MH_CONTENTSID" val="264"/>
  <p:tag name="MH_SECTIONID" val="265,"/>
</p:tagLst>
</file>

<file path=ppt/theme/theme1.xml><?xml version="1.0" encoding="utf-8"?>
<a:theme xmlns:a="http://schemas.openxmlformats.org/drawingml/2006/main" name="A000120140530A99PPBG">
  <a:themeElements>
    <a:clrScheme name="KSO_BLUE9">
      <a:dk1>
        <a:srgbClr val="47494B"/>
      </a:dk1>
      <a:lt1>
        <a:srgbClr val="FFFFFF"/>
      </a:lt1>
      <a:dk2>
        <a:srgbClr val="454749"/>
      </a:dk2>
      <a:lt2>
        <a:srgbClr val="EAF5FC"/>
      </a:lt2>
      <a:accent1>
        <a:srgbClr val="046FB6"/>
      </a:accent1>
      <a:accent2>
        <a:srgbClr val="22B1DE"/>
      </a:accent2>
      <a:accent3>
        <a:srgbClr val="7B93D7"/>
      </a:accent3>
      <a:accent4>
        <a:srgbClr val="5D76BA"/>
      </a:accent4>
      <a:accent5>
        <a:srgbClr val="3DBFD1"/>
      </a:accent5>
      <a:accent6>
        <a:srgbClr val="FFC000"/>
      </a:accent6>
      <a:hlink>
        <a:srgbClr val="00B0F0"/>
      </a:hlink>
      <a:folHlink>
        <a:srgbClr val="AFB2B4"/>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636869495982041620</Template>
  <TotalTime>7774</TotalTime>
  <Words>668</Words>
  <Application>Microsoft Office PowerPoint</Application>
  <PresentationFormat>全屏显示(16:9)</PresentationFormat>
  <Paragraphs>32</Paragraphs>
  <Slides>4</Slides>
  <Notes>0</Notes>
  <HiddenSlides>0</HiddenSlides>
  <MMClips>0</MMClips>
  <ScaleCrop>false</ScaleCrop>
  <HeadingPairs>
    <vt:vector size="4" baseType="variant">
      <vt:variant>
        <vt:lpstr>主题</vt:lpstr>
      </vt:variant>
      <vt:variant>
        <vt:i4>1</vt:i4>
      </vt:variant>
      <vt:variant>
        <vt:lpstr>幻灯片标题</vt:lpstr>
      </vt:variant>
      <vt:variant>
        <vt:i4>4</vt:i4>
      </vt:variant>
    </vt:vector>
  </HeadingPairs>
  <TitlesOfParts>
    <vt:vector size="5" baseType="lpstr">
      <vt:lpstr>A000120140530A99PPBG</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Lenovo</cp:lastModifiedBy>
  <cp:revision>882</cp:revision>
  <dcterms:created xsi:type="dcterms:W3CDTF">2019-02-28T02:56:41Z</dcterms:created>
  <dcterms:modified xsi:type="dcterms:W3CDTF">2024-11-30T09:17:14Z</dcterms:modified>
</cp:coreProperties>
</file>