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22"/>
  </p:notesMasterIdLst>
  <p:sldIdLst>
    <p:sldId id="39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</p:sldIdLst>
  <p:sldSz cx="9144000" cy="5143500" type="screen16x9"/>
  <p:notesSz cx="6858000" cy="9144000"/>
  <p:custDataLst>
    <p:tags r:id="rId23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>
      <p:cViewPr varScale="1">
        <p:scale>
          <a:sx n="119" d="100"/>
          <a:sy n="119" d="100"/>
        </p:scale>
        <p:origin x="55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1FD500-0130-4F3C-8F42-8CCE00DD1AA6}" type="doc">
      <dgm:prSet loTypeId="urn:microsoft.com/office/officeart/2005/8/layout/hLis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696BC77-854D-4838-AF99-D991F88A3EC0}">
      <dgm:prSet phldrT="[文本]" custT="1"/>
      <dgm:spPr/>
      <dgm:t>
        <a:bodyPr/>
        <a:lstStyle/>
        <a:p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）兼有横道图和网络图二图优点；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A2F67E6-63E7-4248-BF6B-5D99E564AD17}" type="parTrans" cxnId="{DFB42C06-AD19-4DF4-8FD3-71694A3D895C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FA10E0E-318B-486C-87CE-AC2D78F54A93}" type="sibTrans" cxnId="{DFB42C06-AD19-4DF4-8FD3-71694A3D895C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3DF8372-40AB-49D3-A88B-683CE4781FC7}">
      <dgm:prSet phldrT="[文本]" custT="1"/>
      <dgm:spPr/>
      <dgm:t>
        <a:bodyPr/>
        <a:lstStyle/>
        <a:p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4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）可直接显示各工作的起止时间、自由时差及关键线路；</a:t>
          </a:r>
        </a:p>
      </dgm:t>
    </dgm:pt>
    <dgm:pt modelId="{5BB303B6-6516-41D5-984D-F6B405AE41AD}" type="parTrans" cxnId="{6C48D693-7A1E-4D47-AB49-1B4C0A090CAB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7D273AE-86D6-468A-9F5C-671F14495F8D}" type="sibTrans" cxnId="{6C48D693-7A1E-4D47-AB49-1B4C0A090CAB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6A85843-702E-418B-AB75-9E149186DB0A}">
      <dgm:prSet phldrT="[文本]" custT="1"/>
      <dgm:spPr/>
      <dgm:t>
        <a:bodyPr/>
        <a:lstStyle/>
        <a:p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）可直接统计资源按日需要量；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D300AB1-54C4-48BD-83DD-81F0F567EB95}" type="parTrans" cxnId="{F5B175F7-4327-4894-9F9C-12DACD10A5C9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EB8826E7-F815-4D3B-A4CA-E4317A65D723}" type="sibTrans" cxnId="{F5B175F7-4327-4894-9F9C-12DACD10A5C9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CFDCC81-AC11-44A1-9BAB-9EC90603323E}">
      <dgm:prSet phldrT="[文本]" custT="1"/>
      <dgm:spPr/>
      <dgm:t>
        <a:bodyPr/>
        <a:lstStyle/>
        <a:p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）调整比较麻烦。</a:t>
          </a:r>
          <a:endParaRPr lang="zh-CN" altLang="en-US" sz="24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998AFD7-BFA9-4D62-9DDD-357A7753BBA6}" type="parTrans" cxnId="{DD17716A-F6E5-4726-9B73-A45319714C18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A6661B-DB1D-4C78-9814-FE9423DED571}" type="sibTrans" cxnId="{DD17716A-F6E5-4726-9B73-A45319714C18}">
      <dgm:prSet/>
      <dgm:spPr/>
      <dgm:t>
        <a:bodyPr/>
        <a:lstStyle/>
        <a:p>
          <a:endParaRPr lang="zh-CN" altLang="en-US" sz="24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92251AC-DD39-40D9-B4B6-CED020D0F53F}" type="pres">
      <dgm:prSet presAssocID="{0C1FD500-0130-4F3C-8F42-8CCE00DD1AA6}" presName="composite" presStyleCnt="0">
        <dgm:presLayoutVars>
          <dgm:chMax val="1"/>
          <dgm:dir/>
          <dgm:resizeHandles val="exact"/>
        </dgm:presLayoutVars>
      </dgm:prSet>
      <dgm:spPr/>
    </dgm:pt>
    <dgm:pt modelId="{7E73E107-DA23-47C0-B8E5-5C9CC5FB454D}" type="pres">
      <dgm:prSet presAssocID="{8696BC77-854D-4838-AF99-D991F88A3EC0}" presName="roof" presStyleLbl="dkBgShp" presStyleIdx="0" presStyleCnt="2"/>
      <dgm:spPr/>
    </dgm:pt>
    <dgm:pt modelId="{D9A66CCB-522E-4740-A1F0-2671AE4E7555}" type="pres">
      <dgm:prSet presAssocID="{8696BC77-854D-4838-AF99-D991F88A3EC0}" presName="pillars" presStyleCnt="0"/>
      <dgm:spPr/>
    </dgm:pt>
    <dgm:pt modelId="{9698CBE3-AAE3-489A-B770-69DE58373F9B}" type="pres">
      <dgm:prSet presAssocID="{8696BC77-854D-4838-AF99-D991F88A3EC0}" presName="pillar1" presStyleLbl="node1" presStyleIdx="0" presStyleCnt="3">
        <dgm:presLayoutVars>
          <dgm:bulletEnabled val="1"/>
        </dgm:presLayoutVars>
      </dgm:prSet>
      <dgm:spPr/>
    </dgm:pt>
    <dgm:pt modelId="{9C98A64F-8EFB-4E71-BC87-2EF430DC5E2E}" type="pres">
      <dgm:prSet presAssocID="{A6A85843-702E-418B-AB75-9E149186DB0A}" presName="pillarX" presStyleLbl="node1" presStyleIdx="1" presStyleCnt="3">
        <dgm:presLayoutVars>
          <dgm:bulletEnabled val="1"/>
        </dgm:presLayoutVars>
      </dgm:prSet>
      <dgm:spPr/>
    </dgm:pt>
    <dgm:pt modelId="{4B04ACF5-5183-42B6-A598-611A8117D2A4}" type="pres">
      <dgm:prSet presAssocID="{BCFDCC81-AC11-44A1-9BAB-9EC90603323E}" presName="pillarX" presStyleLbl="node1" presStyleIdx="2" presStyleCnt="3">
        <dgm:presLayoutVars>
          <dgm:bulletEnabled val="1"/>
        </dgm:presLayoutVars>
      </dgm:prSet>
      <dgm:spPr/>
    </dgm:pt>
    <dgm:pt modelId="{A457ED52-FA09-434A-AB7D-F14A154D3498}" type="pres">
      <dgm:prSet presAssocID="{8696BC77-854D-4838-AF99-D991F88A3EC0}" presName="base" presStyleLbl="dkBgShp" presStyleIdx="1" presStyleCnt="2"/>
      <dgm:spPr/>
    </dgm:pt>
  </dgm:ptLst>
  <dgm:cxnLst>
    <dgm:cxn modelId="{DFB42C06-AD19-4DF4-8FD3-71694A3D895C}" srcId="{0C1FD500-0130-4F3C-8F42-8CCE00DD1AA6}" destId="{8696BC77-854D-4838-AF99-D991F88A3EC0}" srcOrd="0" destOrd="0" parTransId="{2A2F67E6-63E7-4248-BF6B-5D99E564AD17}" sibTransId="{AFA10E0E-318B-486C-87CE-AC2D78F54A93}"/>
    <dgm:cxn modelId="{83009B39-5F77-435A-987A-642B0B53E027}" type="presOf" srcId="{C3DF8372-40AB-49D3-A88B-683CE4781FC7}" destId="{9698CBE3-AAE3-489A-B770-69DE58373F9B}" srcOrd="0" destOrd="0" presId="urn:microsoft.com/office/officeart/2005/8/layout/hList3"/>
    <dgm:cxn modelId="{865E9F39-CA7B-429D-8330-38C16A8EA104}" type="presOf" srcId="{8696BC77-854D-4838-AF99-D991F88A3EC0}" destId="{7E73E107-DA23-47C0-B8E5-5C9CC5FB454D}" srcOrd="0" destOrd="0" presId="urn:microsoft.com/office/officeart/2005/8/layout/hList3"/>
    <dgm:cxn modelId="{90911566-8311-4183-B4C0-36C35BF6C0D0}" type="presOf" srcId="{BCFDCC81-AC11-44A1-9BAB-9EC90603323E}" destId="{4B04ACF5-5183-42B6-A598-611A8117D2A4}" srcOrd="0" destOrd="0" presId="urn:microsoft.com/office/officeart/2005/8/layout/hList3"/>
    <dgm:cxn modelId="{28739266-B36F-4503-928B-C9B938D87CD2}" type="presOf" srcId="{A6A85843-702E-418B-AB75-9E149186DB0A}" destId="{9C98A64F-8EFB-4E71-BC87-2EF430DC5E2E}" srcOrd="0" destOrd="0" presId="urn:microsoft.com/office/officeart/2005/8/layout/hList3"/>
    <dgm:cxn modelId="{DD17716A-F6E5-4726-9B73-A45319714C18}" srcId="{8696BC77-854D-4838-AF99-D991F88A3EC0}" destId="{BCFDCC81-AC11-44A1-9BAB-9EC90603323E}" srcOrd="2" destOrd="0" parTransId="{7998AFD7-BFA9-4D62-9DDD-357A7753BBA6}" sibTransId="{4BA6661B-DB1D-4C78-9814-FE9423DED571}"/>
    <dgm:cxn modelId="{6C48D693-7A1E-4D47-AB49-1B4C0A090CAB}" srcId="{8696BC77-854D-4838-AF99-D991F88A3EC0}" destId="{C3DF8372-40AB-49D3-A88B-683CE4781FC7}" srcOrd="0" destOrd="0" parTransId="{5BB303B6-6516-41D5-984D-F6B405AE41AD}" sibTransId="{07D273AE-86D6-468A-9F5C-671F14495F8D}"/>
    <dgm:cxn modelId="{2C9D1894-45F3-4057-B01F-231E25D3A3DD}" type="presOf" srcId="{0C1FD500-0130-4F3C-8F42-8CCE00DD1AA6}" destId="{D92251AC-DD39-40D9-B4B6-CED020D0F53F}" srcOrd="0" destOrd="0" presId="urn:microsoft.com/office/officeart/2005/8/layout/hList3"/>
    <dgm:cxn modelId="{F5B175F7-4327-4894-9F9C-12DACD10A5C9}" srcId="{8696BC77-854D-4838-AF99-D991F88A3EC0}" destId="{A6A85843-702E-418B-AB75-9E149186DB0A}" srcOrd="1" destOrd="0" parTransId="{3D300AB1-54C4-48BD-83DD-81F0F567EB95}" sibTransId="{EB8826E7-F815-4D3B-A4CA-E4317A65D723}"/>
    <dgm:cxn modelId="{A46368E2-263B-41BE-9B83-CE4E422B5BD4}" type="presParOf" srcId="{D92251AC-DD39-40D9-B4B6-CED020D0F53F}" destId="{7E73E107-DA23-47C0-B8E5-5C9CC5FB454D}" srcOrd="0" destOrd="0" presId="urn:microsoft.com/office/officeart/2005/8/layout/hList3"/>
    <dgm:cxn modelId="{FF80BEF2-12B1-48D3-A872-7585CE095EFF}" type="presParOf" srcId="{D92251AC-DD39-40D9-B4B6-CED020D0F53F}" destId="{D9A66CCB-522E-4740-A1F0-2671AE4E7555}" srcOrd="1" destOrd="0" presId="urn:microsoft.com/office/officeart/2005/8/layout/hList3"/>
    <dgm:cxn modelId="{746E2378-CD81-4D86-80D1-665B5611218B}" type="presParOf" srcId="{D9A66CCB-522E-4740-A1F0-2671AE4E7555}" destId="{9698CBE3-AAE3-489A-B770-69DE58373F9B}" srcOrd="0" destOrd="0" presId="urn:microsoft.com/office/officeart/2005/8/layout/hList3"/>
    <dgm:cxn modelId="{C349A187-3506-4C3D-8EBE-EA7FA6661AEA}" type="presParOf" srcId="{D9A66CCB-522E-4740-A1F0-2671AE4E7555}" destId="{9C98A64F-8EFB-4E71-BC87-2EF430DC5E2E}" srcOrd="1" destOrd="0" presId="urn:microsoft.com/office/officeart/2005/8/layout/hList3"/>
    <dgm:cxn modelId="{EC818B5C-9E6D-49BD-98E6-C5F0846410CE}" type="presParOf" srcId="{D9A66CCB-522E-4740-A1F0-2671AE4E7555}" destId="{4B04ACF5-5183-42B6-A598-611A8117D2A4}" srcOrd="2" destOrd="0" presId="urn:microsoft.com/office/officeart/2005/8/layout/hList3"/>
    <dgm:cxn modelId="{2A29C929-14CE-4F75-BC45-4ADEAAB4486B}" type="presParOf" srcId="{D92251AC-DD39-40D9-B4B6-CED020D0F53F}" destId="{A457ED52-FA09-434A-AB7D-F14A154D349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3E107-DA23-47C0-B8E5-5C9CC5FB454D}">
      <dsp:nvSpPr>
        <dsp:cNvPr id="0" name=""/>
        <dsp:cNvSpPr/>
      </dsp:nvSpPr>
      <dsp:spPr>
        <a:xfrm>
          <a:off x="0" y="0"/>
          <a:ext cx="7990447" cy="1262404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）兼有横道图和网络图二图优点；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0"/>
        <a:ext cx="7990447" cy="1262404"/>
      </dsp:txXfrm>
    </dsp:sp>
    <dsp:sp modelId="{9698CBE3-AAE3-489A-B770-69DE58373F9B}">
      <dsp:nvSpPr>
        <dsp:cNvPr id="0" name=""/>
        <dsp:cNvSpPr/>
      </dsp:nvSpPr>
      <dsp:spPr>
        <a:xfrm>
          <a:off x="3901" y="1262404"/>
          <a:ext cx="2660881" cy="26510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）可直接显示各工作的起止时间、自由时差及关键线路；</a:t>
          </a:r>
        </a:p>
      </dsp:txBody>
      <dsp:txXfrm>
        <a:off x="3901" y="1262404"/>
        <a:ext cx="2660881" cy="2651050"/>
      </dsp:txXfrm>
    </dsp:sp>
    <dsp:sp modelId="{9C98A64F-8EFB-4E71-BC87-2EF430DC5E2E}">
      <dsp:nvSpPr>
        <dsp:cNvPr id="0" name=""/>
        <dsp:cNvSpPr/>
      </dsp:nvSpPr>
      <dsp:spPr>
        <a:xfrm>
          <a:off x="2664782" y="1262404"/>
          <a:ext cx="2660881" cy="2651050"/>
        </a:xfrm>
        <a:prstGeom prst="rect">
          <a:avLst/>
        </a:prstGeom>
        <a:solidFill>
          <a:schemeClr val="accent5">
            <a:hueOff val="-4263620"/>
            <a:satOff val="1916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）可直接统计资源按日需要量；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2664782" y="1262404"/>
        <a:ext cx="2660881" cy="2651050"/>
      </dsp:txXfrm>
    </dsp:sp>
    <dsp:sp modelId="{4B04ACF5-5183-42B6-A598-611A8117D2A4}">
      <dsp:nvSpPr>
        <dsp:cNvPr id="0" name=""/>
        <dsp:cNvSpPr/>
      </dsp:nvSpPr>
      <dsp:spPr>
        <a:xfrm>
          <a:off x="5325664" y="1262404"/>
          <a:ext cx="2660881" cy="2651050"/>
        </a:xfrm>
        <a:prstGeom prst="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400" b="1" kern="120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）调整比较麻烦。</a:t>
          </a:r>
          <a:endParaRPr lang="zh-CN" altLang="en-US" sz="24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5325664" y="1262404"/>
        <a:ext cx="2660881" cy="2651050"/>
      </dsp:txXfrm>
    </dsp:sp>
    <dsp:sp modelId="{A457ED52-FA09-434A-AB7D-F14A154D3498}">
      <dsp:nvSpPr>
        <dsp:cNvPr id="0" name=""/>
        <dsp:cNvSpPr/>
      </dsp:nvSpPr>
      <dsp:spPr>
        <a:xfrm>
          <a:off x="0" y="3913454"/>
          <a:ext cx="7990447" cy="294561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一、双代号时标网络计划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062" y="83062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（一）双代号时标网络计划的特点及其规定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062" y="129229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1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、双代号时标网络计划的概念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062" y="175395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以时间坐标为尺度表示工作时间的网络计划。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15624"/>
            <a:ext cx="6552728" cy="280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903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4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2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、双代号时标网络计划的特点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780911223"/>
              </p:ext>
            </p:extLst>
          </p:nvPr>
        </p:nvGraphicFramePr>
        <p:xfrm>
          <a:off x="1043607" y="884014"/>
          <a:ext cx="7990447" cy="4208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688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3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、双代号时标网络计划的规定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83062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一般规定：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062" y="1292294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（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）实箭线表示一项工作，开始节点与结束节点中心的水平距离表示该工作的持续时间。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2173288"/>
            <a:ext cx="5904657" cy="147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15616" y="3795886"/>
            <a:ext cx="791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（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）虚箭线表示一项虚工作。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616" y="4256935"/>
            <a:ext cx="791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因为其持续时间为零，所以虚箭线应竖向绘制。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61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880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（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）波形线表示一项工作的自由时差。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830628"/>
            <a:ext cx="4608512" cy="1381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2880" y="221170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dirty="0"/>
              <a:t>        注意：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880" y="267337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dirty="0"/>
              <a:t>        1</a:t>
            </a:r>
            <a:r>
              <a:rPr lang="zh-CN" altLang="en-US" dirty="0"/>
              <a:t>）波形线应绘制在水平实线之后。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80" y="313503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en-US" altLang="zh-CN" dirty="0"/>
              <a:t>        2</a:t>
            </a:r>
            <a:r>
              <a:rPr lang="zh-CN" altLang="en-US" dirty="0"/>
              <a:t>）当一项虚工作存在</a:t>
            </a:r>
            <a:r>
              <a:rPr lang="en-US" altLang="zh-CN" dirty="0" err="1"/>
              <a:t>FF</a:t>
            </a:r>
            <a:r>
              <a:rPr lang="en-US" altLang="zh-CN" baseline="-25000" dirty="0" err="1"/>
              <a:t>ij</a:t>
            </a:r>
            <a:r>
              <a:rPr lang="zh-CN" altLang="en-US" dirty="0"/>
              <a:t>时，按下述方法绘制：</a:t>
            </a: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596704"/>
            <a:ext cx="4608511" cy="142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002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（二）双代号时标网络计划的绘制方法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885949"/>
            <a:ext cx="892899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1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、绘制要求：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340282"/>
              </p:ext>
            </p:extLst>
          </p:nvPr>
        </p:nvGraphicFramePr>
        <p:xfrm>
          <a:off x="1043607" y="1419621"/>
          <a:ext cx="7990447" cy="3672409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576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4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068">
                <a:tc row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绘制要求</a:t>
                      </a:r>
                    </a:p>
                  </a:txBody>
                  <a:tcPr marL="54131" marR="5413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）时标网络计划需绘制在带有时间坐标的表格上；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）节点中心必须对准时间坐标的刻度线；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）实箭线表示实工作、虚箭线表示虚工作、水平破浪线表示自由时差；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13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6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）箭线宜采用水平或水平段与垂直段组合的箭线形式，不宜用斜箭线；虚工作必须用垂直箭线表示，自由时差应用水平波浪线表示；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6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）时标网络计划宜按最早时间编制、以保证实施的可靠性；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97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2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、绘制方法：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83062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（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）间接绘制方法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062" y="129229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采用间接绘制法，将下列非时标网络计划改画成时标网络计划；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92404"/>
            <a:ext cx="7491274" cy="339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7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解析：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76907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步骤一：计算工作最早时间，如图所示：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69184"/>
            <a:ext cx="7416824" cy="39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00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步骤二：绘制时标表，如图所示：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时标单位：天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周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季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……)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841082"/>
            <a:ext cx="7488831" cy="417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14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步骤三：按最早开始时间确定每项工作的开始节点位置，如图所示：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841082"/>
            <a:ext cx="7920880" cy="42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7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步骤四：按各工作的持续时间长度绘制相应的实箭线部分，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虚工作竖直绘制，如图所示：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1148858"/>
            <a:ext cx="7920879" cy="3799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646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步骤五：用波形线把实线部分与其紧后工作的开始节点连接起来，以表示自由时差，若虚箭线的开始和结束节点之间有水平距离时，也用波浪线补足。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1148858"/>
            <a:ext cx="7848871" cy="387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784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）直接绘制方法</a:t>
            </a:r>
            <a:endParaRPr lang="zh-CN" altLang="en-US" sz="24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830629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将下列非时标网络计划改画成时标网络计划；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02747"/>
            <a:ext cx="7560840" cy="36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0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062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解析：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062" y="76907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步骤一：绘制时标表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如图所示：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计划工期未知，时标进度有待延伸）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47614"/>
            <a:ext cx="7488832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2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步骤二：将起点定位在时标表的起始刻线上，如图所示：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6144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87574"/>
            <a:ext cx="7488831" cy="374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047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步骤三：按工作持续时间在时标表上绘制起点节点的外向箭线，如图所示：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769074"/>
            <a:ext cx="7560839" cy="403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步骤四：箭头节点必须在所有内向箭线会出以后，定位在这些内向箭线中最晚完成的箭线的箭头处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内向箭线长度不足以达到该箭头节点时，用波浪线补足。虚箭线应垂直绘制。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384627"/>
            <a:ext cx="7488832" cy="363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1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步骤五：当某个节点的位置确定之后，即可绘制以该节点为开始节点的工作箭线。如图所示的工作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31590"/>
            <a:ext cx="7416823" cy="374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10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步骤六：按上述第四步，定位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工作箭头节点⑤、⑥，若虚箭线的开始和结束节点之间有水平距离时，也用波浪线补足。如图所示：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31590"/>
            <a:ext cx="7632848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3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步骤七：延伸时标轴，绘制工作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的箭线。如图所示：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843558"/>
            <a:ext cx="75608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9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387" y="36896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步骤八：定位终点节点⑦，补全网络图。如图所示：</a:t>
            </a:r>
            <a:endPara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15566"/>
            <a:ext cx="7488831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507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3183</TotalTime>
  <Words>963</Words>
  <Application>Microsoft Office PowerPoint</Application>
  <PresentationFormat>全屏显示(16:9)</PresentationFormat>
  <Paragraphs>66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522</cp:revision>
  <dcterms:created xsi:type="dcterms:W3CDTF">2019-02-28T02:56:41Z</dcterms:created>
  <dcterms:modified xsi:type="dcterms:W3CDTF">2024-12-02T08:24:45Z</dcterms:modified>
</cp:coreProperties>
</file>