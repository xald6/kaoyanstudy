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3" r:id="rId1"/>
  </p:sldMasterIdLst>
  <p:notesMasterIdLst>
    <p:notesMasterId r:id="rId6"/>
  </p:notesMasterIdLst>
  <p:sldIdLst>
    <p:sldId id="501" r:id="rId2"/>
    <p:sldId id="502" r:id="rId3"/>
    <p:sldId id="503" r:id="rId4"/>
    <p:sldId id="504" r:id="rId5"/>
  </p:sldIdLst>
  <p:sldSz cx="9144000" cy="5143500" type="screen16x9"/>
  <p:notesSz cx="6858000" cy="9144000"/>
  <p:custDataLst>
    <p:tags r:id="rId7"/>
  </p:custDataLst>
  <p:defaultTextStyle>
    <a:defPPr>
      <a:defRPr lang="zh-CN"/>
    </a:defPPr>
    <a:lvl1pPr marL="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58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3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192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259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16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374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44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503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47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92C21A-D21E-49A4-B787-B358045F5DF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88523C16-EA8B-428E-B8F9-1C1F2235C6E9}">
      <dgm:prSet phldrT="[文本]"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流砂现象：</a:t>
          </a:r>
        </a:p>
      </dgm:t>
    </dgm:pt>
    <dgm:pt modelId="{78EA8297-2706-44D6-8F49-9BA35845E056}" type="parTrans" cxnId="{796AA595-4E38-4351-84EF-68BF0E349F94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1FC75892-B5DC-4366-AF81-FA0710D1D630}" type="sibTrans" cxnId="{796AA595-4E38-4351-84EF-68BF0E349F94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375B4CB-577C-4DA8-AC8E-8EBD660B786D}">
      <dgm:prSet phldrT="[文本]"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当土质为 细砂或粉砂 ，又采用集水坑降水时，基坑一旦开挖到地下水位以下（约</a:t>
          </a:r>
          <a:r>
            <a:rPr lang="en-US" altLang="zh-CN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0.5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米），坑底下的土有时会形成流动状态，随地下水一起涌入坑内，就形成流砂。</a:t>
          </a:r>
        </a:p>
      </dgm:t>
    </dgm:pt>
    <dgm:pt modelId="{A5A3720F-BA22-42C8-B285-F12C5B7A87C5}" type="parTrans" cxnId="{9028F3A1-A734-4234-910A-5C636D5C1C1D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4A06283-FA81-427B-B696-686D2BF7356A}" type="sibTrans" cxnId="{9028F3A1-A734-4234-910A-5C636D5C1C1D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8C46BDD2-D0A7-4954-B02C-8D519521A403}">
      <dgm:prSet phldrT="[文本]"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流砂的危害：</a:t>
          </a:r>
        </a:p>
      </dgm:t>
    </dgm:pt>
    <dgm:pt modelId="{098901E5-10CB-4953-AB40-319E3B551714}" type="parTrans" cxnId="{FDE7F96A-F937-4D01-853F-EEFDDC4BE763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FE22B0C8-F92F-4000-8DAE-3F78D2407403}" type="sibTrans" cxnId="{FDE7F96A-F937-4D01-853F-EEFDDC4BE763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A2DB93F0-1F1D-4C45-914C-4847B713DC57}">
      <dgm:prSet phldrT="[文本]"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）施工条件恶化；</a:t>
          </a:r>
        </a:p>
      </dgm:t>
    </dgm:pt>
    <dgm:pt modelId="{00A42AAF-48A7-4846-83D0-72B01BBCB977}" type="parTrans" cxnId="{B84868B5-1309-4150-87EA-BC2CEDCDA697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F802F5F-B89D-47AB-88E0-38592D2BE420}" type="sibTrans" cxnId="{B84868B5-1309-4150-87EA-BC2CEDCDA697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F2F2AAD-9990-4995-991C-2989EFDB2EAF}">
      <dgm:prSet phldrT="[文本]"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）地基完全丧失承载能力；</a:t>
          </a:r>
        </a:p>
      </dgm:t>
    </dgm:pt>
    <dgm:pt modelId="{5B0B5396-99E3-49E8-BB30-4C57C17C1857}" type="parTrans" cxnId="{CEDCA6C0-7B8E-4152-BAF4-6D9893433532}">
      <dgm:prSet/>
      <dgm:spPr/>
      <dgm:t>
        <a:bodyPr/>
        <a:lstStyle/>
        <a:p>
          <a:endParaRPr lang="zh-CN" altLang="en-US" sz="2000"/>
        </a:p>
      </dgm:t>
    </dgm:pt>
    <dgm:pt modelId="{4C38F25B-AF5C-4FB2-8D66-CD5E7B98ADBE}" type="sibTrans" cxnId="{CEDCA6C0-7B8E-4152-BAF4-6D9893433532}">
      <dgm:prSet/>
      <dgm:spPr/>
      <dgm:t>
        <a:bodyPr/>
        <a:lstStyle/>
        <a:p>
          <a:endParaRPr lang="zh-CN" altLang="en-US" sz="2000"/>
        </a:p>
      </dgm:t>
    </dgm:pt>
    <dgm:pt modelId="{E8888DAB-ACA8-4A80-878D-CB83DFFBD4BA}">
      <dgm:prSet phldrT="[文本]"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）基坑边坡塌方；</a:t>
          </a:r>
        </a:p>
      </dgm:t>
    </dgm:pt>
    <dgm:pt modelId="{8062CCF0-97FA-4B9D-B66F-D62241F04C55}" type="parTrans" cxnId="{6B8CFC9C-BAC4-42A1-A9FA-7E72BAB1BBE7}">
      <dgm:prSet/>
      <dgm:spPr/>
      <dgm:t>
        <a:bodyPr/>
        <a:lstStyle/>
        <a:p>
          <a:endParaRPr lang="zh-CN" altLang="en-US"/>
        </a:p>
      </dgm:t>
    </dgm:pt>
    <dgm:pt modelId="{C02CB58F-F35D-4934-9977-59D739378092}" type="sibTrans" cxnId="{6B8CFC9C-BAC4-42A1-A9FA-7E72BAB1BBE7}">
      <dgm:prSet/>
      <dgm:spPr/>
      <dgm:t>
        <a:bodyPr/>
        <a:lstStyle/>
        <a:p>
          <a:endParaRPr lang="zh-CN" altLang="en-US"/>
        </a:p>
      </dgm:t>
    </dgm:pt>
    <dgm:pt modelId="{826582C2-954A-4952-BC91-D2B3DBE09484}">
      <dgm:prSet phldrT="[文本]"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）附近建筑物沉降，倾斜；</a:t>
          </a:r>
        </a:p>
      </dgm:t>
    </dgm:pt>
    <dgm:pt modelId="{FE6C57AE-0780-421D-9393-D611637AA85D}" type="parTrans" cxnId="{B9628A7A-5F41-422F-9823-83EB237513AC}">
      <dgm:prSet/>
      <dgm:spPr/>
      <dgm:t>
        <a:bodyPr/>
        <a:lstStyle/>
        <a:p>
          <a:endParaRPr lang="zh-CN" altLang="en-US"/>
        </a:p>
      </dgm:t>
    </dgm:pt>
    <dgm:pt modelId="{E649347E-316B-4B79-B7FA-77F36B8C2855}" type="sibTrans" cxnId="{B9628A7A-5F41-422F-9823-83EB237513AC}">
      <dgm:prSet/>
      <dgm:spPr/>
      <dgm:t>
        <a:bodyPr/>
        <a:lstStyle/>
        <a:p>
          <a:endParaRPr lang="zh-CN" altLang="en-US"/>
        </a:p>
      </dgm:t>
    </dgm:pt>
    <dgm:pt modelId="{3CBD7A9D-5EEA-48C5-9512-D6F2FC9460C6}" type="pres">
      <dgm:prSet presAssocID="{D692C21A-D21E-49A4-B787-B358045F5DF6}" presName="linear" presStyleCnt="0">
        <dgm:presLayoutVars>
          <dgm:animLvl val="lvl"/>
          <dgm:resizeHandles val="exact"/>
        </dgm:presLayoutVars>
      </dgm:prSet>
      <dgm:spPr/>
    </dgm:pt>
    <dgm:pt modelId="{DC59960A-C0BA-415C-BA95-852AC23DE4AB}" type="pres">
      <dgm:prSet presAssocID="{88523C16-EA8B-428E-B8F9-1C1F2235C6E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45DC74C-70C9-4A77-A5E8-2D478AD793A8}" type="pres">
      <dgm:prSet presAssocID="{88523C16-EA8B-428E-B8F9-1C1F2235C6E9}" presName="childText" presStyleLbl="revTx" presStyleIdx="0" presStyleCnt="2">
        <dgm:presLayoutVars>
          <dgm:bulletEnabled val="1"/>
        </dgm:presLayoutVars>
      </dgm:prSet>
      <dgm:spPr/>
    </dgm:pt>
    <dgm:pt modelId="{1FC51F0B-9425-49AD-AF63-1983D6D0B741}" type="pres">
      <dgm:prSet presAssocID="{8C46BDD2-D0A7-4954-B02C-8D519521A40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597067D-E404-49EB-AD52-D2D0CC0C4916}" type="pres">
      <dgm:prSet presAssocID="{8C46BDD2-D0A7-4954-B02C-8D519521A40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716EE68-E0EC-4026-991A-6FC151857CEC}" type="presOf" srcId="{D375B4CB-577C-4DA8-AC8E-8EBD660B786D}" destId="{645DC74C-70C9-4A77-A5E8-2D478AD793A8}" srcOrd="0" destOrd="0" presId="urn:microsoft.com/office/officeart/2005/8/layout/vList2"/>
    <dgm:cxn modelId="{FDE7F96A-F937-4D01-853F-EEFDDC4BE763}" srcId="{D692C21A-D21E-49A4-B787-B358045F5DF6}" destId="{8C46BDD2-D0A7-4954-B02C-8D519521A403}" srcOrd="1" destOrd="0" parTransId="{098901E5-10CB-4953-AB40-319E3B551714}" sibTransId="{FE22B0C8-F92F-4000-8DAE-3F78D2407403}"/>
    <dgm:cxn modelId="{95B9DA73-E774-4D7C-B80D-CE02CED249BE}" type="presOf" srcId="{E8888DAB-ACA8-4A80-878D-CB83DFFBD4BA}" destId="{A597067D-E404-49EB-AD52-D2D0CC0C4916}" srcOrd="0" destOrd="2" presId="urn:microsoft.com/office/officeart/2005/8/layout/vList2"/>
    <dgm:cxn modelId="{AC7DD154-F966-450D-91E4-607811512C93}" type="presOf" srcId="{D692C21A-D21E-49A4-B787-B358045F5DF6}" destId="{3CBD7A9D-5EEA-48C5-9512-D6F2FC9460C6}" srcOrd="0" destOrd="0" presId="urn:microsoft.com/office/officeart/2005/8/layout/vList2"/>
    <dgm:cxn modelId="{5BEB7357-FB59-42E0-B228-4D4D4F2C5B78}" type="presOf" srcId="{A2DB93F0-1F1D-4C45-914C-4847B713DC57}" destId="{A597067D-E404-49EB-AD52-D2D0CC0C4916}" srcOrd="0" destOrd="0" presId="urn:microsoft.com/office/officeart/2005/8/layout/vList2"/>
    <dgm:cxn modelId="{B338D159-53C5-4B39-B1F0-234524AB8191}" type="presOf" srcId="{826582C2-954A-4952-BC91-D2B3DBE09484}" destId="{A597067D-E404-49EB-AD52-D2D0CC0C4916}" srcOrd="0" destOrd="3" presId="urn:microsoft.com/office/officeart/2005/8/layout/vList2"/>
    <dgm:cxn modelId="{B9628A7A-5F41-422F-9823-83EB237513AC}" srcId="{8C46BDD2-D0A7-4954-B02C-8D519521A403}" destId="{826582C2-954A-4952-BC91-D2B3DBE09484}" srcOrd="3" destOrd="0" parTransId="{FE6C57AE-0780-421D-9393-D611637AA85D}" sibTransId="{E649347E-316B-4B79-B7FA-77F36B8C2855}"/>
    <dgm:cxn modelId="{796AA595-4E38-4351-84EF-68BF0E349F94}" srcId="{D692C21A-D21E-49A4-B787-B358045F5DF6}" destId="{88523C16-EA8B-428E-B8F9-1C1F2235C6E9}" srcOrd="0" destOrd="0" parTransId="{78EA8297-2706-44D6-8F49-9BA35845E056}" sibTransId="{1FC75892-B5DC-4366-AF81-FA0710D1D630}"/>
    <dgm:cxn modelId="{6B8CFC9C-BAC4-42A1-A9FA-7E72BAB1BBE7}" srcId="{8C46BDD2-D0A7-4954-B02C-8D519521A403}" destId="{E8888DAB-ACA8-4A80-878D-CB83DFFBD4BA}" srcOrd="2" destOrd="0" parTransId="{8062CCF0-97FA-4B9D-B66F-D62241F04C55}" sibTransId="{C02CB58F-F35D-4934-9977-59D739378092}"/>
    <dgm:cxn modelId="{9028F3A1-A734-4234-910A-5C636D5C1C1D}" srcId="{88523C16-EA8B-428E-B8F9-1C1F2235C6E9}" destId="{D375B4CB-577C-4DA8-AC8E-8EBD660B786D}" srcOrd="0" destOrd="0" parTransId="{A5A3720F-BA22-42C8-B285-F12C5B7A87C5}" sibTransId="{B4A06283-FA81-427B-B696-686D2BF7356A}"/>
    <dgm:cxn modelId="{B84868B5-1309-4150-87EA-BC2CEDCDA697}" srcId="{8C46BDD2-D0A7-4954-B02C-8D519521A403}" destId="{A2DB93F0-1F1D-4C45-914C-4847B713DC57}" srcOrd="0" destOrd="0" parTransId="{00A42AAF-48A7-4846-83D0-72B01BBCB977}" sibTransId="{BF802F5F-B89D-47AB-88E0-38592D2BE420}"/>
    <dgm:cxn modelId="{CEDCA6C0-7B8E-4152-BAF4-6D9893433532}" srcId="{8C46BDD2-D0A7-4954-B02C-8D519521A403}" destId="{DF2F2AAD-9990-4995-991C-2989EFDB2EAF}" srcOrd="1" destOrd="0" parTransId="{5B0B5396-99E3-49E8-BB30-4C57C17C1857}" sibTransId="{4C38F25B-AF5C-4FB2-8D66-CD5E7B98ADBE}"/>
    <dgm:cxn modelId="{8A27B9C5-C4AC-4954-BBD9-A5A3A122F952}" type="presOf" srcId="{8C46BDD2-D0A7-4954-B02C-8D519521A403}" destId="{1FC51F0B-9425-49AD-AF63-1983D6D0B741}" srcOrd="0" destOrd="0" presId="urn:microsoft.com/office/officeart/2005/8/layout/vList2"/>
    <dgm:cxn modelId="{205A99CE-9295-4249-B498-974207F5B68B}" type="presOf" srcId="{88523C16-EA8B-428E-B8F9-1C1F2235C6E9}" destId="{DC59960A-C0BA-415C-BA95-852AC23DE4AB}" srcOrd="0" destOrd="0" presId="urn:microsoft.com/office/officeart/2005/8/layout/vList2"/>
    <dgm:cxn modelId="{3E618BF3-3FB3-47FB-B573-6B20B59CE18E}" type="presOf" srcId="{DF2F2AAD-9990-4995-991C-2989EFDB2EAF}" destId="{A597067D-E404-49EB-AD52-D2D0CC0C4916}" srcOrd="0" destOrd="1" presId="urn:microsoft.com/office/officeart/2005/8/layout/vList2"/>
    <dgm:cxn modelId="{A6073044-ACDA-4C44-B4E3-84EA180CD2BF}" type="presParOf" srcId="{3CBD7A9D-5EEA-48C5-9512-D6F2FC9460C6}" destId="{DC59960A-C0BA-415C-BA95-852AC23DE4AB}" srcOrd="0" destOrd="0" presId="urn:microsoft.com/office/officeart/2005/8/layout/vList2"/>
    <dgm:cxn modelId="{893D46CD-528A-491B-8495-E5161B89D0AD}" type="presParOf" srcId="{3CBD7A9D-5EEA-48C5-9512-D6F2FC9460C6}" destId="{645DC74C-70C9-4A77-A5E8-2D478AD793A8}" srcOrd="1" destOrd="0" presId="urn:microsoft.com/office/officeart/2005/8/layout/vList2"/>
    <dgm:cxn modelId="{A7A8D708-08CD-4880-A04C-2256F4B4AA45}" type="presParOf" srcId="{3CBD7A9D-5EEA-48C5-9512-D6F2FC9460C6}" destId="{1FC51F0B-9425-49AD-AF63-1983D6D0B741}" srcOrd="2" destOrd="0" presId="urn:microsoft.com/office/officeart/2005/8/layout/vList2"/>
    <dgm:cxn modelId="{59D58369-62A9-4AA5-89EA-E448EF072FC7}" type="presParOf" srcId="{3CBD7A9D-5EEA-48C5-9512-D6F2FC9460C6}" destId="{A597067D-E404-49EB-AD52-D2D0CC0C4916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59960A-C0BA-415C-BA95-852AC23DE4AB}">
      <dsp:nvSpPr>
        <dsp:cNvPr id="0" name=""/>
        <dsp:cNvSpPr/>
      </dsp:nvSpPr>
      <dsp:spPr>
        <a:xfrm>
          <a:off x="0" y="9948"/>
          <a:ext cx="5328591" cy="9921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流砂现象：</a:t>
          </a:r>
        </a:p>
      </dsp:txBody>
      <dsp:txXfrm>
        <a:off x="48433" y="58381"/>
        <a:ext cx="5231725" cy="895294"/>
      </dsp:txXfrm>
    </dsp:sp>
    <dsp:sp modelId="{645DC74C-70C9-4A77-A5E8-2D478AD793A8}">
      <dsp:nvSpPr>
        <dsp:cNvPr id="0" name=""/>
        <dsp:cNvSpPr/>
      </dsp:nvSpPr>
      <dsp:spPr>
        <a:xfrm>
          <a:off x="0" y="1002108"/>
          <a:ext cx="5328591" cy="1261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18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当土质为 细砂或粉砂 ，又采用集水坑降水时，基坑一旦开挖到地下水位以下（约</a:t>
          </a:r>
          <a:r>
            <a:rPr lang="en-US" altLang="zh-CN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0.5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米），坑底下的土有时会形成流动状态，随地下水一起涌入坑内，就形成流砂。</a:t>
          </a:r>
        </a:p>
      </dsp:txBody>
      <dsp:txXfrm>
        <a:off x="0" y="1002108"/>
        <a:ext cx="5328591" cy="1261665"/>
      </dsp:txXfrm>
    </dsp:sp>
    <dsp:sp modelId="{1FC51F0B-9425-49AD-AF63-1983D6D0B741}">
      <dsp:nvSpPr>
        <dsp:cNvPr id="0" name=""/>
        <dsp:cNvSpPr/>
      </dsp:nvSpPr>
      <dsp:spPr>
        <a:xfrm>
          <a:off x="0" y="2263773"/>
          <a:ext cx="5328591" cy="992160"/>
        </a:xfrm>
        <a:prstGeom prst="roundRect">
          <a:avLst/>
        </a:prstGeom>
        <a:solidFill>
          <a:schemeClr val="accent5">
            <a:hueOff val="-8527241"/>
            <a:satOff val="38334"/>
            <a:lumOff val="-29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流砂的危害：</a:t>
          </a:r>
        </a:p>
      </dsp:txBody>
      <dsp:txXfrm>
        <a:off x="48433" y="2312206"/>
        <a:ext cx="5231725" cy="895294"/>
      </dsp:txXfrm>
    </dsp:sp>
    <dsp:sp modelId="{A597067D-E404-49EB-AD52-D2D0CC0C4916}">
      <dsp:nvSpPr>
        <dsp:cNvPr id="0" name=""/>
        <dsp:cNvSpPr/>
      </dsp:nvSpPr>
      <dsp:spPr>
        <a:xfrm>
          <a:off x="0" y="3255933"/>
          <a:ext cx="5328591" cy="1453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18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）施工条件恶化；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）地基完全丧失承载能力；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）基坑边坡塌方；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）附近建筑物沉降，倾斜；</a:t>
          </a:r>
        </a:p>
      </dsp:txBody>
      <dsp:txXfrm>
        <a:off x="0" y="3255933"/>
        <a:ext cx="5328591" cy="14536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17AAB-FCBD-40B2-B028-268332E93037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3F446-A760-4077-983F-8A30C4399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46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" t="12301" r="1751" b="1600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0F58-3108-4415-857A-6D0360DF62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5133793" y="1806593"/>
            <a:ext cx="2945922" cy="303719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  <a:effectLst/>
                <a:latin typeface="+mn-ea"/>
                <a:ea typeface="+mn-ea"/>
              </a:defRPr>
            </a:lvl1pPr>
            <a:lvl2pPr marL="257175" indent="0" algn="ctr">
              <a:buNone/>
              <a:defRPr sz="1100"/>
            </a:lvl2pPr>
            <a:lvl3pPr marL="514350" indent="0" algn="ctr">
              <a:buNone/>
              <a:defRPr sz="1000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dirty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4822164" y="983400"/>
            <a:ext cx="3727691" cy="805914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2400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单击此处添加您的标题文字</a:t>
            </a:r>
          </a:p>
        </p:txBody>
      </p:sp>
    </p:spTree>
    <p:extLst>
      <p:ext uri="{BB962C8B-B14F-4D97-AF65-F5344CB8AC3E}">
        <p14:creationId xmlns:p14="http://schemas.microsoft.com/office/powerpoint/2010/main" val="489679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67">
          <p15:clr>
            <a:srgbClr val="FBAE40"/>
          </p15:clr>
        </p15:guide>
        <p15:guide id="0" orient="horz" pos="2160" userDrawn="1">
          <p15:clr>
            <a:srgbClr val="FBAE40"/>
          </p15:clr>
        </p15:guide>
        <p15:guide id="2" pos="66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 b="1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1400" b="1"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05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1574008" y="1581152"/>
            <a:ext cx="5995988" cy="926306"/>
          </a:xfrm>
        </p:spPr>
        <p:txBody>
          <a:bodyPr anchor="b">
            <a:normAutofit/>
          </a:bodyPr>
          <a:lstStyle>
            <a:lvl1pPr algn="ctr">
              <a:defRPr sz="2000">
                <a:solidFill>
                  <a:schemeClr val="tx1">
                    <a:lumMod val="50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3038171" y="2550318"/>
            <a:ext cx="3067663" cy="268109"/>
          </a:xfrm>
          <a:prstGeom prst="roundRect">
            <a:avLst>
              <a:gd name="adj" fmla="val 50000"/>
            </a:avLst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tx1"/>
                </a:solidFill>
              </a:defRPr>
            </a:lvl1pPr>
            <a:lvl2pPr marL="25717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341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049867" y="933453"/>
            <a:ext cx="3810000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889501" y="933453"/>
            <a:ext cx="3820587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90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727199" y="88899"/>
            <a:ext cx="6984076" cy="5377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8" y="1032272"/>
            <a:ext cx="3868340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8" y="16502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5" y="1032272"/>
            <a:ext cx="3887391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5" y="16502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08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76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79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58444" y="400052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4115992" y="797724"/>
            <a:ext cx="4629150" cy="3655219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858444" y="1600202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48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934644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4082125" y="740572"/>
            <a:ext cx="4629150" cy="3655219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600"/>
            </a:lvl2pPr>
            <a:lvl3pPr marL="514350" indent="0">
              <a:buNone/>
              <a:defRPr sz="1400"/>
            </a:lvl3pPr>
            <a:lvl4pPr marL="771525" indent="0">
              <a:buNone/>
              <a:defRPr sz="1100"/>
            </a:lvl4pPr>
            <a:lvl5pPr marL="1028700" indent="0">
              <a:buNone/>
              <a:defRPr sz="1100"/>
            </a:lvl5pPr>
            <a:lvl6pPr marL="1285875" indent="0">
              <a:buNone/>
              <a:defRPr sz="1100"/>
            </a:lvl6pPr>
            <a:lvl7pPr marL="1543050" indent="0">
              <a:buNone/>
              <a:defRPr sz="1100"/>
            </a:lvl7pPr>
            <a:lvl8pPr marL="1800225" indent="0">
              <a:buNone/>
              <a:defRPr sz="1100"/>
            </a:lvl8pPr>
            <a:lvl9pPr marL="2057400" indent="0">
              <a:buNone/>
              <a:defRPr sz="11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934644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004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06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8469" y="273844"/>
            <a:ext cx="886883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585383" y="273844"/>
            <a:ext cx="5949952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96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" t="26028" r="6166" b="4484"/>
          <a:stretch/>
        </p:blipFill>
        <p:spPr>
          <a:xfrm>
            <a:off x="-2" y="1753372"/>
            <a:ext cx="5924552" cy="3390128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6286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1FE7BD1D-B284-4506-85BF-D02BB5BA5E47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3028950" y="483870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854015" y="850107"/>
            <a:ext cx="7866654" cy="382510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04826" y="160440"/>
            <a:ext cx="8215844" cy="59700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6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</p:sldLayoutIdLst>
  <p:txStyles>
    <p:titleStyle>
      <a:lvl1pPr algn="ctr" defTabSz="514350" rtl="0" eaLnBrk="1" latinLnBrk="0" hangingPunct="1">
        <a:lnSpc>
          <a:spcPct val="90000"/>
        </a:lnSpc>
        <a:spcBef>
          <a:spcPct val="0"/>
        </a:spcBef>
        <a:buNone/>
        <a:defRPr sz="2400" b="0" i="0" kern="1200" baseline="0">
          <a:solidFill>
            <a:schemeClr val="tx1">
              <a:lumMod val="50000"/>
            </a:schemeClr>
          </a:solidFill>
          <a:effectLst/>
          <a:latin typeface="+mj-ea"/>
          <a:ea typeface="+mj-ea"/>
          <a:cs typeface="+mj-cs"/>
        </a:defRPr>
      </a:lvl1pPr>
    </p:titleStyle>
    <p:bodyStyle>
      <a:lvl1pPr marL="271463" indent="-271463" algn="just" defTabSz="51435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accent2"/>
        </a:buClr>
        <a:buSzPct val="50000"/>
        <a:buFont typeface="Wingdings 2" panose="05020102010507070707" pitchFamily="18" charset="2"/>
        <a:buChar char=""/>
        <a:defRPr lang="zh-CN" altLang="en-US" sz="1800" b="1" kern="1200" baseline="0" dirty="0" smtClean="0">
          <a:solidFill>
            <a:schemeClr val="accent1"/>
          </a:solidFill>
          <a:latin typeface="+mn-ea"/>
          <a:ea typeface="+mn-ea"/>
          <a:cs typeface="+mn-cs"/>
        </a:defRPr>
      </a:lvl1pPr>
      <a:lvl2pPr marL="271463" indent="-271463" algn="just" defTabSz="51435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400" b="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五、流砂及其防治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89218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（一）流砂产生的条件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8" y="1353849"/>
            <a:ext cx="3564158" cy="2298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4262229183"/>
              </p:ext>
            </p:extLst>
          </p:nvPr>
        </p:nvGraphicFramePr>
        <p:xfrm>
          <a:off x="3707904" y="372490"/>
          <a:ext cx="5328592" cy="4719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86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Graphic spid="2" grpId="0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（二）流砂形成原因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891980"/>
              </p:ext>
            </p:extLst>
          </p:nvPr>
        </p:nvGraphicFramePr>
        <p:xfrm>
          <a:off x="1043608" y="902637"/>
          <a:ext cx="7992888" cy="4189393"/>
        </p:xfrm>
        <a:graphic>
          <a:graphicData uri="http://schemas.openxmlformats.org/drawingml/2006/table">
            <a:tbl>
              <a:tblPr firstRow="1" firstCol="1" bandRow="1">
                <a:tableStyleId>{16D9F66E-5EB9-4882-86FB-DCBF35E3C3E4}</a:tableStyleId>
              </a:tblPr>
              <a:tblGrid>
                <a:gridCol w="613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2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5124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流砂形成原因</a:t>
                      </a:r>
                    </a:p>
                  </a:txBody>
                  <a:tcPr marL="57215" marR="57215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内因</a:t>
                      </a:r>
                    </a:p>
                  </a:txBody>
                  <a:tcPr marL="57215" marR="57215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土质问题——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均匀：颗粒级配中，土的不均匀系数小于</a:t>
                      </a:r>
                      <a:r>
                        <a:rPr lang="en-US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粘性差 ：土的颗粒组成中，粘粒含量</a:t>
                      </a:r>
                      <a:r>
                        <a:rPr lang="en-US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&lt;10</a:t>
                      </a: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％，粉粒含量＞</a:t>
                      </a:r>
                      <a:r>
                        <a:rPr lang="en-US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75%</a:t>
                      </a: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土松：天然空隙比</a:t>
                      </a:r>
                      <a:r>
                        <a:rPr lang="en-US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&gt;0.75</a:t>
                      </a: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水多：含水量</a:t>
                      </a:r>
                      <a:r>
                        <a:rPr lang="en-US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&gt;30%</a:t>
                      </a: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因此，流砂易在粉土、细砂、粉砂和淤泥土中发生。</a:t>
                      </a:r>
                    </a:p>
                  </a:txBody>
                  <a:tcPr marL="57215" marR="5721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426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外因</a:t>
                      </a:r>
                    </a:p>
                  </a:txBody>
                  <a:tcPr marL="57215" marR="57215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与土重作用相反的动水压力——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动水压力的性质 ：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）作用方向与水流方向相同；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）与水力梯度即水头差成正比；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）与渗透路径成反比。</a:t>
                      </a:r>
                    </a:p>
                  </a:txBody>
                  <a:tcPr marL="57215" marR="5721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121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5" y="3219822"/>
            <a:ext cx="2448273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6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（三）流砂的防治措施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278520"/>
              </p:ext>
            </p:extLst>
          </p:nvPr>
        </p:nvGraphicFramePr>
        <p:xfrm>
          <a:off x="1043607" y="915564"/>
          <a:ext cx="7992888" cy="4104456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360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2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3057"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防治原则：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“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治砂必先治水</a:t>
                      </a: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”</a:t>
                      </a: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0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措施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原理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0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强挖并抛大石块法</a:t>
                      </a: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减小或平衡动水压力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0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枯水期施工</a:t>
                      </a: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0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水下挖土法</a:t>
                      </a: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30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人工降低地下水位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减小水位差，或改变动水压力作用方向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30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止水帷幕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截断地下水流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30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打钢板桩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加长渗透路径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6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68965"/>
            <a:ext cx="8784976" cy="2634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3003798"/>
            <a:ext cx="3960440" cy="208823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046" y="3003799"/>
            <a:ext cx="3947442" cy="208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LIBID_PRE" val="13076"/>
  <p:tag name="MH_CONTENTSID" val="264"/>
  <p:tag name="MH_SECTIONID" val="265,"/>
</p:tagLst>
</file>

<file path=ppt/theme/theme1.xml><?xml version="1.0" encoding="utf-8"?>
<a:theme xmlns:a="http://schemas.openxmlformats.org/drawingml/2006/main" name="A000120140530A99PPBG">
  <a:themeElements>
    <a:clrScheme name="KSO_BLUE9">
      <a:dk1>
        <a:srgbClr val="47494B"/>
      </a:dk1>
      <a:lt1>
        <a:srgbClr val="FFFFFF"/>
      </a:lt1>
      <a:dk2>
        <a:srgbClr val="454749"/>
      </a:dk2>
      <a:lt2>
        <a:srgbClr val="EAF5FC"/>
      </a:lt2>
      <a:accent1>
        <a:srgbClr val="046FB6"/>
      </a:accent1>
      <a:accent2>
        <a:srgbClr val="22B1DE"/>
      </a:accent2>
      <a:accent3>
        <a:srgbClr val="7B93D7"/>
      </a:accent3>
      <a:accent4>
        <a:srgbClr val="5D76BA"/>
      </a:accent4>
      <a:accent5>
        <a:srgbClr val="3DBFD1"/>
      </a:accent5>
      <a:accent6>
        <a:srgbClr val="FFC000"/>
      </a:accent6>
      <a:hlink>
        <a:srgbClr val="00B0F0"/>
      </a:hlink>
      <a:folHlink>
        <a:srgbClr val="AFB2B4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636869495982041620</Template>
  <TotalTime>5013</TotalTime>
  <Words>306</Words>
  <Application>Microsoft Office PowerPoint</Application>
  <PresentationFormat>全屏显示(16:9)</PresentationFormat>
  <Paragraphs>42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黑体</vt:lpstr>
      <vt:lpstr>华文行楷</vt:lpstr>
      <vt:lpstr>微软雅黑</vt:lpstr>
      <vt:lpstr>幼圆</vt:lpstr>
      <vt:lpstr>Arial</vt:lpstr>
      <vt:lpstr>Calibri</vt:lpstr>
      <vt:lpstr>Franklin Gothic Book</vt:lpstr>
      <vt:lpstr>Times New Roman</vt:lpstr>
      <vt:lpstr>Wingdings 2</vt:lpstr>
      <vt:lpstr>A000120140530A99PPBG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632</cp:revision>
  <dcterms:created xsi:type="dcterms:W3CDTF">2019-02-28T02:56:41Z</dcterms:created>
  <dcterms:modified xsi:type="dcterms:W3CDTF">2026-03-23T01:21:27Z</dcterms:modified>
</cp:coreProperties>
</file>