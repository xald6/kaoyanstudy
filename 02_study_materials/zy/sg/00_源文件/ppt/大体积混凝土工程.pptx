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3" r:id="rId1"/>
  </p:sldMasterIdLst>
  <p:notesMasterIdLst>
    <p:notesMasterId r:id="rId10"/>
  </p:notesMasterIdLst>
  <p:sldIdLst>
    <p:sldId id="611" r:id="rId2"/>
    <p:sldId id="612" r:id="rId3"/>
    <p:sldId id="613" r:id="rId4"/>
    <p:sldId id="614" r:id="rId5"/>
    <p:sldId id="615" r:id="rId6"/>
    <p:sldId id="616" r:id="rId7"/>
    <p:sldId id="617" r:id="rId8"/>
    <p:sldId id="618" r:id="rId9"/>
  </p:sldIdLst>
  <p:sldSz cx="9144000" cy="5143500" type="screen16x9"/>
  <p:notesSz cx="6858000" cy="9144000"/>
  <p:custDataLst>
    <p:tags r:id="rId11"/>
  </p:custDataLst>
  <p:defaultTextStyle>
    <a:defPPr>
      <a:defRPr lang="zh-CN"/>
    </a:defPPr>
    <a:lvl1pPr marL="0" algn="l" defTabSz="914130" rtl="0" eaLnBrk="1" latinLnBrk="0" hangingPunct="1">
      <a:defRPr sz="1800" kern="1200">
        <a:solidFill>
          <a:schemeClr val="tx1"/>
        </a:solidFill>
        <a:latin typeface="+mn-lt"/>
        <a:ea typeface="+mn-ea"/>
        <a:cs typeface="+mn-cs"/>
      </a:defRPr>
    </a:lvl1pPr>
    <a:lvl2pPr marL="457058" algn="l" defTabSz="914130" rtl="0" eaLnBrk="1" latinLnBrk="0" hangingPunct="1">
      <a:defRPr sz="1800" kern="1200">
        <a:solidFill>
          <a:schemeClr val="tx1"/>
        </a:solidFill>
        <a:latin typeface="+mn-lt"/>
        <a:ea typeface="+mn-ea"/>
        <a:cs typeface="+mn-cs"/>
      </a:defRPr>
    </a:lvl2pPr>
    <a:lvl3pPr marL="914130" algn="l" defTabSz="914130" rtl="0" eaLnBrk="1" latinLnBrk="0" hangingPunct="1">
      <a:defRPr sz="1800" kern="1200">
        <a:solidFill>
          <a:schemeClr val="tx1"/>
        </a:solidFill>
        <a:latin typeface="+mn-lt"/>
        <a:ea typeface="+mn-ea"/>
        <a:cs typeface="+mn-cs"/>
      </a:defRPr>
    </a:lvl3pPr>
    <a:lvl4pPr marL="1371192" algn="l" defTabSz="914130" rtl="0" eaLnBrk="1" latinLnBrk="0" hangingPunct="1">
      <a:defRPr sz="1800" kern="1200">
        <a:solidFill>
          <a:schemeClr val="tx1"/>
        </a:solidFill>
        <a:latin typeface="+mn-lt"/>
        <a:ea typeface="+mn-ea"/>
        <a:cs typeface="+mn-cs"/>
      </a:defRPr>
    </a:lvl4pPr>
    <a:lvl5pPr marL="1828259" algn="l" defTabSz="914130" rtl="0" eaLnBrk="1" latinLnBrk="0" hangingPunct="1">
      <a:defRPr sz="1800" kern="1200">
        <a:solidFill>
          <a:schemeClr val="tx1"/>
        </a:solidFill>
        <a:latin typeface="+mn-lt"/>
        <a:ea typeface="+mn-ea"/>
        <a:cs typeface="+mn-cs"/>
      </a:defRPr>
    </a:lvl5pPr>
    <a:lvl6pPr marL="2285316" algn="l" defTabSz="914130" rtl="0" eaLnBrk="1" latinLnBrk="0" hangingPunct="1">
      <a:defRPr sz="1800" kern="1200">
        <a:solidFill>
          <a:schemeClr val="tx1"/>
        </a:solidFill>
        <a:latin typeface="+mn-lt"/>
        <a:ea typeface="+mn-ea"/>
        <a:cs typeface="+mn-cs"/>
      </a:defRPr>
    </a:lvl6pPr>
    <a:lvl7pPr marL="2742374" algn="l" defTabSz="914130" rtl="0" eaLnBrk="1" latinLnBrk="0" hangingPunct="1">
      <a:defRPr sz="1800" kern="1200">
        <a:solidFill>
          <a:schemeClr val="tx1"/>
        </a:solidFill>
        <a:latin typeface="+mn-lt"/>
        <a:ea typeface="+mn-ea"/>
        <a:cs typeface="+mn-cs"/>
      </a:defRPr>
    </a:lvl7pPr>
    <a:lvl8pPr marL="3199440" algn="l" defTabSz="914130" rtl="0" eaLnBrk="1" latinLnBrk="0" hangingPunct="1">
      <a:defRPr sz="1800" kern="1200">
        <a:solidFill>
          <a:schemeClr val="tx1"/>
        </a:solidFill>
        <a:latin typeface="+mn-lt"/>
        <a:ea typeface="+mn-ea"/>
        <a:cs typeface="+mn-cs"/>
      </a:defRPr>
    </a:lvl8pPr>
    <a:lvl9pPr marL="3656503" algn="l" defTabSz="9141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151" d="100"/>
          <a:sy n="151" d="100"/>
        </p:scale>
        <p:origin x="474" y="132"/>
      </p:cViewPr>
      <p:guideLst>
        <p:guide orient="horz" pos="1620"/>
        <p:guide pos="2880"/>
      </p:guideLst>
    </p:cSldViewPr>
  </p:slideViewPr>
  <p:notesTextViewPr>
    <p:cViewPr>
      <p:scale>
        <a:sx n="1" d="1"/>
        <a:sy n="1" d="1"/>
      </p:scale>
      <p:origin x="0" y="0"/>
    </p:cViewPr>
  </p:notesTextViewPr>
  <p:sorterViewPr>
    <p:cViewPr>
      <p:scale>
        <a:sx n="100" d="100"/>
        <a:sy n="100" d="100"/>
      </p:scale>
      <p:origin x="0" y="180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417AAB-FCBD-40B2-B028-268332E93037}" type="datetimeFigureOut">
              <a:rPr lang="zh-CN" altLang="en-US" smtClean="0"/>
              <a:t>2026/4/7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03F446-A760-4077-983F-8A30C4399FE6}" type="slidenum">
              <a:rPr lang="zh-CN" altLang="en-US" smtClean="0"/>
              <a:t>‹#›</a:t>
            </a:fld>
            <a:endParaRPr lang="zh-CN" altLang="en-US"/>
          </a:p>
        </p:txBody>
      </p:sp>
    </p:spTree>
    <p:extLst>
      <p:ext uri="{BB962C8B-B14F-4D97-AF65-F5344CB8AC3E}">
        <p14:creationId xmlns:p14="http://schemas.microsoft.com/office/powerpoint/2010/main" val="1005467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l="233" t="12301" r="1751" b="16008"/>
          <a:stretch/>
        </p:blipFill>
        <p:spPr>
          <a:xfrm>
            <a:off x="0" y="0"/>
            <a:ext cx="9144000" cy="5143500"/>
          </a:xfrm>
          <a:prstGeom prst="rect">
            <a:avLst/>
          </a:prstGeom>
        </p:spPr>
      </p:pic>
      <p:sp>
        <p:nvSpPr>
          <p:cNvPr id="4" name="KSO_FD"/>
          <p:cNvSpPr>
            <a:spLocks noGrp="1"/>
          </p:cNvSpPr>
          <p:nvPr>
            <p:ph type="dt" sz="half" idx="10"/>
          </p:nvPr>
        </p:nvSpPr>
        <p:spPr/>
        <p:txBody>
          <a:bodyPr/>
          <a:lstStyle/>
          <a:p>
            <a:fld id="{C9E60F58-3108-4415-857A-6D0360DF626E}" type="datetimeFigureOut">
              <a:rPr lang="zh-CN" altLang="en-US" smtClean="0"/>
              <a:t>2026/4/7</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5133793" y="1806593"/>
            <a:ext cx="2945922" cy="303719"/>
          </a:xfrm>
          <a:prstGeom prst="roundRect">
            <a:avLst>
              <a:gd name="adj" fmla="val 50000"/>
            </a:avLst>
          </a:prstGeom>
          <a:noFill/>
          <a:ln>
            <a:noFill/>
          </a:ln>
        </p:spPr>
        <p:txBody>
          <a:bodyPr vert="horz" anchor="ctr">
            <a:noAutofit/>
          </a:bodyPr>
          <a:lstStyle>
            <a:lvl1pPr marL="0" indent="0" algn="ctr">
              <a:buNone/>
              <a:defRPr sz="1400" b="0">
                <a:solidFill>
                  <a:schemeClr val="tx1"/>
                </a:solidFill>
                <a:effectLst/>
                <a:latin typeface="+mn-ea"/>
                <a:ea typeface="+mn-ea"/>
              </a:defRPr>
            </a:lvl1pPr>
            <a:lvl2pPr marL="257175" indent="0" algn="ctr">
              <a:buNone/>
              <a:defRPr sz="1100"/>
            </a:lvl2pPr>
            <a:lvl3pPr marL="514350" indent="0" algn="ctr">
              <a:buNone/>
              <a:defRPr sz="1000"/>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dirty="0"/>
              <a:t>单击此处添加您的副标题</a:t>
            </a:r>
          </a:p>
        </p:txBody>
      </p:sp>
      <p:sp>
        <p:nvSpPr>
          <p:cNvPr id="7" name="KSO_CT1"/>
          <p:cNvSpPr>
            <a:spLocks noGrp="1"/>
          </p:cNvSpPr>
          <p:nvPr>
            <p:ph type="title" hasCustomPrompt="1"/>
          </p:nvPr>
        </p:nvSpPr>
        <p:spPr>
          <a:xfrm>
            <a:off x="4822164" y="983400"/>
            <a:ext cx="3727691" cy="805914"/>
          </a:xfrm>
        </p:spPr>
        <p:txBody>
          <a:bodyPr vert="horz" anchor="b">
            <a:noAutofit/>
          </a:bodyPr>
          <a:lstStyle>
            <a:lvl1pPr algn="ctr">
              <a:lnSpc>
                <a:spcPct val="100000"/>
              </a:lnSpc>
              <a:defRPr sz="2400" b="1" kern="1000" baseline="0">
                <a:solidFill>
                  <a:schemeClr val="accent1"/>
                </a:solidFill>
                <a:effectLst/>
                <a:latin typeface="+mj-ea"/>
                <a:ea typeface="+mj-ea"/>
              </a:defRPr>
            </a:lvl1pPr>
          </a:lstStyle>
          <a:p>
            <a:r>
              <a:rPr lang="zh-CN" altLang="en-US" dirty="0"/>
              <a:t>单击此处添加您的标题文字</a:t>
            </a:r>
          </a:p>
        </p:txBody>
      </p:sp>
    </p:spTree>
    <p:extLst>
      <p:ext uri="{BB962C8B-B14F-4D97-AF65-F5344CB8AC3E}">
        <p14:creationId xmlns:p14="http://schemas.microsoft.com/office/powerpoint/2010/main" val="489679569"/>
      </p:ext>
    </p:extLst>
  </p:cSld>
  <p:clrMapOvr>
    <a:masterClrMapping/>
  </p:clrMapOvr>
  <p:extLst>
    <p:ext uri="{DCECCB84-F9BA-43D5-87BE-67443E8EF086}">
      <p15:sldGuideLst xmlns:p15="http://schemas.microsoft.com/office/powerpoint/2012/main">
        <p15:guide id="1" pos="4967">
          <p15:clr>
            <a:srgbClr val="FBAE40"/>
          </p15:clr>
        </p15:guide>
        <p15:guide id="0" orient="horz" pos="2160" userDrawn="1">
          <p15:clr>
            <a:srgbClr val="FBAE40"/>
          </p15:clr>
        </p15:guide>
        <p15:guide id="2" pos="662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lgn="ctr">
              <a:defRPr sz="3200" b="1">
                <a:latin typeface="+mn-ea"/>
                <a:ea typeface="+mn-ea"/>
              </a:defRPr>
            </a:lvl1pPr>
          </a:lstStyle>
          <a:p>
            <a:r>
              <a:rPr lang="zh-CN" altLang="en-US" dirty="0"/>
              <a:t>单击此处编辑母版标题样式</a:t>
            </a:r>
            <a:endParaRPr lang="en-US" dirty="0"/>
          </a:p>
        </p:txBody>
      </p:sp>
      <p:sp>
        <p:nvSpPr>
          <p:cNvPr id="3" name="KSO_BC1"/>
          <p:cNvSpPr>
            <a:spLocks noGrp="1"/>
          </p:cNvSpPr>
          <p:nvPr>
            <p:ph idx="1"/>
          </p:nvPr>
        </p:nvSpPr>
        <p:spPr/>
        <p:txBody>
          <a:bodyPr>
            <a:normAutofit/>
          </a:bodyPr>
          <a:lstStyle>
            <a:lvl1pPr>
              <a:defRPr sz="2400" b="1">
                <a:solidFill>
                  <a:schemeClr val="tx1">
                    <a:lumMod val="50000"/>
                  </a:schemeClr>
                </a:solidFill>
                <a:latin typeface="+mj-ea"/>
                <a:ea typeface="+mj-ea"/>
              </a:defRPr>
            </a:lvl1pPr>
            <a:lvl2pPr>
              <a:defRPr sz="1400" b="1">
                <a:latin typeface="+mj-ea"/>
                <a:ea typeface="+mj-ea"/>
              </a:defRPr>
            </a:lvl2p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2026/4/7</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1050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1574008" y="1581152"/>
            <a:ext cx="5995988" cy="926306"/>
          </a:xfrm>
        </p:spPr>
        <p:txBody>
          <a:bodyPr anchor="b">
            <a:normAutofit/>
          </a:bodyPr>
          <a:lstStyle>
            <a:lvl1pPr algn="ctr">
              <a:defRPr sz="2000">
                <a:solidFill>
                  <a:schemeClr val="tx1">
                    <a:lumMod val="50000"/>
                  </a:schemeClr>
                </a:solidFill>
                <a:effectLst/>
              </a:defRPr>
            </a:lvl1pPr>
          </a:lstStyle>
          <a:p>
            <a:r>
              <a:rPr lang="zh-CN" altLang="en-US" dirty="0"/>
              <a:t>此处添加您的标题</a:t>
            </a:r>
            <a:endParaRPr lang="en-US" dirty="0"/>
          </a:p>
        </p:txBody>
      </p:sp>
      <p:sp>
        <p:nvSpPr>
          <p:cNvPr id="3" name="KSO_ST2"/>
          <p:cNvSpPr>
            <a:spLocks noGrp="1"/>
          </p:cNvSpPr>
          <p:nvPr>
            <p:ph type="body" idx="1" hasCustomPrompt="1"/>
          </p:nvPr>
        </p:nvSpPr>
        <p:spPr>
          <a:xfrm>
            <a:off x="3038171" y="2550318"/>
            <a:ext cx="3067663" cy="268109"/>
          </a:xfrm>
          <a:prstGeom prst="roundRect">
            <a:avLst>
              <a:gd name="adj" fmla="val 50000"/>
            </a:avLst>
          </a:prstGeom>
          <a:noFill/>
        </p:spPr>
        <p:txBody>
          <a:bodyPr anchor="ctr">
            <a:normAutofit/>
          </a:bodyPr>
          <a:lstStyle>
            <a:lvl1pPr marL="0" indent="0" algn="ctr">
              <a:buNone/>
              <a:defRPr sz="900">
                <a:solidFill>
                  <a:schemeClr val="tx1"/>
                </a:solidFill>
              </a:defRPr>
            </a:lvl1pPr>
            <a:lvl2pPr marL="257175" indent="0">
              <a:buNone/>
              <a:defRPr sz="1100">
                <a:solidFill>
                  <a:schemeClr val="tx1">
                    <a:tint val="75000"/>
                  </a:schemeClr>
                </a:solidFill>
              </a:defRPr>
            </a:lvl2pPr>
            <a:lvl3pPr marL="514350" indent="0">
              <a:buNone/>
              <a:defRPr sz="1000">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FE7BD1D-B284-4506-85BF-D02BB5BA5E47}" type="datetimeFigureOut">
              <a:rPr lang="zh-CN" altLang="en-US" smtClean="0"/>
              <a:t>2026/4/7</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334106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049867" y="933453"/>
            <a:ext cx="3810000"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4" name="KSO_BC2"/>
          <p:cNvSpPr>
            <a:spLocks noGrp="1"/>
          </p:cNvSpPr>
          <p:nvPr>
            <p:ph sz="half" idx="2"/>
          </p:nvPr>
        </p:nvSpPr>
        <p:spPr>
          <a:xfrm>
            <a:off x="4889501" y="933453"/>
            <a:ext cx="3820587"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5" name="KSO_FD"/>
          <p:cNvSpPr>
            <a:spLocks noGrp="1"/>
          </p:cNvSpPr>
          <p:nvPr>
            <p:ph type="dt" sz="half" idx="10"/>
          </p:nvPr>
        </p:nvSpPr>
        <p:spPr/>
        <p:txBody>
          <a:bodyPr/>
          <a:lstStyle/>
          <a:p>
            <a:fld id="{1FE7BD1D-B284-4506-85BF-D02BB5BA5E47}" type="datetimeFigureOut">
              <a:rPr lang="zh-CN" altLang="en-US" smtClean="0"/>
              <a:t>2026/4/7</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1572907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1727199" y="88899"/>
            <a:ext cx="6984076" cy="53776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4578" y="1032272"/>
            <a:ext cx="3868340"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4" name="KSO_BC1"/>
          <p:cNvSpPr>
            <a:spLocks noGrp="1"/>
          </p:cNvSpPr>
          <p:nvPr>
            <p:ph sz="half" idx="2"/>
          </p:nvPr>
        </p:nvSpPr>
        <p:spPr>
          <a:xfrm>
            <a:off x="824578" y="1650206"/>
            <a:ext cx="3868340" cy="2763441"/>
          </a:xfrm>
        </p:spPr>
        <p:txBody>
          <a:bodyPr/>
          <a:lstStyle/>
          <a:p>
            <a:pPr lvl="0"/>
            <a:r>
              <a:rPr lang="zh-CN" altLang="en-US"/>
              <a:t>单击此处编辑母版文本样式</a:t>
            </a:r>
          </a:p>
          <a:p>
            <a:pPr lvl="1"/>
            <a:r>
              <a:rPr lang="zh-CN" altLang="en-US"/>
              <a:t>第二级</a:t>
            </a:r>
          </a:p>
        </p:txBody>
      </p:sp>
      <p:sp>
        <p:nvSpPr>
          <p:cNvPr id="5" name="Text Placeholder 4"/>
          <p:cNvSpPr>
            <a:spLocks noGrp="1"/>
          </p:cNvSpPr>
          <p:nvPr>
            <p:ph type="body" sz="quarter" idx="3"/>
          </p:nvPr>
        </p:nvSpPr>
        <p:spPr>
          <a:xfrm>
            <a:off x="4823885" y="1032272"/>
            <a:ext cx="3887391"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6" name="KSO_BC2"/>
          <p:cNvSpPr>
            <a:spLocks noGrp="1"/>
          </p:cNvSpPr>
          <p:nvPr>
            <p:ph sz="quarter" idx="4"/>
          </p:nvPr>
        </p:nvSpPr>
        <p:spPr>
          <a:xfrm>
            <a:off x="4823885" y="1650206"/>
            <a:ext cx="3887391" cy="2763441"/>
          </a:xfrm>
        </p:spPr>
        <p:txBody>
          <a:bodyPr/>
          <a:lstStyle/>
          <a:p>
            <a:pPr lvl="0"/>
            <a:r>
              <a:rPr lang="zh-CN" altLang="en-US"/>
              <a:t>单击此处编辑母版文本样式</a:t>
            </a:r>
          </a:p>
          <a:p>
            <a:pPr lvl="1"/>
            <a:r>
              <a:rPr lang="zh-CN" altLang="en-US"/>
              <a:t>第二级</a:t>
            </a:r>
          </a:p>
        </p:txBody>
      </p:sp>
      <p:sp>
        <p:nvSpPr>
          <p:cNvPr id="7" name="KSO_FD"/>
          <p:cNvSpPr>
            <a:spLocks noGrp="1"/>
          </p:cNvSpPr>
          <p:nvPr>
            <p:ph type="dt" sz="half" idx="10"/>
          </p:nvPr>
        </p:nvSpPr>
        <p:spPr/>
        <p:txBody>
          <a:bodyPr/>
          <a:lstStyle/>
          <a:p>
            <a:fld id="{1FE7BD1D-B284-4506-85BF-D02BB5BA5E47}" type="datetimeFigureOut">
              <a:rPr lang="zh-CN" altLang="en-US" smtClean="0"/>
              <a:t>2026/4/7</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39508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FE7BD1D-B284-4506-85BF-D02BB5BA5E47}" type="datetimeFigureOut">
              <a:rPr lang="zh-CN" altLang="en-US" smtClean="0"/>
              <a:t>2026/4/7</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975767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FE7BD1D-B284-4506-85BF-D02BB5BA5E47}" type="datetimeFigureOut">
              <a:rPr lang="zh-CN" altLang="en-US" smtClean="0"/>
              <a:t>2026/4/7</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825798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858444" y="400052"/>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p:cNvSpPr>
          <p:nvPr>
            <p:ph idx="1"/>
          </p:nvPr>
        </p:nvSpPr>
        <p:spPr>
          <a:xfrm>
            <a:off x="4115992" y="797724"/>
            <a:ext cx="4629150" cy="3655219"/>
          </a:xfrm>
        </p:spPr>
        <p:txBody>
          <a:bodyPr>
            <a:normAutofit/>
          </a:bodyPr>
          <a:lstStyle>
            <a:lvl1pPr>
              <a:defRPr sz="1100"/>
            </a:lvl1pPr>
            <a:lvl2pPr>
              <a:defRPr sz="1000"/>
            </a:lvl2pPr>
            <a:lvl3pPr>
              <a:defRPr sz="900"/>
            </a:lvl3pPr>
            <a:lvl4pPr>
              <a:defRPr sz="800"/>
            </a:lvl4pPr>
            <a:lvl5pPr>
              <a:defRPr sz="800"/>
            </a:lvl5pPr>
            <a:lvl6pPr>
              <a:defRPr sz="1100"/>
            </a:lvl6pPr>
            <a:lvl7pPr>
              <a:defRPr sz="1100"/>
            </a:lvl7pPr>
            <a:lvl8pPr>
              <a:defRPr sz="1100"/>
            </a:lvl8pPr>
            <a:lvl9pPr>
              <a:defRPr sz="1100"/>
            </a:lvl9pPr>
          </a:lstStyle>
          <a:p>
            <a:pPr lvl="0"/>
            <a:r>
              <a:rPr lang="zh-CN" altLang="en-US"/>
              <a:t>单击此处编辑母版文本样式</a:t>
            </a:r>
          </a:p>
          <a:p>
            <a:pPr lvl="1"/>
            <a:r>
              <a:rPr lang="zh-CN" altLang="en-US"/>
              <a:t>第二级</a:t>
            </a:r>
          </a:p>
        </p:txBody>
      </p:sp>
      <p:sp>
        <p:nvSpPr>
          <p:cNvPr id="4" name="KSO_BC2"/>
          <p:cNvSpPr>
            <a:spLocks noGrp="1"/>
          </p:cNvSpPr>
          <p:nvPr>
            <p:ph type="body" sz="half" idx="2"/>
          </p:nvPr>
        </p:nvSpPr>
        <p:spPr>
          <a:xfrm>
            <a:off x="858444" y="1600202"/>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2026/4/7</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70248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934644" y="342900"/>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4082125" y="740572"/>
            <a:ext cx="4629150" cy="3655219"/>
          </a:xfrm>
        </p:spPr>
        <p:txBody>
          <a:bodyPr anchor="t"/>
          <a:lstStyle>
            <a:lvl1pPr marL="0" indent="0">
              <a:buNone/>
              <a:defRPr sz="1800"/>
            </a:lvl1pPr>
            <a:lvl2pPr marL="257175" indent="0">
              <a:buNone/>
              <a:defRPr sz="1600"/>
            </a:lvl2pPr>
            <a:lvl3pPr marL="514350" indent="0">
              <a:buNone/>
              <a:defRPr sz="1400"/>
            </a:lvl3pPr>
            <a:lvl4pPr marL="771525" indent="0">
              <a:buNone/>
              <a:defRPr sz="1100"/>
            </a:lvl4pPr>
            <a:lvl5pPr marL="1028700" indent="0">
              <a:buNone/>
              <a:defRPr sz="1100"/>
            </a:lvl5pPr>
            <a:lvl6pPr marL="1285875" indent="0">
              <a:buNone/>
              <a:defRPr sz="1100"/>
            </a:lvl6pPr>
            <a:lvl7pPr marL="1543050" indent="0">
              <a:buNone/>
              <a:defRPr sz="1100"/>
            </a:lvl7pPr>
            <a:lvl8pPr marL="1800225" indent="0">
              <a:buNone/>
              <a:defRPr sz="1100"/>
            </a:lvl8pPr>
            <a:lvl9pPr marL="2057400" indent="0">
              <a:buNone/>
              <a:defRPr sz="1100"/>
            </a:lvl9pPr>
          </a:lstStyle>
          <a:p>
            <a:r>
              <a:rPr lang="zh-CN" altLang="en-US"/>
              <a:t>单击图标添加图片</a:t>
            </a:r>
            <a:endParaRPr lang="en-US" dirty="0"/>
          </a:p>
        </p:txBody>
      </p:sp>
      <p:sp>
        <p:nvSpPr>
          <p:cNvPr id="4" name="KSO_BC2"/>
          <p:cNvSpPr>
            <a:spLocks noGrp="1"/>
          </p:cNvSpPr>
          <p:nvPr>
            <p:ph type="body" sz="half" idx="2"/>
          </p:nvPr>
        </p:nvSpPr>
        <p:spPr>
          <a:xfrm>
            <a:off x="934644" y="1543050"/>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2026/4/7</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49400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2026/4/7</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769067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7628469" y="273844"/>
            <a:ext cx="886883" cy="4358879"/>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1585383" y="273844"/>
            <a:ext cx="5949952" cy="4358879"/>
          </a:xfrm>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2026/4/7</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612963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3">
            <a:extLst>
              <a:ext uri="{28A0092B-C50C-407E-A947-70E740481C1C}">
                <a14:useLocalDpi xmlns:a14="http://schemas.microsoft.com/office/drawing/2010/main" val="0"/>
              </a:ext>
            </a:extLst>
          </a:blip>
          <a:srcRect l="1474" t="26028" r="6166" b="4484"/>
          <a:stretch/>
        </p:blipFill>
        <p:spPr>
          <a:xfrm>
            <a:off x="-2" y="1753372"/>
            <a:ext cx="5924552" cy="3390128"/>
          </a:xfrm>
          <a:prstGeom prst="rect">
            <a:avLst/>
          </a:prstGeom>
        </p:spPr>
      </p:pic>
      <p:sp>
        <p:nvSpPr>
          <p:cNvPr id="4" name="KSO_FD"/>
          <p:cNvSpPr>
            <a:spLocks noGrp="1"/>
          </p:cNvSpPr>
          <p:nvPr>
            <p:ph type="dt" sz="half" idx="2"/>
          </p:nvPr>
        </p:nvSpPr>
        <p:spPr>
          <a:xfrm>
            <a:off x="628650" y="4838703"/>
            <a:ext cx="2057400" cy="273844"/>
          </a:xfrm>
          <a:prstGeom prst="rect">
            <a:avLst/>
          </a:prstGeom>
        </p:spPr>
        <p:txBody>
          <a:bodyPr vert="horz" lIns="68580" tIns="34290" rIns="68580" bIns="34290" rtlCol="0" anchor="ctr"/>
          <a:lstStyle>
            <a:lvl1pPr algn="l">
              <a:defRPr sz="900">
                <a:solidFill>
                  <a:schemeClr val="tx1"/>
                </a:solidFill>
              </a:defRPr>
            </a:lvl1pPr>
          </a:lstStyle>
          <a:p>
            <a:fld id="{1FE7BD1D-B284-4506-85BF-D02BB5BA5E47}" type="datetimeFigureOut">
              <a:rPr lang="zh-CN" altLang="en-US" smtClean="0"/>
              <a:t>2026/4/7</a:t>
            </a:fld>
            <a:endParaRPr lang="zh-CN" altLang="en-US"/>
          </a:p>
        </p:txBody>
      </p:sp>
      <p:sp>
        <p:nvSpPr>
          <p:cNvPr id="5" name="KSO_FT"/>
          <p:cNvSpPr>
            <a:spLocks noGrp="1"/>
          </p:cNvSpPr>
          <p:nvPr>
            <p:ph type="ftr" sz="quarter" idx="3"/>
          </p:nvPr>
        </p:nvSpPr>
        <p:spPr>
          <a:xfrm>
            <a:off x="3028950" y="4838703"/>
            <a:ext cx="3086100" cy="273844"/>
          </a:xfrm>
          <a:prstGeom prst="rect">
            <a:avLst/>
          </a:prstGeom>
        </p:spPr>
        <p:txBody>
          <a:bodyPr vert="horz" lIns="68580" tIns="34290" rIns="68580" bIns="34290" rtlCol="0" anchor="ctr"/>
          <a:lstStyle>
            <a:lvl1pPr algn="ctr">
              <a:defRPr sz="900">
                <a:solidFill>
                  <a:schemeClr val="tx1"/>
                </a:solidFill>
              </a:defRPr>
            </a:lvl1pPr>
          </a:lstStyle>
          <a:p>
            <a:endParaRPr lang="zh-CN" altLang="en-US"/>
          </a:p>
        </p:txBody>
      </p:sp>
      <p:sp>
        <p:nvSpPr>
          <p:cNvPr id="6" name="KSO_FN"/>
          <p:cNvSpPr>
            <a:spLocks noGrp="1"/>
          </p:cNvSpPr>
          <p:nvPr>
            <p:ph type="sldNum" sz="quarter" idx="4"/>
          </p:nvPr>
        </p:nvSpPr>
        <p:spPr>
          <a:xfrm>
            <a:off x="6457950" y="4838703"/>
            <a:ext cx="2057400" cy="273844"/>
          </a:xfrm>
          <a:prstGeom prst="rect">
            <a:avLst/>
          </a:prstGeom>
        </p:spPr>
        <p:txBody>
          <a:bodyPr vert="horz" lIns="68580" tIns="34290" rIns="68580" bIns="34290" rtlCol="0" anchor="ctr"/>
          <a:lstStyle>
            <a:lvl1pPr algn="r">
              <a:defRPr sz="900">
                <a:solidFill>
                  <a:schemeClr val="tx1"/>
                </a:solidFill>
              </a:defRPr>
            </a:lvl1pPr>
          </a:lstStyle>
          <a:p>
            <a:fld id="{B175336B-BC74-4DD6-BD11-FD15792EF55D}" type="slidenum">
              <a:rPr lang="zh-CN" altLang="en-US" smtClean="0"/>
              <a:t>‹#›</a:t>
            </a:fld>
            <a:endParaRPr lang="zh-CN" altLang="en-US"/>
          </a:p>
        </p:txBody>
      </p:sp>
      <p:sp>
        <p:nvSpPr>
          <p:cNvPr id="3" name="KSO_BC1"/>
          <p:cNvSpPr>
            <a:spLocks noGrp="1"/>
          </p:cNvSpPr>
          <p:nvPr>
            <p:ph type="body" idx="1"/>
          </p:nvPr>
        </p:nvSpPr>
        <p:spPr>
          <a:xfrm>
            <a:off x="854015" y="850107"/>
            <a:ext cx="7866654" cy="3825107"/>
          </a:xfrm>
          <a:prstGeom prst="rect">
            <a:avLst/>
          </a:prstGeom>
        </p:spPr>
        <p:txBody>
          <a:bodyPr vert="horz" lIns="68580" tIns="34290" rIns="68580" bIns="34290" rtlCol="0">
            <a:normAutofit/>
          </a:bodyPr>
          <a:lstStyle/>
          <a:p>
            <a:pPr lvl="0"/>
            <a:r>
              <a:rPr lang="zh-CN" altLang="en-US" dirty="0"/>
              <a:t>单击此处编辑母版文本样式</a:t>
            </a:r>
          </a:p>
          <a:p>
            <a:pPr lvl="1"/>
            <a:r>
              <a:rPr lang="zh-CN" altLang="en-US" dirty="0"/>
              <a:t>第二级</a:t>
            </a:r>
          </a:p>
        </p:txBody>
      </p:sp>
      <p:sp>
        <p:nvSpPr>
          <p:cNvPr id="2" name="KSO_BT1"/>
          <p:cNvSpPr>
            <a:spLocks noGrp="1"/>
          </p:cNvSpPr>
          <p:nvPr>
            <p:ph type="title"/>
          </p:nvPr>
        </p:nvSpPr>
        <p:spPr>
          <a:xfrm>
            <a:off x="504826" y="160440"/>
            <a:ext cx="8215844" cy="597008"/>
          </a:xfrm>
          <a:prstGeom prst="rect">
            <a:avLst/>
          </a:prstGeom>
        </p:spPr>
        <p:txBody>
          <a:bodyPr vert="horz" lIns="68580" tIns="34290" rIns="68580" bIns="34290" rtlCol="0" anchor="ctr">
            <a:normAutofit/>
          </a:bodyPr>
          <a:lstStyle/>
          <a:p>
            <a:r>
              <a:rPr lang="zh-CN" altLang="en-US" dirty="0"/>
              <a:t>单击此处编辑母版标题样式</a:t>
            </a:r>
            <a:endParaRPr lang="en-US" dirty="0"/>
          </a:p>
        </p:txBody>
      </p:sp>
    </p:spTree>
    <p:extLst>
      <p:ext uri="{BB962C8B-B14F-4D97-AF65-F5344CB8AC3E}">
        <p14:creationId xmlns:p14="http://schemas.microsoft.com/office/powerpoint/2010/main" val="2821067487"/>
      </p:ext>
    </p:extLst>
  </p:cSld>
  <p:clrMap bg1="lt1" tx1="dk1" bg2="lt2" tx2="dk2" accent1="accent1" accent2="accent2" accent3="accent3" accent4="accent4" accent5="accent5" accent6="accent6" hlink="hlink" folHlink="folHlink"/>
  <p:sldLayoutIdLst>
    <p:sldLayoutId id="2147484094"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txStyles>
    <p:titleStyle>
      <a:lvl1pPr algn="ctr" defTabSz="514350" rtl="0" eaLnBrk="1" latinLnBrk="0" hangingPunct="1">
        <a:lnSpc>
          <a:spcPct val="90000"/>
        </a:lnSpc>
        <a:spcBef>
          <a:spcPct val="0"/>
        </a:spcBef>
        <a:buNone/>
        <a:defRPr sz="2400" b="0" i="0" kern="1200" baseline="0">
          <a:solidFill>
            <a:schemeClr val="tx1">
              <a:lumMod val="50000"/>
            </a:schemeClr>
          </a:solidFill>
          <a:effectLst/>
          <a:latin typeface="+mj-ea"/>
          <a:ea typeface="+mj-ea"/>
          <a:cs typeface="+mj-cs"/>
        </a:defRPr>
      </a:lvl1pPr>
    </p:titleStyle>
    <p:bodyStyle>
      <a:lvl1pPr marL="271463" indent="-271463" algn="just" defTabSz="514350" rtl="0" eaLnBrk="1" latinLnBrk="0" hangingPunct="1">
        <a:lnSpc>
          <a:spcPct val="110000"/>
        </a:lnSpc>
        <a:spcBef>
          <a:spcPts val="900"/>
        </a:spcBef>
        <a:spcAft>
          <a:spcPts val="0"/>
        </a:spcAft>
        <a:buClr>
          <a:schemeClr val="accent2"/>
        </a:buClr>
        <a:buSzPct val="50000"/>
        <a:buFont typeface="Wingdings 2" panose="05020102010507070707" pitchFamily="18" charset="2"/>
        <a:buChar char=""/>
        <a:defRPr lang="zh-CN" altLang="en-US" sz="1800" b="1" kern="1200" baseline="0" dirty="0" smtClean="0">
          <a:solidFill>
            <a:schemeClr val="accent1"/>
          </a:solidFill>
          <a:latin typeface="+mn-ea"/>
          <a:ea typeface="+mn-ea"/>
          <a:cs typeface="+mn-cs"/>
        </a:defRPr>
      </a:lvl1pPr>
      <a:lvl2pPr marL="271463" indent="-271463" algn="just" defTabSz="514350" rtl="0" eaLnBrk="1" latinLnBrk="0" hangingPunct="1">
        <a:lnSpc>
          <a:spcPct val="120000"/>
        </a:lnSpc>
        <a:spcBef>
          <a:spcPts val="0"/>
        </a:spcBef>
        <a:spcAft>
          <a:spcPts val="900"/>
        </a:spcAft>
        <a:buClr>
          <a:schemeClr val="accent2">
            <a:lumMod val="60000"/>
            <a:lumOff val="40000"/>
          </a:schemeClr>
        </a:buClr>
        <a:buFont typeface="幼圆" panose="02010509060101010101" pitchFamily="49" charset="-122"/>
        <a:buChar char=" "/>
        <a:defRPr sz="1400" b="0" kern="1200" baseline="0">
          <a:solidFill>
            <a:schemeClr val="tx1"/>
          </a:solidFill>
          <a:latin typeface="+mn-ea"/>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00"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514350" rtl="0" eaLnBrk="1" latinLnBrk="0" hangingPunct="1">
        <a:defRPr sz="1000" kern="1200">
          <a:solidFill>
            <a:schemeClr val="tx1"/>
          </a:solidFill>
          <a:latin typeface="+mn-lt"/>
          <a:ea typeface="+mn-ea"/>
          <a:cs typeface="+mn-cs"/>
        </a:defRPr>
      </a:lvl1pPr>
      <a:lvl2pPr marL="257175" algn="l" defTabSz="514350" rtl="0" eaLnBrk="1" latinLnBrk="0" hangingPunct="1">
        <a:defRPr sz="1000" kern="1200">
          <a:solidFill>
            <a:schemeClr val="tx1"/>
          </a:solidFill>
          <a:latin typeface="+mn-lt"/>
          <a:ea typeface="+mn-ea"/>
          <a:cs typeface="+mn-cs"/>
        </a:defRPr>
      </a:lvl2pPr>
      <a:lvl3pPr marL="514350" algn="l" defTabSz="514350" rtl="0" eaLnBrk="1" latinLnBrk="0" hangingPunct="1">
        <a:defRPr sz="1000" kern="1200">
          <a:solidFill>
            <a:schemeClr val="tx1"/>
          </a:solidFill>
          <a:latin typeface="+mn-lt"/>
          <a:ea typeface="+mn-ea"/>
          <a:cs typeface="+mn-cs"/>
        </a:defRPr>
      </a:lvl3pPr>
      <a:lvl4pPr marL="771525" algn="l" defTabSz="514350" rtl="0" eaLnBrk="1" latinLnBrk="0" hangingPunct="1">
        <a:defRPr sz="1000" kern="1200">
          <a:solidFill>
            <a:schemeClr val="tx1"/>
          </a:solidFill>
          <a:latin typeface="+mn-lt"/>
          <a:ea typeface="+mn-ea"/>
          <a:cs typeface="+mn-cs"/>
        </a:defRPr>
      </a:lvl4pPr>
      <a:lvl5pPr marL="1028700" algn="l" defTabSz="514350" rtl="0" eaLnBrk="1" latinLnBrk="0" hangingPunct="1">
        <a:defRPr sz="1000" kern="1200">
          <a:solidFill>
            <a:schemeClr val="tx1"/>
          </a:solidFill>
          <a:latin typeface="+mn-lt"/>
          <a:ea typeface="+mn-ea"/>
          <a:cs typeface="+mn-cs"/>
        </a:defRPr>
      </a:lvl5pPr>
      <a:lvl6pPr marL="1285875" algn="l" defTabSz="514350" rtl="0" eaLnBrk="1" latinLnBrk="0" hangingPunct="1">
        <a:defRPr sz="1000" kern="1200">
          <a:solidFill>
            <a:schemeClr val="tx1"/>
          </a:solidFill>
          <a:latin typeface="+mn-lt"/>
          <a:ea typeface="+mn-ea"/>
          <a:cs typeface="+mn-cs"/>
        </a:defRPr>
      </a:lvl6pPr>
      <a:lvl7pPr marL="1543050" algn="l" defTabSz="514350" rtl="0" eaLnBrk="1" latinLnBrk="0" hangingPunct="1">
        <a:defRPr sz="1000" kern="1200">
          <a:solidFill>
            <a:schemeClr val="tx1"/>
          </a:solidFill>
          <a:latin typeface="+mn-lt"/>
          <a:ea typeface="+mn-ea"/>
          <a:cs typeface="+mn-cs"/>
        </a:defRPr>
      </a:lvl7pPr>
      <a:lvl8pPr marL="1800225" algn="l" defTabSz="514350" rtl="0" eaLnBrk="1" latinLnBrk="0" hangingPunct="1">
        <a:defRPr sz="1000" kern="1200">
          <a:solidFill>
            <a:schemeClr val="tx1"/>
          </a:solidFill>
          <a:latin typeface="+mn-lt"/>
          <a:ea typeface="+mn-ea"/>
          <a:cs typeface="+mn-cs"/>
        </a:defRPr>
      </a:lvl8pPr>
      <a:lvl9pPr marL="2057400" algn="l" defTabSz="51435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gif"/><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523220"/>
          </a:xfrm>
          <a:prstGeom prst="rect">
            <a:avLst/>
          </a:prstGeom>
          <a:noFill/>
        </p:spPr>
        <p:txBody>
          <a:bodyPr wrap="square" rtlCol="0">
            <a:spAutoFit/>
          </a:bodyPr>
          <a:lstStyle/>
          <a:p>
            <a:r>
              <a:rPr lang="zh-CN" altLang="en-US" sz="2800" b="1" dirty="0">
                <a:latin typeface="Times New Roman" pitchFamily="18" charset="0"/>
                <a:ea typeface="宋体" pitchFamily="2" charset="-122"/>
                <a:cs typeface="Times New Roman" pitchFamily="18" charset="0"/>
              </a:rPr>
              <a:t>四、大体积混凝土工程</a:t>
            </a:r>
          </a:p>
        </p:txBody>
      </p:sp>
      <p:sp>
        <p:nvSpPr>
          <p:cNvPr id="5" name="TextBox 4"/>
          <p:cNvSpPr txBox="1"/>
          <p:nvPr/>
        </p:nvSpPr>
        <p:spPr>
          <a:xfrm>
            <a:off x="115463" y="89218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（一）施工组织设计</a:t>
            </a:r>
          </a:p>
        </p:txBody>
      </p:sp>
      <p:graphicFrame>
        <p:nvGraphicFramePr>
          <p:cNvPr id="2" name="表格 1"/>
          <p:cNvGraphicFramePr>
            <a:graphicFrameLocks noGrp="1"/>
          </p:cNvGraphicFramePr>
          <p:nvPr>
            <p:extLst>
              <p:ext uri="{D42A27DB-BD31-4B8C-83A1-F6EECF244321}">
                <p14:modId xmlns:p14="http://schemas.microsoft.com/office/powerpoint/2010/main" val="2634776613"/>
              </p:ext>
            </p:extLst>
          </p:nvPr>
        </p:nvGraphicFramePr>
        <p:xfrm>
          <a:off x="1043607" y="1419619"/>
          <a:ext cx="8064896" cy="3672407"/>
        </p:xfrm>
        <a:graphic>
          <a:graphicData uri="http://schemas.openxmlformats.org/drawingml/2006/table">
            <a:tbl>
              <a:tblPr firstRow="1" firstCol="1" bandRow="1">
                <a:tableStyleId>{16D9F66E-5EB9-4882-86FB-DCBF35E3C3E4}</a:tableStyleId>
              </a:tblPr>
              <a:tblGrid>
                <a:gridCol w="432049">
                  <a:extLst>
                    <a:ext uri="{9D8B030D-6E8A-4147-A177-3AD203B41FA5}">
                      <a16:colId xmlns:a16="http://schemas.microsoft.com/office/drawing/2014/main" val="20000"/>
                    </a:ext>
                  </a:extLst>
                </a:gridCol>
                <a:gridCol w="7632847">
                  <a:extLst>
                    <a:ext uri="{9D8B030D-6E8A-4147-A177-3AD203B41FA5}">
                      <a16:colId xmlns:a16="http://schemas.microsoft.com/office/drawing/2014/main" val="20001"/>
                    </a:ext>
                  </a:extLst>
                </a:gridCol>
              </a:tblGrid>
              <a:tr h="847477">
                <a:tc rowSpan="11">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施工组织设计</a:t>
                      </a:r>
                    </a:p>
                  </a:txBody>
                  <a:tcPr marL="53176" marR="53176" marT="0" marB="0" anchor="ct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1</a:t>
                      </a:r>
                      <a:r>
                        <a:rPr lang="zh-CN" sz="1600" b="1" kern="100" dirty="0">
                          <a:effectLst/>
                          <a:latin typeface="Times New Roman" pitchFamily="18" charset="0"/>
                          <a:ea typeface="宋体" pitchFamily="2" charset="-122"/>
                          <a:cs typeface="Times New Roman" pitchFamily="18" charset="0"/>
                        </a:rPr>
                        <a:t>）大体积混凝土施工应编制施工组织设计或施工技术方案，并应有环境保护和安全施工的技术措施。</a:t>
                      </a:r>
                    </a:p>
                  </a:txBody>
                  <a:tcPr marL="53176" marR="53176" marT="0" marB="0" anchor="ctr"/>
                </a:tc>
                <a:extLst>
                  <a:ext uri="{0D108BD9-81ED-4DB2-BD59-A6C34878D82A}">
                    <a16:rowId xmlns:a16="http://schemas.microsoft.com/office/drawing/2014/main" val="10000"/>
                  </a:ext>
                </a:extLst>
              </a:tr>
              <a:tr h="282493">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）主要内容包括：</a:t>
                      </a:r>
                    </a:p>
                  </a:txBody>
                  <a:tcPr marL="53176" marR="53176" marT="0" marB="0" anchor="ctr"/>
                </a:tc>
                <a:extLst>
                  <a:ext uri="{0D108BD9-81ED-4DB2-BD59-A6C34878D82A}">
                    <a16:rowId xmlns:a16="http://schemas.microsoft.com/office/drawing/2014/main" val="10001"/>
                  </a:ext>
                </a:extLst>
              </a:tr>
              <a:tr h="282493">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）大体积混凝土浇筑体温度应力和收缩应力计算结果；</a:t>
                      </a:r>
                    </a:p>
                  </a:txBody>
                  <a:tcPr marL="53176" marR="53176" marT="0" marB="0" anchor="ctr"/>
                </a:tc>
                <a:extLst>
                  <a:ext uri="{0D108BD9-81ED-4DB2-BD59-A6C34878D82A}">
                    <a16:rowId xmlns:a16="http://schemas.microsoft.com/office/drawing/2014/main" val="10002"/>
                  </a:ext>
                </a:extLst>
              </a:tr>
              <a:tr h="282493">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）施工阶段主要抗裂构造措施和温控指标的确定；</a:t>
                      </a:r>
                    </a:p>
                  </a:txBody>
                  <a:tcPr marL="53176" marR="53176" marT="0" marB="0" anchor="ctr"/>
                </a:tc>
                <a:extLst>
                  <a:ext uri="{0D108BD9-81ED-4DB2-BD59-A6C34878D82A}">
                    <a16:rowId xmlns:a16="http://schemas.microsoft.com/office/drawing/2014/main" val="10003"/>
                  </a:ext>
                </a:extLst>
              </a:tr>
              <a:tr h="282493">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）原材料优选、配合比设计、制备与运输计划；</a:t>
                      </a:r>
                    </a:p>
                  </a:txBody>
                  <a:tcPr marL="53176" marR="53176" marT="0" marB="0" anchor="ctr"/>
                </a:tc>
                <a:extLst>
                  <a:ext uri="{0D108BD9-81ED-4DB2-BD59-A6C34878D82A}">
                    <a16:rowId xmlns:a16="http://schemas.microsoft.com/office/drawing/2014/main" val="10004"/>
                  </a:ext>
                </a:extLst>
              </a:tr>
              <a:tr h="282493">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）主要施工设备和现场总平面布置；</a:t>
                      </a:r>
                    </a:p>
                  </a:txBody>
                  <a:tcPr marL="53176" marR="53176" marT="0" marB="0" anchor="ctr"/>
                </a:tc>
                <a:extLst>
                  <a:ext uri="{0D108BD9-81ED-4DB2-BD59-A6C34878D82A}">
                    <a16:rowId xmlns:a16="http://schemas.microsoft.com/office/drawing/2014/main" val="10005"/>
                  </a:ext>
                </a:extLst>
              </a:tr>
              <a:tr h="282493">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）温控监测设备和测试布置图；</a:t>
                      </a:r>
                    </a:p>
                  </a:txBody>
                  <a:tcPr marL="53176" marR="53176" marT="0" marB="0" anchor="ctr"/>
                </a:tc>
                <a:extLst>
                  <a:ext uri="{0D108BD9-81ED-4DB2-BD59-A6C34878D82A}">
                    <a16:rowId xmlns:a16="http://schemas.microsoft.com/office/drawing/2014/main" val="10006"/>
                  </a:ext>
                </a:extLst>
              </a:tr>
              <a:tr h="282493">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6</a:t>
                      </a:r>
                      <a:r>
                        <a:rPr lang="zh-CN" sz="1600" b="1" kern="100">
                          <a:effectLst/>
                          <a:latin typeface="Times New Roman" pitchFamily="18" charset="0"/>
                          <a:ea typeface="宋体" pitchFamily="2" charset="-122"/>
                          <a:cs typeface="Times New Roman" pitchFamily="18" charset="0"/>
                        </a:rPr>
                        <a:t>）浇筑顺序和施工进度计划</a:t>
                      </a:r>
                      <a:r>
                        <a:rPr lang="en-US" sz="1600" b="1" kern="100">
                          <a:effectLst/>
                          <a:latin typeface="Times New Roman" pitchFamily="18" charset="0"/>
                          <a:ea typeface="宋体" pitchFamily="2" charset="-122"/>
                          <a:cs typeface="Times New Roman" pitchFamily="18" charset="0"/>
                        </a:rPr>
                        <a:t>;</a:t>
                      </a:r>
                      <a:endParaRPr lang="zh-CN" sz="1600" b="1" kern="100">
                        <a:effectLst/>
                        <a:latin typeface="Times New Roman" pitchFamily="18" charset="0"/>
                        <a:ea typeface="宋体" pitchFamily="2" charset="-122"/>
                        <a:cs typeface="Times New Roman" pitchFamily="18" charset="0"/>
                      </a:endParaRPr>
                    </a:p>
                  </a:txBody>
                  <a:tcPr marL="53176" marR="53176" marT="0" marB="0" anchor="ctr"/>
                </a:tc>
                <a:extLst>
                  <a:ext uri="{0D108BD9-81ED-4DB2-BD59-A6C34878D82A}">
                    <a16:rowId xmlns:a16="http://schemas.microsoft.com/office/drawing/2014/main" val="10007"/>
                  </a:ext>
                </a:extLst>
              </a:tr>
              <a:tr h="282493">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7</a:t>
                      </a:r>
                      <a:r>
                        <a:rPr lang="zh-CN" sz="1600" b="1" kern="100">
                          <a:effectLst/>
                          <a:latin typeface="Times New Roman" pitchFamily="18" charset="0"/>
                          <a:ea typeface="宋体" pitchFamily="2" charset="-122"/>
                          <a:cs typeface="Times New Roman" pitchFamily="18" charset="0"/>
                        </a:rPr>
                        <a:t>）保温和保湿养护方法；</a:t>
                      </a:r>
                    </a:p>
                  </a:txBody>
                  <a:tcPr marL="53176" marR="53176" marT="0" marB="0" anchor="ctr"/>
                </a:tc>
                <a:extLst>
                  <a:ext uri="{0D108BD9-81ED-4DB2-BD59-A6C34878D82A}">
                    <a16:rowId xmlns:a16="http://schemas.microsoft.com/office/drawing/2014/main" val="10008"/>
                  </a:ext>
                </a:extLst>
              </a:tr>
              <a:tr h="282493">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8</a:t>
                      </a:r>
                      <a:r>
                        <a:rPr lang="zh-CN" sz="1600" b="1" kern="100">
                          <a:effectLst/>
                          <a:latin typeface="Times New Roman" pitchFamily="18" charset="0"/>
                          <a:ea typeface="宋体" pitchFamily="2" charset="-122"/>
                          <a:cs typeface="Times New Roman" pitchFamily="18" charset="0"/>
                        </a:rPr>
                        <a:t>）应急预案和应急保障措施；</a:t>
                      </a:r>
                    </a:p>
                  </a:txBody>
                  <a:tcPr marL="53176" marR="53176" marT="0" marB="0" anchor="ctr"/>
                </a:tc>
                <a:extLst>
                  <a:ext uri="{0D108BD9-81ED-4DB2-BD59-A6C34878D82A}">
                    <a16:rowId xmlns:a16="http://schemas.microsoft.com/office/drawing/2014/main" val="10009"/>
                  </a:ext>
                </a:extLst>
              </a:tr>
              <a:tr h="282493">
                <a:tc vMerge="1">
                  <a:txBody>
                    <a:bodyPr/>
                    <a:lstStyle/>
                    <a:p>
                      <a:endParaRPr lang="zh-CN" altLang="en-US"/>
                    </a:p>
                  </a:txBody>
                  <a:tcPr/>
                </a:tc>
                <a:tc>
                  <a:txBody>
                    <a:bodyPr/>
                    <a:lstStyle/>
                    <a:p>
                      <a:pPr algn="just">
                        <a:spcAft>
                          <a:spcPts val="0"/>
                        </a:spcAft>
                      </a:pPr>
                      <a:r>
                        <a:rPr lang="en-US" sz="1600" b="1" kern="100" dirty="0">
                          <a:effectLst/>
                          <a:latin typeface="Times New Roman" pitchFamily="18" charset="0"/>
                          <a:ea typeface="宋体" pitchFamily="2" charset="-122"/>
                          <a:cs typeface="Times New Roman" pitchFamily="18" charset="0"/>
                        </a:rPr>
                        <a:t>9</a:t>
                      </a:r>
                      <a:r>
                        <a:rPr lang="zh-CN" sz="1600" b="1" kern="100" dirty="0">
                          <a:effectLst/>
                          <a:latin typeface="Times New Roman" pitchFamily="18" charset="0"/>
                          <a:ea typeface="宋体" pitchFamily="2" charset="-122"/>
                          <a:cs typeface="Times New Roman" pitchFamily="18" charset="0"/>
                        </a:rPr>
                        <a:t>）特殊部位和特殊气候条件下的施工措施。</a:t>
                      </a:r>
                    </a:p>
                  </a:txBody>
                  <a:tcPr marL="53176" marR="53176" marT="0" marB="0"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437319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arn(inVertical)">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（二）施工规定</a:t>
            </a:r>
          </a:p>
        </p:txBody>
      </p:sp>
      <p:graphicFrame>
        <p:nvGraphicFramePr>
          <p:cNvPr id="2" name="表格 1"/>
          <p:cNvGraphicFramePr>
            <a:graphicFrameLocks noGrp="1"/>
          </p:cNvGraphicFramePr>
          <p:nvPr>
            <p:extLst>
              <p:ext uri="{D42A27DB-BD31-4B8C-83A1-F6EECF244321}">
                <p14:modId xmlns:p14="http://schemas.microsoft.com/office/powerpoint/2010/main" val="1924082800"/>
              </p:ext>
            </p:extLst>
          </p:nvPr>
        </p:nvGraphicFramePr>
        <p:xfrm>
          <a:off x="1043607" y="915566"/>
          <a:ext cx="8000848" cy="4176465"/>
        </p:xfrm>
        <a:graphic>
          <a:graphicData uri="http://schemas.openxmlformats.org/drawingml/2006/table">
            <a:tbl>
              <a:tblPr firstRow="1" firstCol="1" bandRow="1">
                <a:tableStyleId>{69CF1AB2-1976-4502-BF36-3FF5EA218861}</a:tableStyleId>
              </a:tblPr>
              <a:tblGrid>
                <a:gridCol w="339264">
                  <a:extLst>
                    <a:ext uri="{9D8B030D-6E8A-4147-A177-3AD203B41FA5}">
                      <a16:colId xmlns:a16="http://schemas.microsoft.com/office/drawing/2014/main" val="20000"/>
                    </a:ext>
                  </a:extLst>
                </a:gridCol>
                <a:gridCol w="7661584">
                  <a:extLst>
                    <a:ext uri="{9D8B030D-6E8A-4147-A177-3AD203B41FA5}">
                      <a16:colId xmlns:a16="http://schemas.microsoft.com/office/drawing/2014/main" val="20001"/>
                    </a:ext>
                  </a:extLst>
                </a:gridCol>
              </a:tblGrid>
              <a:tr h="835291">
                <a:tc rowSpan="7">
                  <a:txBody>
                    <a:bodyPr/>
                    <a:lstStyle/>
                    <a:p>
                      <a:pPr algn="ctr">
                        <a:spcAft>
                          <a:spcPts val="0"/>
                        </a:spcAft>
                      </a:pPr>
                      <a:r>
                        <a:rPr lang="zh-CN" sz="1600" b="1" kern="100">
                          <a:effectLst/>
                          <a:latin typeface="Times New Roman" pitchFamily="18" charset="0"/>
                          <a:ea typeface="宋体" pitchFamily="2" charset="-122"/>
                          <a:cs typeface="Times New Roman" pitchFamily="18" charset="0"/>
                        </a:rPr>
                        <a:t>施工规定</a:t>
                      </a:r>
                    </a:p>
                  </a:txBody>
                  <a:tcPr marL="53176" marR="53176"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）大体积混凝土的设计强度等级宜为</a:t>
                      </a:r>
                      <a:r>
                        <a:rPr lang="en-US" sz="1600" b="1" kern="100">
                          <a:effectLst/>
                          <a:latin typeface="Times New Roman" pitchFamily="18" charset="0"/>
                          <a:ea typeface="宋体" pitchFamily="2" charset="-122"/>
                          <a:cs typeface="Times New Roman" pitchFamily="18" charset="0"/>
                        </a:rPr>
                        <a:t>C25</a:t>
                      </a: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C50,</a:t>
                      </a:r>
                      <a:r>
                        <a:rPr lang="zh-CN" sz="1600" b="1" kern="100">
                          <a:effectLst/>
                          <a:latin typeface="Times New Roman" pitchFamily="18" charset="0"/>
                          <a:ea typeface="宋体" pitchFamily="2" charset="-122"/>
                          <a:cs typeface="Times New Roman" pitchFamily="18" charset="0"/>
                        </a:rPr>
                        <a:t>并可采用混凝土</a:t>
                      </a:r>
                      <a:r>
                        <a:rPr lang="en-US" sz="1600" b="1" kern="100">
                          <a:effectLst/>
                          <a:latin typeface="Times New Roman" pitchFamily="18" charset="0"/>
                          <a:ea typeface="宋体" pitchFamily="2" charset="-122"/>
                          <a:cs typeface="Times New Roman" pitchFamily="18" charset="0"/>
                        </a:rPr>
                        <a:t>60d</a:t>
                      </a:r>
                      <a:r>
                        <a:rPr lang="zh-CN" sz="1600" b="1" kern="100">
                          <a:effectLst/>
                          <a:latin typeface="Times New Roman" pitchFamily="18" charset="0"/>
                          <a:ea typeface="宋体" pitchFamily="2" charset="-122"/>
                          <a:cs typeface="Times New Roman" pitchFamily="18" charset="0"/>
                        </a:rPr>
                        <a:t>或</a:t>
                      </a:r>
                      <a:r>
                        <a:rPr lang="en-US" sz="1600" b="1" kern="100">
                          <a:effectLst/>
                          <a:latin typeface="Times New Roman" pitchFamily="18" charset="0"/>
                          <a:ea typeface="宋体" pitchFamily="2" charset="-122"/>
                          <a:cs typeface="Times New Roman" pitchFamily="18" charset="0"/>
                        </a:rPr>
                        <a:t>90d</a:t>
                      </a:r>
                      <a:r>
                        <a:rPr lang="zh-CN" sz="1600" b="1" kern="100">
                          <a:effectLst/>
                          <a:latin typeface="Times New Roman" pitchFamily="18" charset="0"/>
                          <a:ea typeface="宋体" pitchFamily="2" charset="-122"/>
                          <a:cs typeface="Times New Roman" pitchFamily="18" charset="0"/>
                        </a:rPr>
                        <a:t>的强度作为混凝土配合比设计、混凝土强度评定及工程验收的依据；</a:t>
                      </a:r>
                    </a:p>
                  </a:txBody>
                  <a:tcPr marL="53176" marR="53176" marT="0" marB="0" anchor="ctr"/>
                </a:tc>
                <a:extLst>
                  <a:ext uri="{0D108BD9-81ED-4DB2-BD59-A6C34878D82A}">
                    <a16:rowId xmlns:a16="http://schemas.microsoft.com/office/drawing/2014/main" val="10000"/>
                  </a:ext>
                </a:extLst>
              </a:tr>
              <a:tr h="835291">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）结构配筋除应满足结构承载力和构造要求外，还应结合大体积混凝土的施工方法配置控制温度和收缩的构造钢筋；</a:t>
                      </a:r>
                    </a:p>
                  </a:txBody>
                  <a:tcPr marL="53176" marR="53176" marT="0" marB="0" anchor="ctr"/>
                </a:tc>
                <a:extLst>
                  <a:ext uri="{0D108BD9-81ED-4DB2-BD59-A6C34878D82A}">
                    <a16:rowId xmlns:a16="http://schemas.microsoft.com/office/drawing/2014/main" val="10001"/>
                  </a:ext>
                </a:extLst>
              </a:tr>
              <a:tr h="417648">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）大体积混凝土置于岩石类地基上时，宜在混凝土垫层上设置滑动层；</a:t>
                      </a:r>
                    </a:p>
                  </a:txBody>
                  <a:tcPr marL="53176" marR="53176" marT="0" marB="0" anchor="ctr"/>
                </a:tc>
                <a:extLst>
                  <a:ext uri="{0D108BD9-81ED-4DB2-BD59-A6C34878D82A}">
                    <a16:rowId xmlns:a16="http://schemas.microsoft.com/office/drawing/2014/main" val="10002"/>
                  </a:ext>
                </a:extLst>
              </a:tr>
              <a:tr h="417648">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）设计中应采取减少大体积混凝土外部约束的技术措施；</a:t>
                      </a:r>
                    </a:p>
                  </a:txBody>
                  <a:tcPr marL="53176" marR="53176" marT="0" marB="0" anchor="ctr"/>
                </a:tc>
                <a:extLst>
                  <a:ext uri="{0D108BD9-81ED-4DB2-BD59-A6C34878D82A}">
                    <a16:rowId xmlns:a16="http://schemas.microsoft.com/office/drawing/2014/main" val="10003"/>
                  </a:ext>
                </a:extLst>
              </a:tr>
              <a:tr h="417648">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）设计中应根据工程情况提出温度场和应变的相关测试要求。</a:t>
                      </a:r>
                    </a:p>
                  </a:txBody>
                  <a:tcPr marL="53176" marR="53176" marT="0" marB="0" anchor="ctr"/>
                </a:tc>
                <a:extLst>
                  <a:ext uri="{0D108BD9-81ED-4DB2-BD59-A6C34878D82A}">
                    <a16:rowId xmlns:a16="http://schemas.microsoft.com/office/drawing/2014/main" val="10004"/>
                  </a:ext>
                </a:extLst>
              </a:tr>
              <a:tr h="835291">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6</a:t>
                      </a:r>
                      <a:r>
                        <a:rPr lang="zh-CN" sz="1600" b="1" kern="100">
                          <a:effectLst/>
                          <a:latin typeface="Times New Roman" pitchFamily="18" charset="0"/>
                          <a:ea typeface="宋体" pitchFamily="2" charset="-122"/>
                          <a:cs typeface="Times New Roman" pitchFamily="18" charset="0"/>
                        </a:rPr>
                        <a:t>）大体积混凝土拌合物运输应采用混凝土搅拌运输车，运输车应根据施工现场实际情况具有防晒、防雨和保温措施。</a:t>
                      </a:r>
                    </a:p>
                  </a:txBody>
                  <a:tcPr marL="53176" marR="53176" marT="0" marB="0" anchor="ctr"/>
                </a:tc>
                <a:extLst>
                  <a:ext uri="{0D108BD9-81ED-4DB2-BD59-A6C34878D82A}">
                    <a16:rowId xmlns:a16="http://schemas.microsoft.com/office/drawing/2014/main" val="10005"/>
                  </a:ext>
                </a:extLst>
              </a:tr>
              <a:tr h="417648">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7</a:t>
                      </a:r>
                      <a:r>
                        <a:rPr lang="zh-CN" sz="1600" b="1" kern="100" dirty="0">
                          <a:effectLst/>
                          <a:latin typeface="Times New Roman" pitchFamily="18" charset="0"/>
                          <a:ea typeface="宋体" pitchFamily="2" charset="-122"/>
                          <a:cs typeface="Times New Roman" pitchFamily="18" charset="0"/>
                        </a:rPr>
                        <a:t>）大体积混凝土供应能力应满足混凝土连续施工需要，≥单位时间所需量的</a:t>
                      </a:r>
                      <a:r>
                        <a:rPr lang="en-US" sz="1600" b="1" kern="100" dirty="0">
                          <a:effectLst/>
                          <a:latin typeface="Times New Roman" pitchFamily="18" charset="0"/>
                          <a:ea typeface="宋体" pitchFamily="2" charset="-122"/>
                          <a:cs typeface="Times New Roman" pitchFamily="18" charset="0"/>
                        </a:rPr>
                        <a:t>1.2</a:t>
                      </a:r>
                      <a:r>
                        <a:rPr lang="zh-CN" sz="1600" b="1" kern="100" dirty="0">
                          <a:effectLst/>
                          <a:latin typeface="Times New Roman" pitchFamily="18" charset="0"/>
                          <a:ea typeface="宋体" pitchFamily="2" charset="-122"/>
                          <a:cs typeface="Times New Roman" pitchFamily="18" charset="0"/>
                        </a:rPr>
                        <a:t>倍。</a:t>
                      </a:r>
                    </a:p>
                  </a:txBody>
                  <a:tcPr marL="53176" marR="53176"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37319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（三）水泥选用及配合比设计</a:t>
            </a:r>
          </a:p>
        </p:txBody>
      </p:sp>
      <p:graphicFrame>
        <p:nvGraphicFramePr>
          <p:cNvPr id="2" name="表格 1"/>
          <p:cNvGraphicFramePr>
            <a:graphicFrameLocks noGrp="1"/>
          </p:cNvGraphicFramePr>
          <p:nvPr>
            <p:extLst>
              <p:ext uri="{D42A27DB-BD31-4B8C-83A1-F6EECF244321}">
                <p14:modId xmlns:p14="http://schemas.microsoft.com/office/powerpoint/2010/main" val="1205454159"/>
              </p:ext>
            </p:extLst>
          </p:nvPr>
        </p:nvGraphicFramePr>
        <p:xfrm>
          <a:off x="1043607" y="915562"/>
          <a:ext cx="8000848" cy="4104459"/>
        </p:xfrm>
        <a:graphic>
          <a:graphicData uri="http://schemas.openxmlformats.org/drawingml/2006/table">
            <a:tbl>
              <a:tblPr firstRow="1" firstCol="1" bandRow="1">
                <a:tableStyleId>{8A107856-5554-42FB-B03E-39F5DBC370BA}</a:tableStyleId>
              </a:tblPr>
              <a:tblGrid>
                <a:gridCol w="705474">
                  <a:extLst>
                    <a:ext uri="{9D8B030D-6E8A-4147-A177-3AD203B41FA5}">
                      <a16:colId xmlns:a16="http://schemas.microsoft.com/office/drawing/2014/main" val="20000"/>
                    </a:ext>
                  </a:extLst>
                </a:gridCol>
                <a:gridCol w="7295374">
                  <a:extLst>
                    <a:ext uri="{9D8B030D-6E8A-4147-A177-3AD203B41FA5}">
                      <a16:colId xmlns:a16="http://schemas.microsoft.com/office/drawing/2014/main" val="20001"/>
                    </a:ext>
                  </a:extLst>
                </a:gridCol>
              </a:tblGrid>
              <a:tr h="456051">
                <a:tc rowSpan="2">
                  <a:txBody>
                    <a:bodyPr/>
                    <a:lstStyle/>
                    <a:p>
                      <a:pPr algn="ctr">
                        <a:lnSpc>
                          <a:spcPct val="150000"/>
                        </a:lnSpc>
                        <a:spcAft>
                          <a:spcPts val="0"/>
                        </a:spcAft>
                      </a:pPr>
                      <a:r>
                        <a:rPr lang="zh-CN" sz="1400" b="1" kern="100">
                          <a:effectLst/>
                          <a:latin typeface="Times New Roman" pitchFamily="18" charset="0"/>
                          <a:ea typeface="宋体" pitchFamily="2" charset="-122"/>
                          <a:cs typeface="Times New Roman" pitchFamily="18" charset="0"/>
                        </a:rPr>
                        <a:t>水泥选用</a:t>
                      </a:r>
                    </a:p>
                  </a:txBody>
                  <a:tcPr marL="54131" marR="54131" marT="0" marB="0" anchor="ctr"/>
                </a:tc>
                <a:tc>
                  <a:txBody>
                    <a:bodyPr/>
                    <a:lstStyle/>
                    <a:p>
                      <a:pPr algn="just">
                        <a:lnSpc>
                          <a:spcPct val="150000"/>
                        </a:lnSpc>
                        <a:spcAft>
                          <a:spcPts val="0"/>
                        </a:spcAft>
                      </a:pPr>
                      <a:r>
                        <a:rPr lang="zh-CN" sz="1400" b="1" kern="100">
                          <a:effectLst/>
                          <a:latin typeface="Times New Roman" pitchFamily="18" charset="0"/>
                          <a:ea typeface="宋体" pitchFamily="2" charset="-122"/>
                          <a:cs typeface="Times New Roman" pitchFamily="18" charset="0"/>
                        </a:rPr>
                        <a:t>（</a:t>
                      </a:r>
                      <a:r>
                        <a:rPr lang="en-US" sz="1400" b="1" kern="100">
                          <a:effectLst/>
                          <a:latin typeface="Times New Roman" pitchFamily="18" charset="0"/>
                          <a:ea typeface="宋体" pitchFamily="2" charset="-122"/>
                          <a:cs typeface="Times New Roman" pitchFamily="18" charset="0"/>
                        </a:rPr>
                        <a:t>1</a:t>
                      </a:r>
                      <a:r>
                        <a:rPr lang="zh-CN" sz="1400" b="1" kern="100">
                          <a:effectLst/>
                          <a:latin typeface="Times New Roman" pitchFamily="18" charset="0"/>
                          <a:ea typeface="宋体" pitchFamily="2" charset="-122"/>
                          <a:cs typeface="Times New Roman" pitchFamily="18" charset="0"/>
                        </a:rPr>
                        <a:t>）应选用水化热低的通用硅酸盐水泥，</a:t>
                      </a:r>
                      <a:r>
                        <a:rPr lang="en-US" sz="1400" b="1" kern="100">
                          <a:effectLst/>
                          <a:latin typeface="Times New Roman" pitchFamily="18" charset="0"/>
                          <a:ea typeface="宋体" pitchFamily="2" charset="-122"/>
                          <a:cs typeface="Times New Roman" pitchFamily="18" charset="0"/>
                        </a:rPr>
                        <a:t>3d</a:t>
                      </a:r>
                      <a:r>
                        <a:rPr lang="zh-CN" sz="1400" b="1" kern="100">
                          <a:effectLst/>
                          <a:latin typeface="Times New Roman" pitchFamily="18" charset="0"/>
                          <a:ea typeface="宋体" pitchFamily="2" charset="-122"/>
                          <a:cs typeface="Times New Roman" pitchFamily="18" charset="0"/>
                        </a:rPr>
                        <a:t>水化热≤</a:t>
                      </a:r>
                      <a:r>
                        <a:rPr lang="en-US" sz="1400" b="1" kern="100">
                          <a:effectLst/>
                          <a:latin typeface="Times New Roman" pitchFamily="18" charset="0"/>
                          <a:ea typeface="宋体" pitchFamily="2" charset="-122"/>
                          <a:cs typeface="Times New Roman" pitchFamily="18" charset="0"/>
                        </a:rPr>
                        <a:t>250kJ/kg</a:t>
                      </a:r>
                      <a:r>
                        <a:rPr lang="zh-CN" sz="1400" b="1" kern="100">
                          <a:effectLst/>
                          <a:latin typeface="Times New Roman" pitchFamily="18" charset="0"/>
                          <a:ea typeface="宋体" pitchFamily="2" charset="-122"/>
                          <a:cs typeface="Times New Roman" pitchFamily="18" charset="0"/>
                        </a:rPr>
                        <a:t>，</a:t>
                      </a:r>
                      <a:r>
                        <a:rPr lang="en-US" sz="1400" b="1" kern="100">
                          <a:effectLst/>
                          <a:latin typeface="Times New Roman" pitchFamily="18" charset="0"/>
                          <a:ea typeface="宋体" pitchFamily="2" charset="-122"/>
                          <a:cs typeface="Times New Roman" pitchFamily="18" charset="0"/>
                        </a:rPr>
                        <a:t>7d</a:t>
                      </a:r>
                      <a:r>
                        <a:rPr lang="zh-CN" sz="1400" b="1" kern="100">
                          <a:effectLst/>
                          <a:latin typeface="Times New Roman" pitchFamily="18" charset="0"/>
                          <a:ea typeface="宋体" pitchFamily="2" charset="-122"/>
                          <a:cs typeface="Times New Roman" pitchFamily="18" charset="0"/>
                        </a:rPr>
                        <a:t>水化热≤</a:t>
                      </a:r>
                      <a:r>
                        <a:rPr lang="en-US" sz="1400" b="1" kern="100">
                          <a:effectLst/>
                          <a:latin typeface="Times New Roman" pitchFamily="18" charset="0"/>
                          <a:ea typeface="宋体" pitchFamily="2" charset="-122"/>
                          <a:cs typeface="Times New Roman" pitchFamily="18" charset="0"/>
                        </a:rPr>
                        <a:t>280kJ/kg</a:t>
                      </a:r>
                      <a:r>
                        <a:rPr lang="zh-CN" sz="14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val="10000"/>
                  </a:ext>
                </a:extLst>
              </a:tr>
              <a:tr h="456051">
                <a:tc vMerge="1">
                  <a:txBody>
                    <a:bodyPr/>
                    <a:lstStyle/>
                    <a:p>
                      <a:endParaRPr lang="zh-CN" altLang="en-US"/>
                    </a:p>
                  </a:txBody>
                  <a:tcPr/>
                </a:tc>
                <a:tc>
                  <a:txBody>
                    <a:bodyPr/>
                    <a:lstStyle/>
                    <a:p>
                      <a:pPr algn="just">
                        <a:lnSpc>
                          <a:spcPct val="150000"/>
                        </a:lnSpc>
                        <a:spcAft>
                          <a:spcPts val="0"/>
                        </a:spcAft>
                      </a:pPr>
                      <a:r>
                        <a:rPr lang="zh-CN" sz="1400" b="1" kern="100">
                          <a:effectLst/>
                          <a:latin typeface="Times New Roman" pitchFamily="18" charset="0"/>
                          <a:ea typeface="宋体" pitchFamily="2" charset="-122"/>
                          <a:cs typeface="Times New Roman" pitchFamily="18" charset="0"/>
                        </a:rPr>
                        <a:t>（</a:t>
                      </a:r>
                      <a:r>
                        <a:rPr lang="en-US" sz="1400" b="1" kern="100">
                          <a:effectLst/>
                          <a:latin typeface="Times New Roman" pitchFamily="18" charset="0"/>
                          <a:ea typeface="宋体" pitchFamily="2" charset="-122"/>
                          <a:cs typeface="Times New Roman" pitchFamily="18" charset="0"/>
                        </a:rPr>
                        <a:t>2</a:t>
                      </a:r>
                      <a:r>
                        <a:rPr lang="zh-CN" sz="1400" b="1" kern="100">
                          <a:effectLst/>
                          <a:latin typeface="Times New Roman" pitchFamily="18" charset="0"/>
                          <a:ea typeface="宋体" pitchFamily="2" charset="-122"/>
                          <a:cs typeface="Times New Roman" pitchFamily="18" charset="0"/>
                        </a:rPr>
                        <a:t>）当选用</a:t>
                      </a:r>
                      <a:r>
                        <a:rPr lang="en-US" sz="1400" b="1" kern="100">
                          <a:effectLst/>
                          <a:latin typeface="Times New Roman" pitchFamily="18" charset="0"/>
                          <a:ea typeface="宋体" pitchFamily="2" charset="-122"/>
                          <a:cs typeface="Times New Roman" pitchFamily="18" charset="0"/>
                        </a:rPr>
                        <a:t>52.5</a:t>
                      </a:r>
                      <a:r>
                        <a:rPr lang="zh-CN" sz="1400" b="1" kern="100">
                          <a:effectLst/>
                          <a:latin typeface="Times New Roman" pitchFamily="18" charset="0"/>
                          <a:ea typeface="宋体" pitchFamily="2" charset="-122"/>
                          <a:cs typeface="Times New Roman" pitchFamily="18" charset="0"/>
                        </a:rPr>
                        <a:t>强度等级水泥时，</a:t>
                      </a:r>
                      <a:r>
                        <a:rPr lang="en-US" sz="1400" b="1" kern="100">
                          <a:effectLst/>
                          <a:latin typeface="Times New Roman" pitchFamily="18" charset="0"/>
                          <a:ea typeface="宋体" pitchFamily="2" charset="-122"/>
                          <a:cs typeface="Times New Roman" pitchFamily="18" charset="0"/>
                        </a:rPr>
                        <a:t>7d</a:t>
                      </a:r>
                      <a:r>
                        <a:rPr lang="zh-CN" sz="1400" b="1" kern="100">
                          <a:effectLst/>
                          <a:latin typeface="Times New Roman" pitchFamily="18" charset="0"/>
                          <a:ea typeface="宋体" pitchFamily="2" charset="-122"/>
                          <a:cs typeface="Times New Roman" pitchFamily="18" charset="0"/>
                        </a:rPr>
                        <a:t>水化热＜</a:t>
                      </a:r>
                      <a:r>
                        <a:rPr lang="en-US" sz="1400" b="1" kern="100">
                          <a:effectLst/>
                          <a:latin typeface="Times New Roman" pitchFamily="18" charset="0"/>
                          <a:ea typeface="宋体" pitchFamily="2" charset="-122"/>
                          <a:cs typeface="Times New Roman" pitchFamily="18" charset="0"/>
                        </a:rPr>
                        <a:t>300kJ/kg</a:t>
                      </a:r>
                      <a:r>
                        <a:rPr lang="zh-CN" sz="14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val="10001"/>
                  </a:ext>
                </a:extLst>
              </a:tr>
              <a:tr h="456051">
                <a:tc rowSpan="7">
                  <a:txBody>
                    <a:bodyPr/>
                    <a:lstStyle/>
                    <a:p>
                      <a:pPr algn="ctr">
                        <a:lnSpc>
                          <a:spcPct val="150000"/>
                        </a:lnSpc>
                        <a:spcAft>
                          <a:spcPts val="0"/>
                        </a:spcAft>
                      </a:pPr>
                      <a:r>
                        <a:rPr lang="zh-CN" sz="1400" b="1" kern="100">
                          <a:effectLst/>
                          <a:latin typeface="Times New Roman" pitchFamily="18" charset="0"/>
                          <a:ea typeface="宋体" pitchFamily="2" charset="-122"/>
                          <a:cs typeface="Times New Roman" pitchFamily="18" charset="0"/>
                        </a:rPr>
                        <a:t>配合比设计</a:t>
                      </a:r>
                    </a:p>
                  </a:txBody>
                  <a:tcPr marL="54131" marR="54131" marT="0" marB="0" anchor="ctr"/>
                </a:tc>
                <a:tc>
                  <a:txBody>
                    <a:bodyPr/>
                    <a:lstStyle/>
                    <a:p>
                      <a:pPr algn="just">
                        <a:lnSpc>
                          <a:spcPct val="150000"/>
                        </a:lnSpc>
                        <a:spcAft>
                          <a:spcPts val="0"/>
                        </a:spcAft>
                      </a:pPr>
                      <a:r>
                        <a:rPr lang="zh-CN" sz="1400" b="1" kern="100">
                          <a:effectLst/>
                          <a:latin typeface="Times New Roman" pitchFamily="18" charset="0"/>
                          <a:ea typeface="宋体" pitchFamily="2" charset="-122"/>
                          <a:cs typeface="Times New Roman" pitchFamily="18" charset="0"/>
                        </a:rPr>
                        <a:t>（</a:t>
                      </a:r>
                      <a:r>
                        <a:rPr lang="en-US" sz="1400" b="1" kern="100">
                          <a:effectLst/>
                          <a:latin typeface="Times New Roman" pitchFamily="18" charset="0"/>
                          <a:ea typeface="宋体" pitchFamily="2" charset="-122"/>
                          <a:cs typeface="Times New Roman" pitchFamily="18" charset="0"/>
                        </a:rPr>
                        <a:t>1</a:t>
                      </a:r>
                      <a:r>
                        <a:rPr lang="zh-CN" sz="1400" b="1" kern="100">
                          <a:effectLst/>
                          <a:latin typeface="Times New Roman" pitchFamily="18" charset="0"/>
                          <a:ea typeface="宋体" pitchFamily="2" charset="-122"/>
                          <a:cs typeface="Times New Roman" pitchFamily="18" charset="0"/>
                        </a:rPr>
                        <a:t>）混凝土拌合物的坍落度≤</a:t>
                      </a:r>
                      <a:r>
                        <a:rPr lang="en-US" sz="1400" b="1" kern="100">
                          <a:effectLst/>
                          <a:latin typeface="Times New Roman" pitchFamily="18" charset="0"/>
                          <a:ea typeface="宋体" pitchFamily="2" charset="-122"/>
                          <a:cs typeface="Times New Roman" pitchFamily="18" charset="0"/>
                        </a:rPr>
                        <a:t>180mm</a:t>
                      </a:r>
                      <a:r>
                        <a:rPr lang="zh-CN" sz="14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val="10002"/>
                  </a:ext>
                </a:extLst>
              </a:tr>
              <a:tr h="456051">
                <a:tc vMerge="1">
                  <a:txBody>
                    <a:bodyPr/>
                    <a:lstStyle/>
                    <a:p>
                      <a:endParaRPr lang="zh-CN" altLang="en-US"/>
                    </a:p>
                  </a:txBody>
                  <a:tcPr/>
                </a:tc>
                <a:tc>
                  <a:txBody>
                    <a:bodyPr/>
                    <a:lstStyle/>
                    <a:p>
                      <a:pPr algn="just">
                        <a:lnSpc>
                          <a:spcPct val="150000"/>
                        </a:lnSpc>
                        <a:spcAft>
                          <a:spcPts val="0"/>
                        </a:spcAft>
                      </a:pPr>
                      <a:r>
                        <a:rPr lang="zh-CN" sz="1400" b="1" kern="100">
                          <a:effectLst/>
                          <a:latin typeface="Times New Roman" pitchFamily="18" charset="0"/>
                          <a:ea typeface="宋体" pitchFamily="2" charset="-122"/>
                          <a:cs typeface="Times New Roman" pitchFamily="18" charset="0"/>
                        </a:rPr>
                        <a:t>（</a:t>
                      </a:r>
                      <a:r>
                        <a:rPr lang="en-US" sz="1400" b="1" kern="100">
                          <a:effectLst/>
                          <a:latin typeface="Times New Roman" pitchFamily="18" charset="0"/>
                          <a:ea typeface="宋体" pitchFamily="2" charset="-122"/>
                          <a:cs typeface="Times New Roman" pitchFamily="18" charset="0"/>
                        </a:rPr>
                        <a:t>2</a:t>
                      </a:r>
                      <a:r>
                        <a:rPr lang="zh-CN" sz="1400" b="1" kern="100">
                          <a:effectLst/>
                          <a:latin typeface="Times New Roman" pitchFamily="18" charset="0"/>
                          <a:ea typeface="宋体" pitchFamily="2" charset="-122"/>
                          <a:cs typeface="Times New Roman" pitchFamily="18" charset="0"/>
                        </a:rPr>
                        <a:t>）拌合水用量≤</a:t>
                      </a:r>
                      <a:r>
                        <a:rPr lang="en-US" sz="1400" b="1" kern="100">
                          <a:effectLst/>
                          <a:latin typeface="Times New Roman" pitchFamily="18" charset="0"/>
                          <a:ea typeface="宋体" pitchFamily="2" charset="-122"/>
                          <a:cs typeface="Times New Roman" pitchFamily="18" charset="0"/>
                        </a:rPr>
                        <a:t>170kg/m</a:t>
                      </a:r>
                      <a:r>
                        <a:rPr lang="en-US" sz="1400" b="1" kern="100" baseline="30000">
                          <a:effectLst/>
                          <a:latin typeface="Times New Roman" pitchFamily="18" charset="0"/>
                          <a:ea typeface="宋体" pitchFamily="2" charset="-122"/>
                          <a:cs typeface="Times New Roman" pitchFamily="18" charset="0"/>
                        </a:rPr>
                        <a:t>3</a:t>
                      </a:r>
                      <a:r>
                        <a:rPr lang="zh-CN" sz="14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val="10003"/>
                  </a:ext>
                </a:extLst>
              </a:tr>
              <a:tr h="456051">
                <a:tc vMerge="1">
                  <a:txBody>
                    <a:bodyPr/>
                    <a:lstStyle/>
                    <a:p>
                      <a:endParaRPr lang="zh-CN" altLang="en-US"/>
                    </a:p>
                  </a:txBody>
                  <a:tcPr/>
                </a:tc>
                <a:tc>
                  <a:txBody>
                    <a:bodyPr/>
                    <a:lstStyle/>
                    <a:p>
                      <a:pPr algn="just">
                        <a:lnSpc>
                          <a:spcPct val="150000"/>
                        </a:lnSpc>
                        <a:spcAft>
                          <a:spcPts val="0"/>
                        </a:spcAft>
                      </a:pPr>
                      <a:r>
                        <a:rPr lang="zh-CN" sz="1400" b="1" kern="100">
                          <a:effectLst/>
                          <a:latin typeface="Times New Roman" pitchFamily="18" charset="0"/>
                          <a:ea typeface="宋体" pitchFamily="2" charset="-122"/>
                          <a:cs typeface="Times New Roman" pitchFamily="18" charset="0"/>
                        </a:rPr>
                        <a:t>（</a:t>
                      </a:r>
                      <a:r>
                        <a:rPr lang="en-US" sz="1400" b="1" kern="100">
                          <a:effectLst/>
                          <a:latin typeface="Times New Roman" pitchFamily="18" charset="0"/>
                          <a:ea typeface="宋体" pitchFamily="2" charset="-122"/>
                          <a:cs typeface="Times New Roman" pitchFamily="18" charset="0"/>
                        </a:rPr>
                        <a:t>3</a:t>
                      </a:r>
                      <a:r>
                        <a:rPr lang="zh-CN" sz="1400" b="1" kern="100">
                          <a:effectLst/>
                          <a:latin typeface="Times New Roman" pitchFamily="18" charset="0"/>
                          <a:ea typeface="宋体" pitchFamily="2" charset="-122"/>
                          <a:cs typeface="Times New Roman" pitchFamily="18" charset="0"/>
                        </a:rPr>
                        <a:t>）粉煤灰掺量≤胶凝材料用量的</a:t>
                      </a:r>
                      <a:r>
                        <a:rPr lang="en-US" sz="1400" b="1" kern="100">
                          <a:effectLst/>
                          <a:latin typeface="Times New Roman" pitchFamily="18" charset="0"/>
                          <a:ea typeface="宋体" pitchFamily="2" charset="-122"/>
                          <a:cs typeface="Times New Roman" pitchFamily="18" charset="0"/>
                        </a:rPr>
                        <a:t>50%</a:t>
                      </a:r>
                      <a:r>
                        <a:rPr lang="zh-CN" sz="14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val="10004"/>
                  </a:ext>
                </a:extLst>
              </a:tr>
              <a:tr h="456051">
                <a:tc vMerge="1">
                  <a:txBody>
                    <a:bodyPr/>
                    <a:lstStyle/>
                    <a:p>
                      <a:endParaRPr lang="zh-CN" altLang="en-US"/>
                    </a:p>
                  </a:txBody>
                  <a:tcPr/>
                </a:tc>
                <a:tc>
                  <a:txBody>
                    <a:bodyPr/>
                    <a:lstStyle/>
                    <a:p>
                      <a:pPr algn="just">
                        <a:lnSpc>
                          <a:spcPct val="150000"/>
                        </a:lnSpc>
                        <a:spcAft>
                          <a:spcPts val="0"/>
                        </a:spcAft>
                      </a:pPr>
                      <a:r>
                        <a:rPr lang="zh-CN" sz="1400" b="1" kern="100">
                          <a:effectLst/>
                          <a:latin typeface="Times New Roman" pitchFamily="18" charset="0"/>
                          <a:ea typeface="宋体" pitchFamily="2" charset="-122"/>
                          <a:cs typeface="Times New Roman" pitchFamily="18" charset="0"/>
                        </a:rPr>
                        <a:t>（</a:t>
                      </a:r>
                      <a:r>
                        <a:rPr lang="en-US" sz="1400" b="1" kern="100">
                          <a:effectLst/>
                          <a:latin typeface="Times New Roman" pitchFamily="18" charset="0"/>
                          <a:ea typeface="宋体" pitchFamily="2" charset="-122"/>
                          <a:cs typeface="Times New Roman" pitchFamily="18" charset="0"/>
                        </a:rPr>
                        <a:t>4</a:t>
                      </a:r>
                      <a:r>
                        <a:rPr lang="zh-CN" sz="1400" b="1" kern="100">
                          <a:effectLst/>
                          <a:latin typeface="Times New Roman" pitchFamily="18" charset="0"/>
                          <a:ea typeface="宋体" pitchFamily="2" charset="-122"/>
                          <a:cs typeface="Times New Roman" pitchFamily="18" charset="0"/>
                        </a:rPr>
                        <a:t>）矿渣粉掺量≤胶凝材料用量的</a:t>
                      </a:r>
                      <a:r>
                        <a:rPr lang="en-US" sz="1400" b="1" kern="100">
                          <a:effectLst/>
                          <a:latin typeface="Times New Roman" pitchFamily="18" charset="0"/>
                          <a:ea typeface="宋体" pitchFamily="2" charset="-122"/>
                          <a:cs typeface="Times New Roman" pitchFamily="18" charset="0"/>
                        </a:rPr>
                        <a:t>40%</a:t>
                      </a:r>
                      <a:r>
                        <a:rPr lang="zh-CN" sz="14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val="10005"/>
                  </a:ext>
                </a:extLst>
              </a:tr>
              <a:tr h="456051">
                <a:tc vMerge="1">
                  <a:txBody>
                    <a:bodyPr/>
                    <a:lstStyle/>
                    <a:p>
                      <a:endParaRPr lang="zh-CN" altLang="en-US"/>
                    </a:p>
                  </a:txBody>
                  <a:tcPr/>
                </a:tc>
                <a:tc>
                  <a:txBody>
                    <a:bodyPr/>
                    <a:lstStyle/>
                    <a:p>
                      <a:pPr algn="just">
                        <a:lnSpc>
                          <a:spcPct val="150000"/>
                        </a:lnSpc>
                        <a:spcAft>
                          <a:spcPts val="0"/>
                        </a:spcAft>
                      </a:pPr>
                      <a:r>
                        <a:rPr lang="zh-CN" sz="1400" b="1" kern="100">
                          <a:effectLst/>
                          <a:latin typeface="Times New Roman" pitchFamily="18" charset="0"/>
                          <a:ea typeface="宋体" pitchFamily="2" charset="-122"/>
                          <a:cs typeface="Times New Roman" pitchFamily="18" charset="0"/>
                        </a:rPr>
                        <a:t>（</a:t>
                      </a:r>
                      <a:r>
                        <a:rPr lang="en-US" sz="1400" b="1" kern="100">
                          <a:effectLst/>
                          <a:latin typeface="Times New Roman" pitchFamily="18" charset="0"/>
                          <a:ea typeface="宋体" pitchFamily="2" charset="-122"/>
                          <a:cs typeface="Times New Roman" pitchFamily="18" charset="0"/>
                        </a:rPr>
                        <a:t>5</a:t>
                      </a:r>
                      <a:r>
                        <a:rPr lang="zh-CN" sz="1400" b="1" kern="100">
                          <a:effectLst/>
                          <a:latin typeface="Times New Roman" pitchFamily="18" charset="0"/>
                          <a:ea typeface="宋体" pitchFamily="2" charset="-122"/>
                          <a:cs typeface="Times New Roman" pitchFamily="18" charset="0"/>
                        </a:rPr>
                        <a:t>）粉煤灰和矿渣粉掺量总和≤胶凝材料用量的</a:t>
                      </a:r>
                      <a:r>
                        <a:rPr lang="en-US" sz="1400" b="1" kern="100">
                          <a:effectLst/>
                          <a:latin typeface="Times New Roman" pitchFamily="18" charset="0"/>
                          <a:ea typeface="宋体" pitchFamily="2" charset="-122"/>
                          <a:cs typeface="Times New Roman" pitchFamily="18" charset="0"/>
                        </a:rPr>
                        <a:t>50%</a:t>
                      </a:r>
                      <a:r>
                        <a:rPr lang="zh-CN" sz="14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val="10006"/>
                  </a:ext>
                </a:extLst>
              </a:tr>
              <a:tr h="456051">
                <a:tc vMerge="1">
                  <a:txBody>
                    <a:bodyPr/>
                    <a:lstStyle/>
                    <a:p>
                      <a:endParaRPr lang="zh-CN" altLang="en-US"/>
                    </a:p>
                  </a:txBody>
                  <a:tcPr/>
                </a:tc>
                <a:tc>
                  <a:txBody>
                    <a:bodyPr/>
                    <a:lstStyle/>
                    <a:p>
                      <a:pPr algn="just">
                        <a:lnSpc>
                          <a:spcPct val="150000"/>
                        </a:lnSpc>
                        <a:spcAft>
                          <a:spcPts val="0"/>
                        </a:spcAft>
                      </a:pPr>
                      <a:r>
                        <a:rPr lang="zh-CN" sz="1400" b="1" kern="100">
                          <a:effectLst/>
                          <a:latin typeface="Times New Roman" pitchFamily="18" charset="0"/>
                          <a:ea typeface="宋体" pitchFamily="2" charset="-122"/>
                          <a:cs typeface="Times New Roman" pitchFamily="18" charset="0"/>
                        </a:rPr>
                        <a:t>（</a:t>
                      </a:r>
                      <a:r>
                        <a:rPr lang="en-US" sz="1400" b="1" kern="100">
                          <a:effectLst/>
                          <a:latin typeface="Times New Roman" pitchFamily="18" charset="0"/>
                          <a:ea typeface="宋体" pitchFamily="2" charset="-122"/>
                          <a:cs typeface="Times New Roman" pitchFamily="18" charset="0"/>
                        </a:rPr>
                        <a:t>6</a:t>
                      </a:r>
                      <a:r>
                        <a:rPr lang="zh-CN" sz="1400" b="1" kern="100">
                          <a:effectLst/>
                          <a:latin typeface="Times New Roman" pitchFamily="18" charset="0"/>
                          <a:ea typeface="宋体" pitchFamily="2" charset="-122"/>
                          <a:cs typeface="Times New Roman" pitchFamily="18" charset="0"/>
                        </a:rPr>
                        <a:t>）水胶比≤</a:t>
                      </a:r>
                      <a:r>
                        <a:rPr lang="en-US" sz="1400" b="1" kern="100">
                          <a:effectLst/>
                          <a:latin typeface="Times New Roman" pitchFamily="18" charset="0"/>
                          <a:ea typeface="宋体" pitchFamily="2" charset="-122"/>
                          <a:cs typeface="Times New Roman" pitchFamily="18" charset="0"/>
                        </a:rPr>
                        <a:t>0.45</a:t>
                      </a:r>
                      <a:r>
                        <a:rPr lang="zh-CN" sz="14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val="10007"/>
                  </a:ext>
                </a:extLst>
              </a:tr>
              <a:tr h="456051">
                <a:tc vMerge="1">
                  <a:txBody>
                    <a:bodyPr/>
                    <a:lstStyle/>
                    <a:p>
                      <a:endParaRPr lang="zh-CN" altLang="en-US"/>
                    </a:p>
                  </a:txBody>
                  <a:tcPr/>
                </a:tc>
                <a:tc>
                  <a:txBody>
                    <a:bodyPr/>
                    <a:lstStyle/>
                    <a:p>
                      <a:pPr algn="just">
                        <a:lnSpc>
                          <a:spcPct val="150000"/>
                        </a:lnSpc>
                        <a:spcAft>
                          <a:spcPts val="0"/>
                        </a:spcAft>
                      </a:pPr>
                      <a:r>
                        <a:rPr lang="zh-CN" sz="1400" b="1" kern="100" dirty="0">
                          <a:effectLst/>
                          <a:latin typeface="Times New Roman" pitchFamily="18" charset="0"/>
                          <a:ea typeface="宋体" pitchFamily="2" charset="-122"/>
                          <a:cs typeface="Times New Roman" pitchFamily="18" charset="0"/>
                        </a:rPr>
                        <a:t>（</a:t>
                      </a:r>
                      <a:r>
                        <a:rPr lang="en-US" sz="1400" b="1" kern="100" dirty="0">
                          <a:effectLst/>
                          <a:latin typeface="Times New Roman" pitchFamily="18" charset="0"/>
                          <a:ea typeface="宋体" pitchFamily="2" charset="-122"/>
                          <a:cs typeface="Times New Roman" pitchFamily="18" charset="0"/>
                        </a:rPr>
                        <a:t>7</a:t>
                      </a:r>
                      <a:r>
                        <a:rPr lang="zh-CN" sz="1400" b="1" kern="100" dirty="0">
                          <a:effectLst/>
                          <a:latin typeface="Times New Roman" pitchFamily="18" charset="0"/>
                          <a:ea typeface="宋体" pitchFamily="2" charset="-122"/>
                          <a:cs typeface="Times New Roman" pitchFamily="18" charset="0"/>
                        </a:rPr>
                        <a:t>）砂率宜为</a:t>
                      </a:r>
                      <a:r>
                        <a:rPr lang="en-US" sz="1400" b="1" kern="100" dirty="0">
                          <a:effectLst/>
                          <a:latin typeface="Times New Roman" pitchFamily="18" charset="0"/>
                          <a:ea typeface="宋体" pitchFamily="2" charset="-122"/>
                          <a:cs typeface="Times New Roman" pitchFamily="18" charset="0"/>
                        </a:rPr>
                        <a:t>38%</a:t>
                      </a:r>
                      <a:r>
                        <a:rPr lang="zh-CN" sz="1400" b="1" kern="100" dirty="0">
                          <a:effectLst/>
                          <a:latin typeface="Times New Roman" pitchFamily="18" charset="0"/>
                          <a:ea typeface="宋体" pitchFamily="2" charset="-122"/>
                          <a:cs typeface="Times New Roman" pitchFamily="18" charset="0"/>
                        </a:rPr>
                        <a:t>～</a:t>
                      </a:r>
                      <a:r>
                        <a:rPr lang="en-US" sz="1400" b="1" kern="100" dirty="0">
                          <a:effectLst/>
                          <a:latin typeface="Times New Roman" pitchFamily="18" charset="0"/>
                          <a:ea typeface="宋体" pitchFamily="2" charset="-122"/>
                          <a:cs typeface="Times New Roman" pitchFamily="18" charset="0"/>
                        </a:rPr>
                        <a:t>45%</a:t>
                      </a:r>
                      <a:r>
                        <a:rPr lang="zh-CN" sz="1400" b="1" kern="100" dirty="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437319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（四）大体积混凝土浇筑</a:t>
            </a:r>
          </a:p>
        </p:txBody>
      </p:sp>
      <p:graphicFrame>
        <p:nvGraphicFramePr>
          <p:cNvPr id="2" name="表格 1"/>
          <p:cNvGraphicFramePr>
            <a:graphicFrameLocks noGrp="1"/>
          </p:cNvGraphicFramePr>
          <p:nvPr>
            <p:extLst>
              <p:ext uri="{D42A27DB-BD31-4B8C-83A1-F6EECF244321}">
                <p14:modId xmlns:p14="http://schemas.microsoft.com/office/powerpoint/2010/main" val="894495496"/>
              </p:ext>
            </p:extLst>
          </p:nvPr>
        </p:nvGraphicFramePr>
        <p:xfrm>
          <a:off x="1043607" y="830631"/>
          <a:ext cx="8000848" cy="4261399"/>
        </p:xfrm>
        <a:graphic>
          <a:graphicData uri="http://schemas.openxmlformats.org/drawingml/2006/table">
            <a:tbl>
              <a:tblPr firstRow="1" firstCol="1" bandRow="1">
                <a:tableStyleId>{0505E3EF-67EA-436B-97B2-0124C06EBD24}</a:tableStyleId>
              </a:tblPr>
              <a:tblGrid>
                <a:gridCol w="705474">
                  <a:extLst>
                    <a:ext uri="{9D8B030D-6E8A-4147-A177-3AD203B41FA5}">
                      <a16:colId xmlns:a16="http://schemas.microsoft.com/office/drawing/2014/main" val="20000"/>
                    </a:ext>
                  </a:extLst>
                </a:gridCol>
                <a:gridCol w="7295374">
                  <a:extLst>
                    <a:ext uri="{9D8B030D-6E8A-4147-A177-3AD203B41FA5}">
                      <a16:colId xmlns:a16="http://schemas.microsoft.com/office/drawing/2014/main" val="20001"/>
                    </a:ext>
                  </a:extLst>
                </a:gridCol>
              </a:tblGrid>
              <a:tr h="983399">
                <a:tc rowSpan="7">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大体积混凝土浇筑</a:t>
                      </a:r>
                    </a:p>
                  </a:txBody>
                  <a:tcPr marL="54131" marR="54131" marT="0" marB="0" anchor="ct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1</a:t>
                      </a:r>
                      <a:r>
                        <a:rPr lang="zh-CN" sz="1600" b="1" kern="100" dirty="0">
                          <a:effectLst/>
                          <a:latin typeface="Times New Roman" pitchFamily="18" charset="0"/>
                          <a:ea typeface="宋体" pitchFamily="2" charset="-122"/>
                          <a:cs typeface="Times New Roman" pitchFamily="18" charset="0"/>
                        </a:rPr>
                        <a:t>）宜采用整体分层或推移式连续浇筑施工，应缩短间歇时间，初凝之前次层混凝土浇筑完毕。层间间歇时间≤初凝时间。当层间间歇时间超过混凝土初凝时间时，应按施工缝处理。</a:t>
                      </a:r>
                    </a:p>
                  </a:txBody>
                  <a:tcPr marL="54131" marR="54131" marT="0" marB="0" anchor="ctr"/>
                </a:tc>
                <a:extLst>
                  <a:ext uri="{0D108BD9-81ED-4DB2-BD59-A6C34878D82A}">
                    <a16:rowId xmlns:a16="http://schemas.microsoft.com/office/drawing/2014/main" val="10000"/>
                  </a:ext>
                </a:extLst>
              </a:tr>
              <a:tr h="65560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）宜减少施工缝。设置水平施工缝时，位置及间歇时间应根据设计规定、温度裂缝控制规定、混凝土供应能力、钢筋工程施工、预埋管件安装等因素确定。</a:t>
                      </a:r>
                    </a:p>
                  </a:txBody>
                  <a:tcPr marL="54131" marR="54131" marT="0" marB="0" anchor="ctr"/>
                </a:tc>
                <a:extLst>
                  <a:ext uri="{0D108BD9-81ED-4DB2-BD59-A6C34878D82A}">
                    <a16:rowId xmlns:a16="http://schemas.microsoft.com/office/drawing/2014/main" val="10001"/>
                  </a:ext>
                </a:extLst>
              </a:tr>
              <a:tr h="65560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）采用跳仓法时，最大分块单向尺寸≤</a:t>
                      </a:r>
                      <a:r>
                        <a:rPr lang="en-US" sz="1600" b="1" kern="100">
                          <a:effectLst/>
                          <a:latin typeface="Times New Roman" pitchFamily="18" charset="0"/>
                          <a:ea typeface="宋体" pitchFamily="2" charset="-122"/>
                          <a:cs typeface="Times New Roman" pitchFamily="18" charset="0"/>
                        </a:rPr>
                        <a:t>40m</a:t>
                      </a:r>
                      <a:r>
                        <a:rPr lang="zh-CN" sz="1600" b="1" kern="100">
                          <a:effectLst/>
                          <a:latin typeface="Times New Roman" pitchFamily="18" charset="0"/>
                          <a:ea typeface="宋体" pitchFamily="2" charset="-122"/>
                          <a:cs typeface="Times New Roman" pitchFamily="18" charset="0"/>
                        </a:rPr>
                        <a:t>，间隔时间≥</a:t>
                      </a:r>
                      <a:r>
                        <a:rPr lang="en-US" sz="1600" b="1" kern="100">
                          <a:effectLst/>
                          <a:latin typeface="Times New Roman" pitchFamily="18" charset="0"/>
                          <a:ea typeface="宋体" pitchFamily="2" charset="-122"/>
                          <a:cs typeface="Times New Roman" pitchFamily="18" charset="0"/>
                        </a:rPr>
                        <a:t>7d</a:t>
                      </a:r>
                      <a:r>
                        <a:rPr lang="zh-CN" sz="1600" b="1" kern="100">
                          <a:effectLst/>
                          <a:latin typeface="Times New Roman" pitchFamily="18" charset="0"/>
                          <a:ea typeface="宋体" pitchFamily="2" charset="-122"/>
                          <a:cs typeface="Times New Roman" pitchFamily="18" charset="0"/>
                        </a:rPr>
                        <a:t>，接缝处按施工缝的要求设置和处理。</a:t>
                      </a:r>
                    </a:p>
                  </a:txBody>
                  <a:tcPr marL="54131" marR="54131" marT="0" marB="0" anchor="ctr"/>
                </a:tc>
                <a:extLst>
                  <a:ext uri="{0D108BD9-81ED-4DB2-BD59-A6C34878D82A}">
                    <a16:rowId xmlns:a16="http://schemas.microsoft.com/office/drawing/2014/main" val="10002"/>
                  </a:ext>
                </a:extLst>
              </a:tr>
              <a:tr h="32780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）入模温度宜控制在</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30</a:t>
                      </a:r>
                      <a:r>
                        <a:rPr lang="zh-CN" sz="16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val="10003"/>
                  </a:ext>
                </a:extLst>
              </a:tr>
              <a:tr h="65560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）浇筑层厚度应根据振捣器作用深度及混凝土的和易性确定，整体连续浇筑时宜为</a:t>
                      </a:r>
                      <a:r>
                        <a:rPr lang="en-US" sz="1600" b="1" kern="100">
                          <a:effectLst/>
                          <a:latin typeface="Times New Roman" pitchFamily="18" charset="0"/>
                          <a:ea typeface="宋体" pitchFamily="2" charset="-122"/>
                          <a:cs typeface="Times New Roman" pitchFamily="18" charset="0"/>
                        </a:rPr>
                        <a:t>300</a:t>
                      </a: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500mm</a:t>
                      </a:r>
                      <a:r>
                        <a:rPr lang="zh-CN" sz="1600" b="1" kern="100">
                          <a:effectLst/>
                          <a:latin typeface="Times New Roman" pitchFamily="18" charset="0"/>
                          <a:ea typeface="宋体" pitchFamily="2" charset="-122"/>
                          <a:cs typeface="Times New Roman" pitchFamily="18" charset="0"/>
                        </a:rPr>
                        <a:t>，应避免过振和漏振。</a:t>
                      </a:r>
                    </a:p>
                  </a:txBody>
                  <a:tcPr marL="54131" marR="54131" marT="0" marB="0" anchor="ctr"/>
                </a:tc>
                <a:extLst>
                  <a:ext uri="{0D108BD9-81ED-4DB2-BD59-A6C34878D82A}">
                    <a16:rowId xmlns:a16="http://schemas.microsoft.com/office/drawing/2014/main" val="10004"/>
                  </a:ext>
                </a:extLst>
              </a:tr>
              <a:tr h="32780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6</a:t>
                      </a:r>
                      <a:r>
                        <a:rPr lang="zh-CN" sz="1600" b="1" kern="100">
                          <a:effectLst/>
                          <a:latin typeface="Times New Roman" pitchFamily="18" charset="0"/>
                          <a:ea typeface="宋体" pitchFamily="2" charset="-122"/>
                          <a:cs typeface="Times New Roman" pitchFamily="18" charset="0"/>
                        </a:rPr>
                        <a:t>）宜采用泵送方式和二次振捣；及时对浇筑面多次抹压处理。</a:t>
                      </a:r>
                    </a:p>
                  </a:txBody>
                  <a:tcPr marL="54131" marR="54131" marT="0" marB="0" anchor="ctr"/>
                </a:tc>
                <a:extLst>
                  <a:ext uri="{0D108BD9-81ED-4DB2-BD59-A6C34878D82A}">
                    <a16:rowId xmlns:a16="http://schemas.microsoft.com/office/drawing/2014/main" val="10005"/>
                  </a:ext>
                </a:extLst>
              </a:tr>
              <a:tr h="655600">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7</a:t>
                      </a:r>
                      <a:r>
                        <a:rPr lang="zh-CN" sz="1600" b="1" kern="100" dirty="0">
                          <a:effectLst/>
                          <a:latin typeface="Times New Roman" pitchFamily="18" charset="0"/>
                          <a:ea typeface="宋体" pitchFamily="2" charset="-122"/>
                          <a:cs typeface="Times New Roman" pitchFamily="18" charset="0"/>
                        </a:rPr>
                        <a:t>）过程中突遇大雨或大雪，应及时在结构合理部位留置施工缝，并应中止浇筑；对已浇筑还未硬化的混凝土应立即覆盖，严禁雨水直接冲刷新浇筑的混凝土。</a:t>
                      </a:r>
                    </a:p>
                  </a:txBody>
                  <a:tcPr marL="54131" marR="54131"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37319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pic>
        <p:nvPicPr>
          <p:cNvPr id="4" name="图片 142" descr="7d2b23992dc09d21-0"/>
          <p:cNvPicPr>
            <a:picLocks noChangeAspect="1" noChangeArrowheads="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07504" y="368964"/>
            <a:ext cx="8928992" cy="2706842"/>
          </a:xfrm>
          <a:prstGeom prst="rect">
            <a:avLst/>
          </a:prstGeom>
          <a:solidFill>
            <a:schemeClr val="accent5">
              <a:lumMod val="60000"/>
              <a:lumOff val="40000"/>
            </a:schemeClr>
          </a:solidFill>
          <a:ln>
            <a:noFill/>
          </a:ln>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3608" y="3075806"/>
            <a:ext cx="2592288" cy="2016224"/>
          </a:xfrm>
          <a:prstGeom prst="rect">
            <a:avLst/>
          </a:prstGeom>
        </p:spPr>
      </p:pic>
      <p:pic>
        <p:nvPicPr>
          <p:cNvPr id="5" name="Picture 2" descr="http://5b0988e595225.cdn.sohucs.com/images/20181031/3b01d31398ad47c0bd3d0d4df58d424d.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635896" y="3075806"/>
            <a:ext cx="2664296" cy="2016224"/>
          </a:xfrm>
          <a:prstGeom prst="rect">
            <a:avLst/>
          </a:prstGeom>
          <a:noFill/>
          <a:extLst>
            <a:ext uri="{909E8E84-426E-40DD-AFC4-6F175D3DCCD1}">
              <a14:hiddenFill xmlns:a14="http://schemas.microsoft.com/office/drawing/2010/main">
                <a:solidFill>
                  <a:srgbClr val="FFFFFF"/>
                </a:solidFill>
              </a14:hiddenFill>
            </a:ext>
          </a:extLst>
        </p:spPr>
      </p:pic>
      <p:pic>
        <p:nvPicPr>
          <p:cNvPr id="24577"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0192" y="3075806"/>
            <a:ext cx="2736304"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7319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par>
                                <p:cTn id="18" presetID="16" presetClass="entr" presetSubtype="21" fill="hold" nodeType="withEffect">
                                  <p:stCondLst>
                                    <p:cond delay="0"/>
                                  </p:stCondLst>
                                  <p:childTnLst>
                                    <p:set>
                                      <p:cBhvr>
                                        <p:cTn id="19" dur="1" fill="hold">
                                          <p:stCondLst>
                                            <p:cond delay="0"/>
                                          </p:stCondLst>
                                        </p:cTn>
                                        <p:tgtEl>
                                          <p:spTgt spid="24577"/>
                                        </p:tgtEl>
                                        <p:attrNameLst>
                                          <p:attrName>style.visibility</p:attrName>
                                        </p:attrNameLst>
                                      </p:cBhvr>
                                      <p:to>
                                        <p:strVal val="visible"/>
                                      </p:to>
                                    </p:set>
                                    <p:animEffect transition="in" filter="barn(inVertical)">
                                      <p:cBhvr>
                                        <p:cTn id="20" dur="500"/>
                                        <p:tgtEl>
                                          <p:spTgt spid="245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5" name="TextBox 4"/>
          <p:cNvSpPr txBox="1"/>
          <p:nvPr/>
        </p:nvSpPr>
        <p:spPr>
          <a:xfrm>
            <a:off x="115463" y="36896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（五）大体积混凝土养护</a:t>
            </a:r>
          </a:p>
        </p:txBody>
      </p:sp>
      <p:graphicFrame>
        <p:nvGraphicFramePr>
          <p:cNvPr id="2" name="表格 1"/>
          <p:cNvGraphicFramePr>
            <a:graphicFrameLocks noGrp="1"/>
          </p:cNvGraphicFramePr>
          <p:nvPr>
            <p:extLst>
              <p:ext uri="{D42A27DB-BD31-4B8C-83A1-F6EECF244321}">
                <p14:modId xmlns:p14="http://schemas.microsoft.com/office/powerpoint/2010/main" val="4157149986"/>
              </p:ext>
            </p:extLst>
          </p:nvPr>
        </p:nvGraphicFramePr>
        <p:xfrm>
          <a:off x="1043607" y="915566"/>
          <a:ext cx="8000848" cy="4176464"/>
        </p:xfrm>
        <a:graphic>
          <a:graphicData uri="http://schemas.openxmlformats.org/drawingml/2006/table">
            <a:tbl>
              <a:tblPr firstRow="1" firstCol="1" bandRow="1">
                <a:tableStyleId>{8A107856-5554-42FB-B03E-39F5DBC370BA}</a:tableStyleId>
              </a:tblPr>
              <a:tblGrid>
                <a:gridCol w="705474">
                  <a:extLst>
                    <a:ext uri="{9D8B030D-6E8A-4147-A177-3AD203B41FA5}">
                      <a16:colId xmlns:a16="http://schemas.microsoft.com/office/drawing/2014/main" val="20000"/>
                    </a:ext>
                  </a:extLst>
                </a:gridCol>
                <a:gridCol w="7295374">
                  <a:extLst>
                    <a:ext uri="{9D8B030D-6E8A-4147-A177-3AD203B41FA5}">
                      <a16:colId xmlns:a16="http://schemas.microsoft.com/office/drawing/2014/main" val="20001"/>
                    </a:ext>
                  </a:extLst>
                </a:gridCol>
              </a:tblGrid>
              <a:tr h="696077">
                <a:tc rowSpan="4">
                  <a:txBody>
                    <a:bodyPr/>
                    <a:lstStyle/>
                    <a:p>
                      <a:pPr algn="ctr">
                        <a:lnSpc>
                          <a:spcPct val="150000"/>
                        </a:lnSpc>
                        <a:spcAft>
                          <a:spcPts val="0"/>
                        </a:spcAft>
                      </a:pPr>
                      <a:r>
                        <a:rPr lang="zh-CN" sz="1800" b="1" kern="100">
                          <a:effectLst/>
                          <a:latin typeface="Times New Roman" pitchFamily="18" charset="0"/>
                          <a:ea typeface="宋体" pitchFamily="2" charset="-122"/>
                          <a:cs typeface="Times New Roman" pitchFamily="18" charset="0"/>
                        </a:rPr>
                        <a:t>养护</a:t>
                      </a:r>
                    </a:p>
                  </a:txBody>
                  <a:tcPr marL="54131" marR="54131" marT="0" marB="0" anchor="ctr"/>
                </a:tc>
                <a:tc>
                  <a:txBody>
                    <a:bodyPr/>
                    <a:lstStyle/>
                    <a:p>
                      <a:pPr algn="just">
                        <a:lnSpc>
                          <a:spcPct val="150000"/>
                        </a:lnSpc>
                        <a:spcAft>
                          <a:spcPts val="0"/>
                        </a:spcAft>
                      </a:pPr>
                      <a:r>
                        <a:rPr lang="zh-CN" sz="1800" b="1" kern="100">
                          <a:effectLst/>
                          <a:latin typeface="Times New Roman" pitchFamily="18" charset="0"/>
                          <a:ea typeface="宋体" pitchFamily="2" charset="-122"/>
                          <a:cs typeface="Times New Roman" pitchFamily="18" charset="0"/>
                        </a:rPr>
                        <a:t>（</a:t>
                      </a:r>
                      <a:r>
                        <a:rPr lang="en-US" sz="1800" b="1" kern="100">
                          <a:effectLst/>
                          <a:latin typeface="Times New Roman" pitchFamily="18" charset="0"/>
                          <a:ea typeface="宋体" pitchFamily="2" charset="-122"/>
                          <a:cs typeface="Times New Roman" pitchFamily="18" charset="0"/>
                        </a:rPr>
                        <a:t>1</a:t>
                      </a:r>
                      <a:r>
                        <a:rPr lang="zh-CN" sz="1800" b="1" kern="100">
                          <a:effectLst/>
                          <a:latin typeface="Times New Roman" pitchFamily="18" charset="0"/>
                          <a:ea typeface="宋体" pitchFamily="2" charset="-122"/>
                          <a:cs typeface="Times New Roman" pitchFamily="18" charset="0"/>
                        </a:rPr>
                        <a:t>）应采取保温保湿养护；</a:t>
                      </a:r>
                    </a:p>
                  </a:txBody>
                  <a:tcPr marL="54131" marR="54131" marT="0" marB="0" anchor="ctr"/>
                </a:tc>
                <a:extLst>
                  <a:ext uri="{0D108BD9-81ED-4DB2-BD59-A6C34878D82A}">
                    <a16:rowId xmlns:a16="http://schemas.microsoft.com/office/drawing/2014/main" val="10000"/>
                  </a:ext>
                </a:extLst>
              </a:tr>
              <a:tr h="696077">
                <a:tc vMerge="1">
                  <a:txBody>
                    <a:bodyPr/>
                    <a:lstStyle/>
                    <a:p>
                      <a:endParaRPr lang="zh-CN" altLang="en-US"/>
                    </a:p>
                  </a:txBody>
                  <a:tcPr/>
                </a:tc>
                <a:tc>
                  <a:txBody>
                    <a:bodyPr/>
                    <a:lstStyle/>
                    <a:p>
                      <a:pPr algn="just">
                        <a:lnSpc>
                          <a:spcPct val="150000"/>
                        </a:lnSpc>
                        <a:spcAft>
                          <a:spcPts val="0"/>
                        </a:spcAft>
                      </a:pPr>
                      <a:r>
                        <a:rPr lang="zh-CN" sz="1800" b="1" kern="100">
                          <a:effectLst/>
                          <a:latin typeface="Times New Roman" pitchFamily="18" charset="0"/>
                          <a:ea typeface="宋体" pitchFamily="2" charset="-122"/>
                          <a:cs typeface="Times New Roman" pitchFamily="18" charset="0"/>
                        </a:rPr>
                        <a:t>（</a:t>
                      </a:r>
                      <a:r>
                        <a:rPr lang="en-US" sz="1800" b="1" kern="100">
                          <a:effectLst/>
                          <a:latin typeface="Times New Roman" pitchFamily="18" charset="0"/>
                          <a:ea typeface="宋体" pitchFamily="2" charset="-122"/>
                          <a:cs typeface="Times New Roman" pitchFamily="18" charset="0"/>
                        </a:rPr>
                        <a:t>2</a:t>
                      </a:r>
                      <a:r>
                        <a:rPr lang="zh-CN" sz="1800" b="1" kern="100">
                          <a:effectLst/>
                          <a:latin typeface="Times New Roman" pitchFamily="18" charset="0"/>
                          <a:ea typeface="宋体" pitchFamily="2" charset="-122"/>
                          <a:cs typeface="Times New Roman" pitchFamily="18" charset="0"/>
                        </a:rPr>
                        <a:t>）应专人负责保温养护工作，并应进行测试记录；</a:t>
                      </a:r>
                    </a:p>
                  </a:txBody>
                  <a:tcPr marL="54131" marR="54131" marT="0" marB="0" anchor="ctr"/>
                </a:tc>
                <a:extLst>
                  <a:ext uri="{0D108BD9-81ED-4DB2-BD59-A6C34878D82A}">
                    <a16:rowId xmlns:a16="http://schemas.microsoft.com/office/drawing/2014/main" val="10001"/>
                  </a:ext>
                </a:extLst>
              </a:tr>
              <a:tr h="1392155">
                <a:tc vMerge="1">
                  <a:txBody>
                    <a:bodyPr/>
                    <a:lstStyle/>
                    <a:p>
                      <a:endParaRPr lang="zh-CN" altLang="en-US"/>
                    </a:p>
                  </a:txBody>
                  <a:tcPr/>
                </a:tc>
                <a:tc>
                  <a:txBody>
                    <a:bodyPr/>
                    <a:lstStyle/>
                    <a:p>
                      <a:pPr algn="just">
                        <a:lnSpc>
                          <a:spcPct val="150000"/>
                        </a:lnSpc>
                        <a:spcAft>
                          <a:spcPts val="0"/>
                        </a:spcAft>
                      </a:pPr>
                      <a:r>
                        <a:rPr lang="zh-CN" sz="1800" b="1" kern="100">
                          <a:effectLst/>
                          <a:latin typeface="Times New Roman" pitchFamily="18" charset="0"/>
                          <a:ea typeface="宋体" pitchFamily="2" charset="-122"/>
                          <a:cs typeface="Times New Roman" pitchFamily="18" charset="0"/>
                        </a:rPr>
                        <a:t>（</a:t>
                      </a:r>
                      <a:r>
                        <a:rPr lang="en-US" sz="1800" b="1" kern="100">
                          <a:effectLst/>
                          <a:latin typeface="Times New Roman" pitchFamily="18" charset="0"/>
                          <a:ea typeface="宋体" pitchFamily="2" charset="-122"/>
                          <a:cs typeface="Times New Roman" pitchFamily="18" charset="0"/>
                        </a:rPr>
                        <a:t>3</a:t>
                      </a:r>
                      <a:r>
                        <a:rPr lang="zh-CN" sz="1800" b="1" kern="100">
                          <a:effectLst/>
                          <a:latin typeface="Times New Roman" pitchFamily="18" charset="0"/>
                          <a:ea typeface="宋体" pitchFamily="2" charset="-122"/>
                          <a:cs typeface="Times New Roman" pitchFamily="18" charset="0"/>
                        </a:rPr>
                        <a:t>）保湿养护的持续时间≥</a:t>
                      </a:r>
                      <a:r>
                        <a:rPr lang="en-US" sz="1800" b="1" kern="100">
                          <a:effectLst/>
                          <a:latin typeface="Times New Roman" pitchFamily="18" charset="0"/>
                          <a:ea typeface="宋体" pitchFamily="2" charset="-122"/>
                          <a:cs typeface="Times New Roman" pitchFamily="18" charset="0"/>
                        </a:rPr>
                        <a:t>14d</a:t>
                      </a:r>
                      <a:r>
                        <a:rPr lang="zh-CN" sz="1800" b="1" kern="100">
                          <a:effectLst/>
                          <a:latin typeface="Times New Roman" pitchFamily="18" charset="0"/>
                          <a:ea typeface="宋体" pitchFamily="2" charset="-122"/>
                          <a:cs typeface="Times New Roman" pitchFamily="18" charset="0"/>
                        </a:rPr>
                        <a:t>，应经常检查塑料薄膜或养护剂涂层的完整情况，保持混凝土表面湿润；</a:t>
                      </a:r>
                    </a:p>
                  </a:txBody>
                  <a:tcPr marL="54131" marR="54131" marT="0" marB="0" anchor="ctr"/>
                </a:tc>
                <a:extLst>
                  <a:ext uri="{0D108BD9-81ED-4DB2-BD59-A6C34878D82A}">
                    <a16:rowId xmlns:a16="http://schemas.microsoft.com/office/drawing/2014/main" val="10002"/>
                  </a:ext>
                </a:extLst>
              </a:tr>
              <a:tr h="1392155">
                <a:tc vMerge="1">
                  <a:txBody>
                    <a:bodyPr/>
                    <a:lstStyle/>
                    <a:p>
                      <a:endParaRPr lang="zh-CN" altLang="en-US"/>
                    </a:p>
                  </a:txBody>
                  <a:tcPr/>
                </a:tc>
                <a:tc>
                  <a:txBody>
                    <a:bodyPr/>
                    <a:lstStyle/>
                    <a:p>
                      <a:pPr algn="just">
                        <a:lnSpc>
                          <a:spcPct val="150000"/>
                        </a:lnSpc>
                        <a:spcAft>
                          <a:spcPts val="0"/>
                        </a:spcAft>
                      </a:pPr>
                      <a:r>
                        <a:rPr lang="zh-CN" sz="1800" b="1" kern="100" dirty="0">
                          <a:effectLst/>
                          <a:latin typeface="Times New Roman" pitchFamily="18" charset="0"/>
                          <a:ea typeface="宋体" pitchFamily="2" charset="-122"/>
                          <a:cs typeface="Times New Roman" pitchFamily="18" charset="0"/>
                        </a:rPr>
                        <a:t>（</a:t>
                      </a:r>
                      <a:r>
                        <a:rPr lang="en-US" sz="1800" b="1" kern="100" dirty="0">
                          <a:effectLst/>
                          <a:latin typeface="Times New Roman" pitchFamily="18" charset="0"/>
                          <a:ea typeface="宋体" pitchFamily="2" charset="-122"/>
                          <a:cs typeface="Times New Roman" pitchFamily="18" charset="0"/>
                        </a:rPr>
                        <a:t>4</a:t>
                      </a:r>
                      <a:r>
                        <a:rPr lang="zh-CN" sz="1800" b="1" kern="100" dirty="0">
                          <a:effectLst/>
                          <a:latin typeface="Times New Roman" pitchFamily="18" charset="0"/>
                          <a:ea typeface="宋体" pitchFamily="2" charset="-122"/>
                          <a:cs typeface="Times New Roman" pitchFamily="18" charset="0"/>
                        </a:rPr>
                        <a:t>）保温覆盖层拆除应分层逐步进行，当混凝土表面温度与环境最大温差＜</a:t>
                      </a:r>
                      <a:r>
                        <a:rPr lang="en-US" sz="1800" b="1" kern="100" dirty="0">
                          <a:effectLst/>
                          <a:latin typeface="Times New Roman" pitchFamily="18" charset="0"/>
                          <a:ea typeface="宋体" pitchFamily="2" charset="-122"/>
                          <a:cs typeface="Times New Roman" pitchFamily="18" charset="0"/>
                        </a:rPr>
                        <a:t>20</a:t>
                      </a:r>
                      <a:r>
                        <a:rPr lang="zh-CN" sz="1800" b="1" kern="100" dirty="0">
                          <a:effectLst/>
                          <a:latin typeface="Times New Roman" pitchFamily="18" charset="0"/>
                          <a:ea typeface="宋体" pitchFamily="2" charset="-122"/>
                          <a:cs typeface="Times New Roman" pitchFamily="18" charset="0"/>
                        </a:rPr>
                        <a:t>℃时，可全部拆除。</a:t>
                      </a:r>
                    </a:p>
                  </a:txBody>
                  <a:tcPr marL="54131" marR="54131"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1556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（六）试验取样和温控指标</a:t>
            </a:r>
          </a:p>
        </p:txBody>
      </p:sp>
      <p:graphicFrame>
        <p:nvGraphicFramePr>
          <p:cNvPr id="2" name="表格 1"/>
          <p:cNvGraphicFramePr>
            <a:graphicFrameLocks noGrp="1"/>
          </p:cNvGraphicFramePr>
          <p:nvPr>
            <p:extLst>
              <p:ext uri="{D42A27DB-BD31-4B8C-83A1-F6EECF244321}">
                <p14:modId xmlns:p14="http://schemas.microsoft.com/office/powerpoint/2010/main" val="1710516676"/>
              </p:ext>
            </p:extLst>
          </p:nvPr>
        </p:nvGraphicFramePr>
        <p:xfrm>
          <a:off x="1043607" y="830630"/>
          <a:ext cx="8000848" cy="4261402"/>
        </p:xfrm>
        <a:graphic>
          <a:graphicData uri="http://schemas.openxmlformats.org/drawingml/2006/table">
            <a:tbl>
              <a:tblPr firstRow="1" firstCol="1" bandRow="1">
                <a:tableStyleId>{0505E3EF-67EA-436B-97B2-0124C06EBD24}</a:tableStyleId>
              </a:tblPr>
              <a:tblGrid>
                <a:gridCol w="851958">
                  <a:extLst>
                    <a:ext uri="{9D8B030D-6E8A-4147-A177-3AD203B41FA5}">
                      <a16:colId xmlns:a16="http://schemas.microsoft.com/office/drawing/2014/main" val="20000"/>
                    </a:ext>
                  </a:extLst>
                </a:gridCol>
                <a:gridCol w="7148890">
                  <a:extLst>
                    <a:ext uri="{9D8B030D-6E8A-4147-A177-3AD203B41FA5}">
                      <a16:colId xmlns:a16="http://schemas.microsoft.com/office/drawing/2014/main" val="20001"/>
                    </a:ext>
                  </a:extLst>
                </a:gridCol>
              </a:tblGrid>
              <a:tr h="644893">
                <a:tc rowSpan="3">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试验取样</a:t>
                      </a:r>
                    </a:p>
                  </a:txBody>
                  <a:tcPr marL="57239" marR="57239"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）当一次连续浇筑≤</a:t>
                      </a:r>
                      <a:r>
                        <a:rPr lang="en-US" sz="1600" b="1" kern="100">
                          <a:effectLst/>
                          <a:latin typeface="Times New Roman" pitchFamily="18" charset="0"/>
                          <a:ea typeface="宋体" pitchFamily="2" charset="-122"/>
                          <a:cs typeface="Times New Roman" pitchFamily="18" charset="0"/>
                        </a:rPr>
                        <a:t>1000m</a:t>
                      </a:r>
                      <a:r>
                        <a:rPr lang="en-US" sz="1600" b="1" kern="100" baseline="300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同配合比的大体积混凝土时，混凝土强度试件现场取样不应少于</a:t>
                      </a:r>
                      <a:r>
                        <a:rPr lang="en-US" sz="1600" b="1" kern="100">
                          <a:effectLst/>
                          <a:latin typeface="Times New Roman" pitchFamily="18" charset="0"/>
                          <a:ea typeface="宋体" pitchFamily="2" charset="-122"/>
                          <a:cs typeface="Times New Roman" pitchFamily="18" charset="0"/>
                        </a:rPr>
                        <a:t>10</a:t>
                      </a:r>
                      <a:r>
                        <a:rPr lang="zh-CN" sz="1600" b="1" kern="100">
                          <a:effectLst/>
                          <a:latin typeface="Times New Roman" pitchFamily="18" charset="0"/>
                          <a:ea typeface="宋体" pitchFamily="2" charset="-122"/>
                          <a:cs typeface="Times New Roman" pitchFamily="18" charset="0"/>
                        </a:rPr>
                        <a:t>组。</a:t>
                      </a:r>
                    </a:p>
                  </a:txBody>
                  <a:tcPr marL="57239" marR="57239" marT="0" marB="0" anchor="ctr"/>
                </a:tc>
                <a:extLst>
                  <a:ext uri="{0D108BD9-81ED-4DB2-BD59-A6C34878D82A}">
                    <a16:rowId xmlns:a16="http://schemas.microsoft.com/office/drawing/2014/main" val="10000"/>
                  </a:ext>
                </a:extLst>
              </a:tr>
              <a:tr h="662293">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）当一次连续浇筑</a:t>
                      </a:r>
                      <a:r>
                        <a:rPr lang="en-US" sz="1600" b="1" kern="100">
                          <a:effectLst/>
                          <a:latin typeface="Times New Roman" pitchFamily="18" charset="0"/>
                          <a:ea typeface="宋体" pitchFamily="2" charset="-122"/>
                          <a:cs typeface="Times New Roman" pitchFamily="18" charset="0"/>
                        </a:rPr>
                        <a:t>1000</a:t>
                      </a: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5000m</a:t>
                      </a:r>
                      <a:r>
                        <a:rPr lang="en-US" sz="1600" b="1" kern="100" baseline="300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同配合比的大体积混凝土时，超出</a:t>
                      </a:r>
                      <a:r>
                        <a:rPr lang="en-US" sz="1600" b="1" kern="100">
                          <a:effectLst/>
                          <a:latin typeface="Times New Roman" pitchFamily="18" charset="0"/>
                          <a:ea typeface="宋体" pitchFamily="2" charset="-122"/>
                          <a:cs typeface="Times New Roman" pitchFamily="18" charset="0"/>
                        </a:rPr>
                        <a:t>1000m</a:t>
                      </a:r>
                      <a:r>
                        <a:rPr lang="en-US" sz="1600" b="1" kern="100" baseline="300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的混凝土，每增加</a:t>
                      </a:r>
                      <a:r>
                        <a:rPr lang="en-US" sz="1600" b="1" kern="100">
                          <a:effectLst/>
                          <a:latin typeface="Times New Roman" pitchFamily="18" charset="0"/>
                          <a:ea typeface="宋体" pitchFamily="2" charset="-122"/>
                          <a:cs typeface="Times New Roman" pitchFamily="18" charset="0"/>
                        </a:rPr>
                        <a:t>500m</a:t>
                      </a:r>
                      <a:r>
                        <a:rPr lang="en-US" sz="1600" b="1" kern="100" baseline="300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取样不应少于一组，增加不足</a:t>
                      </a:r>
                      <a:r>
                        <a:rPr lang="en-US" sz="1600" b="1" kern="100">
                          <a:effectLst/>
                          <a:latin typeface="Times New Roman" pitchFamily="18" charset="0"/>
                          <a:ea typeface="宋体" pitchFamily="2" charset="-122"/>
                          <a:cs typeface="Times New Roman" pitchFamily="18" charset="0"/>
                        </a:rPr>
                        <a:t>500m</a:t>
                      </a:r>
                      <a:r>
                        <a:rPr lang="en-US" sz="1600" b="1" kern="100" baseline="300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时取样一组。</a:t>
                      </a:r>
                    </a:p>
                  </a:txBody>
                  <a:tcPr marL="57239" marR="57239" marT="0" marB="0" anchor="ctr"/>
                </a:tc>
                <a:extLst>
                  <a:ext uri="{0D108BD9-81ED-4DB2-BD59-A6C34878D82A}">
                    <a16:rowId xmlns:a16="http://schemas.microsoft.com/office/drawing/2014/main" val="10001"/>
                  </a:ext>
                </a:extLst>
              </a:tr>
              <a:tr h="662293">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）当一次连续浇筑＞</a:t>
                      </a:r>
                      <a:r>
                        <a:rPr lang="en-US" sz="1600" b="1" kern="100">
                          <a:effectLst/>
                          <a:latin typeface="Times New Roman" pitchFamily="18" charset="0"/>
                          <a:ea typeface="宋体" pitchFamily="2" charset="-122"/>
                          <a:cs typeface="Times New Roman" pitchFamily="18" charset="0"/>
                        </a:rPr>
                        <a:t>5000m</a:t>
                      </a:r>
                      <a:r>
                        <a:rPr lang="en-US" sz="1600" b="1" kern="100" baseline="300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同配合比的大体积混凝土时，超出</a:t>
                      </a:r>
                      <a:r>
                        <a:rPr lang="en-US" sz="1600" b="1" kern="100">
                          <a:effectLst/>
                          <a:latin typeface="Times New Roman" pitchFamily="18" charset="0"/>
                          <a:ea typeface="宋体" pitchFamily="2" charset="-122"/>
                          <a:cs typeface="Times New Roman" pitchFamily="18" charset="0"/>
                        </a:rPr>
                        <a:t>5000m</a:t>
                      </a:r>
                      <a:r>
                        <a:rPr lang="en-US" sz="1600" b="1" kern="100" baseline="300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的混凝土，每增加</a:t>
                      </a:r>
                      <a:r>
                        <a:rPr lang="en-US" sz="1600" b="1" kern="100">
                          <a:effectLst/>
                          <a:latin typeface="Times New Roman" pitchFamily="18" charset="0"/>
                          <a:ea typeface="宋体" pitchFamily="2" charset="-122"/>
                          <a:cs typeface="Times New Roman" pitchFamily="18" charset="0"/>
                        </a:rPr>
                        <a:t>1000m</a:t>
                      </a:r>
                      <a:r>
                        <a:rPr lang="en-US" sz="1600" b="1" kern="100" baseline="300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取样不应少于一组，增加不足</a:t>
                      </a:r>
                      <a:r>
                        <a:rPr lang="en-US" sz="1600" b="1" kern="100">
                          <a:effectLst/>
                          <a:latin typeface="Times New Roman" pitchFamily="18" charset="0"/>
                          <a:ea typeface="宋体" pitchFamily="2" charset="-122"/>
                          <a:cs typeface="Times New Roman" pitchFamily="18" charset="0"/>
                        </a:rPr>
                        <a:t>1000m</a:t>
                      </a:r>
                      <a:r>
                        <a:rPr lang="en-US" sz="1600" b="1" kern="100" baseline="300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时取样一组。</a:t>
                      </a:r>
                    </a:p>
                  </a:txBody>
                  <a:tcPr marL="57239" marR="57239" marT="0" marB="0" anchor="ctr"/>
                </a:tc>
                <a:extLst>
                  <a:ext uri="{0D108BD9-81ED-4DB2-BD59-A6C34878D82A}">
                    <a16:rowId xmlns:a16="http://schemas.microsoft.com/office/drawing/2014/main" val="10002"/>
                  </a:ext>
                </a:extLst>
              </a:tr>
              <a:tr h="967339">
                <a:tc rowSpan="5">
                  <a:txBody>
                    <a:bodyPr/>
                    <a:lstStyle/>
                    <a:p>
                      <a:pPr algn="ctr">
                        <a:spcAft>
                          <a:spcPts val="0"/>
                        </a:spcAft>
                      </a:pPr>
                      <a:r>
                        <a:rPr lang="zh-CN" sz="1600" b="1" kern="100">
                          <a:effectLst/>
                          <a:latin typeface="Times New Roman" pitchFamily="18" charset="0"/>
                          <a:ea typeface="宋体" pitchFamily="2" charset="-122"/>
                          <a:cs typeface="Times New Roman" pitchFamily="18" charset="0"/>
                        </a:rPr>
                        <a:t>温控指标</a:t>
                      </a:r>
                    </a:p>
                  </a:txBody>
                  <a:tcPr marL="57239" marR="57239"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）施工前应对混凝土浇筑体的温度、温度应力及收缩应力进行试算，确定混凝土浇筑体的温升峰值、里表温差及降温速率的控制指标，制定相应的温控技术措施。</a:t>
                      </a:r>
                    </a:p>
                  </a:txBody>
                  <a:tcPr marL="57239" marR="57239" marT="0" marB="0" anchor="ctr"/>
                </a:tc>
                <a:extLst>
                  <a:ext uri="{0D108BD9-81ED-4DB2-BD59-A6C34878D82A}">
                    <a16:rowId xmlns:a16="http://schemas.microsoft.com/office/drawing/2014/main" val="10003"/>
                  </a:ext>
                </a:extLst>
              </a:tr>
              <a:tr h="331146">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）混凝土入模温度≤</a:t>
                      </a:r>
                      <a:r>
                        <a:rPr lang="en-US" sz="1600" b="1" kern="100">
                          <a:effectLst/>
                          <a:latin typeface="Times New Roman" pitchFamily="18" charset="0"/>
                          <a:ea typeface="宋体" pitchFamily="2" charset="-122"/>
                          <a:cs typeface="Times New Roman" pitchFamily="18" charset="0"/>
                        </a:rPr>
                        <a:t>30</a:t>
                      </a:r>
                      <a:r>
                        <a:rPr lang="zh-CN" sz="1600" b="1" kern="100">
                          <a:effectLst/>
                          <a:latin typeface="Times New Roman" pitchFamily="18" charset="0"/>
                          <a:ea typeface="宋体" pitchFamily="2" charset="-122"/>
                          <a:cs typeface="Times New Roman" pitchFamily="18" charset="0"/>
                        </a:rPr>
                        <a:t>℃；浇筑体最大温升值≤</a:t>
                      </a:r>
                      <a:r>
                        <a:rPr lang="en-US" sz="1600" b="1" kern="100">
                          <a:effectLst/>
                          <a:latin typeface="Times New Roman" pitchFamily="18" charset="0"/>
                          <a:ea typeface="宋体" pitchFamily="2" charset="-122"/>
                          <a:cs typeface="Times New Roman" pitchFamily="18" charset="0"/>
                        </a:rPr>
                        <a:t>50</a:t>
                      </a:r>
                      <a:r>
                        <a:rPr lang="zh-CN" sz="1600" b="1" kern="100">
                          <a:effectLst/>
                          <a:latin typeface="Times New Roman" pitchFamily="18" charset="0"/>
                          <a:ea typeface="宋体" pitchFamily="2" charset="-122"/>
                          <a:cs typeface="Times New Roman" pitchFamily="18" charset="0"/>
                        </a:rPr>
                        <a:t>℃。</a:t>
                      </a:r>
                    </a:p>
                  </a:txBody>
                  <a:tcPr marL="57239" marR="57239" marT="0" marB="0" anchor="ctr"/>
                </a:tc>
                <a:extLst>
                  <a:ext uri="{0D108BD9-81ED-4DB2-BD59-A6C34878D82A}">
                    <a16:rowId xmlns:a16="http://schemas.microsoft.com/office/drawing/2014/main" val="10004"/>
                  </a:ext>
                </a:extLst>
              </a:tr>
              <a:tr h="331146">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）浇筑体里表温差（不含混凝土收缩当量温度）温度差值≤</a:t>
                      </a:r>
                      <a:r>
                        <a:rPr lang="en-US" sz="1600" b="1" kern="100">
                          <a:effectLst/>
                          <a:latin typeface="Times New Roman" pitchFamily="18" charset="0"/>
                          <a:ea typeface="宋体" pitchFamily="2" charset="-122"/>
                          <a:cs typeface="Times New Roman" pitchFamily="18" charset="0"/>
                        </a:rPr>
                        <a:t>25</a:t>
                      </a:r>
                      <a:r>
                        <a:rPr lang="zh-CN" sz="1600" b="1" kern="100">
                          <a:effectLst/>
                          <a:latin typeface="Times New Roman" pitchFamily="18" charset="0"/>
                          <a:ea typeface="宋体" pitchFamily="2" charset="-122"/>
                          <a:cs typeface="Times New Roman" pitchFamily="18" charset="0"/>
                        </a:rPr>
                        <a:t>℃；</a:t>
                      </a:r>
                    </a:p>
                  </a:txBody>
                  <a:tcPr marL="57239" marR="57239" marT="0" marB="0" anchor="ctr"/>
                </a:tc>
                <a:extLst>
                  <a:ext uri="{0D108BD9-81ED-4DB2-BD59-A6C34878D82A}">
                    <a16:rowId xmlns:a16="http://schemas.microsoft.com/office/drawing/2014/main" val="10005"/>
                  </a:ext>
                </a:extLst>
              </a:tr>
              <a:tr h="331146">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）降温速率≤</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/d</a:t>
                      </a:r>
                      <a:r>
                        <a:rPr lang="zh-CN" sz="1600" b="1" kern="100">
                          <a:effectLst/>
                          <a:latin typeface="Times New Roman" pitchFamily="18" charset="0"/>
                          <a:ea typeface="宋体" pitchFamily="2" charset="-122"/>
                          <a:cs typeface="Times New Roman" pitchFamily="18" charset="0"/>
                        </a:rPr>
                        <a:t>；</a:t>
                      </a:r>
                    </a:p>
                  </a:txBody>
                  <a:tcPr marL="57239" marR="57239" marT="0" marB="0" anchor="ctr"/>
                </a:tc>
                <a:extLst>
                  <a:ext uri="{0D108BD9-81ED-4DB2-BD59-A6C34878D82A}">
                    <a16:rowId xmlns:a16="http://schemas.microsoft.com/office/drawing/2014/main" val="10006"/>
                  </a:ext>
                </a:extLst>
              </a:tr>
              <a:tr h="331146">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5</a:t>
                      </a:r>
                      <a:r>
                        <a:rPr lang="zh-CN" sz="1600" b="1" kern="100" dirty="0">
                          <a:effectLst/>
                          <a:latin typeface="Times New Roman" pitchFamily="18" charset="0"/>
                          <a:ea typeface="宋体" pitchFamily="2" charset="-122"/>
                          <a:cs typeface="Times New Roman" pitchFamily="18" charset="0"/>
                        </a:rPr>
                        <a:t>）拆除保温覆盖时混凝土浇筑体表面与大气温差≤</a:t>
                      </a:r>
                      <a:r>
                        <a:rPr lang="en-US" sz="1600" b="1" kern="100" dirty="0">
                          <a:effectLst/>
                          <a:latin typeface="Times New Roman" pitchFamily="18" charset="0"/>
                          <a:ea typeface="宋体" pitchFamily="2" charset="-122"/>
                          <a:cs typeface="Times New Roman" pitchFamily="18" charset="0"/>
                        </a:rPr>
                        <a:t>20</a:t>
                      </a:r>
                      <a:r>
                        <a:rPr lang="zh-CN" sz="1600" b="1" kern="100" dirty="0">
                          <a:effectLst/>
                          <a:latin typeface="Times New Roman" pitchFamily="18" charset="0"/>
                          <a:ea typeface="宋体" pitchFamily="2" charset="-122"/>
                          <a:cs typeface="Times New Roman" pitchFamily="18" charset="0"/>
                        </a:rPr>
                        <a:t>℃。</a:t>
                      </a:r>
                    </a:p>
                  </a:txBody>
                  <a:tcPr marL="57239" marR="57239" marT="0" marB="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71556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（七）温度监测点布置</a:t>
            </a:r>
          </a:p>
        </p:txBody>
      </p:sp>
      <p:graphicFrame>
        <p:nvGraphicFramePr>
          <p:cNvPr id="2" name="表格 1"/>
          <p:cNvGraphicFramePr>
            <a:graphicFrameLocks noGrp="1"/>
          </p:cNvGraphicFramePr>
          <p:nvPr>
            <p:extLst>
              <p:ext uri="{D42A27DB-BD31-4B8C-83A1-F6EECF244321}">
                <p14:modId xmlns:p14="http://schemas.microsoft.com/office/powerpoint/2010/main" val="1878247974"/>
              </p:ext>
            </p:extLst>
          </p:nvPr>
        </p:nvGraphicFramePr>
        <p:xfrm>
          <a:off x="1043607" y="915564"/>
          <a:ext cx="8000848" cy="4104460"/>
        </p:xfrm>
        <a:graphic>
          <a:graphicData uri="http://schemas.openxmlformats.org/drawingml/2006/table">
            <a:tbl>
              <a:tblPr firstRow="1" firstCol="1" bandRow="1">
                <a:tableStyleId>{C4B1156A-380E-4F78-BDF5-A606A8083BF9}</a:tableStyleId>
              </a:tblPr>
              <a:tblGrid>
                <a:gridCol w="485748">
                  <a:extLst>
                    <a:ext uri="{9D8B030D-6E8A-4147-A177-3AD203B41FA5}">
                      <a16:colId xmlns:a16="http://schemas.microsoft.com/office/drawing/2014/main" val="20000"/>
                    </a:ext>
                  </a:extLst>
                </a:gridCol>
                <a:gridCol w="7515100">
                  <a:extLst>
                    <a:ext uri="{9D8B030D-6E8A-4147-A177-3AD203B41FA5}">
                      <a16:colId xmlns:a16="http://schemas.microsoft.com/office/drawing/2014/main" val="20001"/>
                    </a:ext>
                  </a:extLst>
                </a:gridCol>
              </a:tblGrid>
              <a:tr h="684076">
                <a:tc rowSpan="8">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温度监测点布置</a:t>
                      </a:r>
                    </a:p>
                  </a:txBody>
                  <a:tcPr marL="54131" marR="54131" marT="0" marB="0" anchor="ct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1</a:t>
                      </a:r>
                      <a:r>
                        <a:rPr lang="zh-CN" sz="1600" b="1" kern="100" dirty="0">
                          <a:effectLst/>
                          <a:latin typeface="Times New Roman" pitchFamily="18" charset="0"/>
                          <a:ea typeface="宋体" pitchFamily="2" charset="-122"/>
                          <a:cs typeface="Times New Roman" pitchFamily="18" charset="0"/>
                        </a:rPr>
                        <a:t>）测试区可选浇筑体平面对称轴线的半条轴线，测试区内监测点应按平面分层布置；</a:t>
                      </a:r>
                    </a:p>
                  </a:txBody>
                  <a:tcPr marL="54131" marR="54131" marT="0" marB="0" anchor="ctr"/>
                </a:tc>
                <a:extLst>
                  <a:ext uri="{0D108BD9-81ED-4DB2-BD59-A6C34878D82A}">
                    <a16:rowId xmlns:a16="http://schemas.microsoft.com/office/drawing/2014/main" val="10000"/>
                  </a:ext>
                </a:extLst>
              </a:tr>
              <a:tr h="684076">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）测试区内，监测点的位置与数量可根据混凝土浇筑体内温度场的分布情况及温控的规定确定；</a:t>
                      </a:r>
                    </a:p>
                  </a:txBody>
                  <a:tcPr marL="54131" marR="54131" marT="0" marB="0" anchor="ctr"/>
                </a:tc>
                <a:extLst>
                  <a:ext uri="{0D108BD9-81ED-4DB2-BD59-A6C34878D82A}">
                    <a16:rowId xmlns:a16="http://schemas.microsoft.com/office/drawing/2014/main" val="10001"/>
                  </a:ext>
                </a:extLst>
              </a:tr>
              <a:tr h="342039">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）在每条测试轴线上，监测点位不宜少于</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处，应根据结构的平面尺寸布置；</a:t>
                      </a:r>
                    </a:p>
                  </a:txBody>
                  <a:tcPr marL="54131" marR="54131" marT="0" marB="0" anchor="ctr"/>
                </a:tc>
                <a:extLst>
                  <a:ext uri="{0D108BD9-81ED-4DB2-BD59-A6C34878D82A}">
                    <a16:rowId xmlns:a16="http://schemas.microsoft.com/office/drawing/2014/main" val="10002"/>
                  </a:ext>
                </a:extLst>
              </a:tr>
              <a:tr h="684076">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）沿混凝土浇筑体厚度方向，应至少布置表层、底层和中心温度测点，测点间距不宜＞</a:t>
                      </a:r>
                      <a:r>
                        <a:rPr lang="en-US" sz="1600" b="1" kern="100">
                          <a:effectLst/>
                          <a:latin typeface="Times New Roman" pitchFamily="18" charset="0"/>
                          <a:ea typeface="宋体" pitchFamily="2" charset="-122"/>
                          <a:cs typeface="Times New Roman" pitchFamily="18" charset="0"/>
                        </a:rPr>
                        <a:t>500mm</a:t>
                      </a:r>
                      <a:r>
                        <a:rPr lang="zh-CN" sz="16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val="10003"/>
                  </a:ext>
                </a:extLst>
              </a:tr>
              <a:tr h="342039">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5</a:t>
                      </a:r>
                      <a:r>
                        <a:rPr lang="zh-CN" sz="1600" b="1" kern="100" dirty="0">
                          <a:effectLst/>
                          <a:latin typeface="Times New Roman" pitchFamily="18" charset="0"/>
                          <a:ea typeface="宋体" pitchFamily="2" charset="-122"/>
                          <a:cs typeface="Times New Roman" pitchFamily="18" charset="0"/>
                        </a:rPr>
                        <a:t>）保温养护效果及环境温度监测点数量应根据具体需要确定；</a:t>
                      </a:r>
                    </a:p>
                  </a:txBody>
                  <a:tcPr marL="54131" marR="54131" marT="0" marB="0" anchor="ctr"/>
                </a:tc>
                <a:extLst>
                  <a:ext uri="{0D108BD9-81ED-4DB2-BD59-A6C34878D82A}">
                    <a16:rowId xmlns:a16="http://schemas.microsoft.com/office/drawing/2014/main" val="10004"/>
                  </a:ext>
                </a:extLst>
              </a:tr>
              <a:tr h="342039">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6</a:t>
                      </a:r>
                      <a:r>
                        <a:rPr lang="zh-CN" sz="1600" b="1" kern="100">
                          <a:effectLst/>
                          <a:latin typeface="Times New Roman" pitchFamily="18" charset="0"/>
                          <a:ea typeface="宋体" pitchFamily="2" charset="-122"/>
                          <a:cs typeface="Times New Roman" pitchFamily="18" charset="0"/>
                        </a:rPr>
                        <a:t>）浇筑体表层温度，宜为浇筑体表面以内</a:t>
                      </a:r>
                      <a:r>
                        <a:rPr lang="en-US" sz="1600" b="1" kern="100">
                          <a:effectLst/>
                          <a:latin typeface="Times New Roman" pitchFamily="18" charset="0"/>
                          <a:ea typeface="宋体" pitchFamily="2" charset="-122"/>
                          <a:cs typeface="Times New Roman" pitchFamily="18" charset="0"/>
                        </a:rPr>
                        <a:t>50mm</a:t>
                      </a:r>
                      <a:r>
                        <a:rPr lang="zh-CN" sz="1600" b="1" kern="100">
                          <a:effectLst/>
                          <a:latin typeface="Times New Roman" pitchFamily="18" charset="0"/>
                          <a:ea typeface="宋体" pitchFamily="2" charset="-122"/>
                          <a:cs typeface="Times New Roman" pitchFamily="18" charset="0"/>
                        </a:rPr>
                        <a:t>处的温度；</a:t>
                      </a:r>
                    </a:p>
                  </a:txBody>
                  <a:tcPr marL="54131" marR="54131" marT="0" marB="0" anchor="ctr"/>
                </a:tc>
                <a:extLst>
                  <a:ext uri="{0D108BD9-81ED-4DB2-BD59-A6C34878D82A}">
                    <a16:rowId xmlns:a16="http://schemas.microsoft.com/office/drawing/2014/main" val="10005"/>
                  </a:ext>
                </a:extLst>
              </a:tr>
              <a:tr h="342039">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7</a:t>
                      </a:r>
                      <a:r>
                        <a:rPr lang="zh-CN" sz="1600" b="1" kern="100">
                          <a:effectLst/>
                          <a:latin typeface="Times New Roman" pitchFamily="18" charset="0"/>
                          <a:ea typeface="宋体" pitchFamily="2" charset="-122"/>
                          <a:cs typeface="Times New Roman" pitchFamily="18" charset="0"/>
                        </a:rPr>
                        <a:t>）浇筑体底层温度，宜为浇筑体底面以上</a:t>
                      </a:r>
                      <a:r>
                        <a:rPr lang="en-US" sz="1600" b="1" kern="100">
                          <a:effectLst/>
                          <a:latin typeface="Times New Roman" pitchFamily="18" charset="0"/>
                          <a:ea typeface="宋体" pitchFamily="2" charset="-122"/>
                          <a:cs typeface="Times New Roman" pitchFamily="18" charset="0"/>
                        </a:rPr>
                        <a:t>50mm</a:t>
                      </a:r>
                      <a:r>
                        <a:rPr lang="zh-CN" sz="1600" b="1" kern="100">
                          <a:effectLst/>
                          <a:latin typeface="Times New Roman" pitchFamily="18" charset="0"/>
                          <a:ea typeface="宋体" pitchFamily="2" charset="-122"/>
                          <a:cs typeface="Times New Roman" pitchFamily="18" charset="0"/>
                        </a:rPr>
                        <a:t>处的温度。</a:t>
                      </a:r>
                    </a:p>
                  </a:txBody>
                  <a:tcPr marL="54131" marR="54131" marT="0" marB="0" anchor="ctr"/>
                </a:tc>
                <a:extLst>
                  <a:ext uri="{0D108BD9-81ED-4DB2-BD59-A6C34878D82A}">
                    <a16:rowId xmlns:a16="http://schemas.microsoft.com/office/drawing/2014/main" val="10006"/>
                  </a:ext>
                </a:extLst>
              </a:tr>
              <a:tr h="684076">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8</a:t>
                      </a:r>
                      <a:r>
                        <a:rPr lang="zh-CN" sz="1600" b="1" kern="100" dirty="0">
                          <a:effectLst/>
                          <a:latin typeface="Times New Roman" pitchFamily="18" charset="0"/>
                          <a:ea typeface="宋体" pitchFamily="2" charset="-122"/>
                          <a:cs typeface="Times New Roman" pitchFamily="18" charset="0"/>
                        </a:rPr>
                        <a:t>）浇筑体里表温差、降温速率及环境温度的测试，在混凝土浇筑后，每昼夜不应少于</a:t>
                      </a:r>
                      <a:r>
                        <a:rPr lang="en-US" sz="1600" b="1" kern="100" dirty="0">
                          <a:effectLst/>
                          <a:latin typeface="Times New Roman" pitchFamily="18" charset="0"/>
                          <a:ea typeface="宋体" pitchFamily="2" charset="-122"/>
                          <a:cs typeface="Times New Roman" pitchFamily="18" charset="0"/>
                        </a:rPr>
                        <a:t>4</a:t>
                      </a:r>
                      <a:r>
                        <a:rPr lang="zh-CN" sz="1600" b="1" kern="100" dirty="0">
                          <a:effectLst/>
                          <a:latin typeface="Times New Roman" pitchFamily="18" charset="0"/>
                          <a:ea typeface="宋体" pitchFamily="2" charset="-122"/>
                          <a:cs typeface="Times New Roman" pitchFamily="18" charset="0"/>
                        </a:rPr>
                        <a:t>次；入模温度测量，每台班不应少于</a:t>
                      </a:r>
                      <a:r>
                        <a:rPr lang="en-US" sz="1600" b="1" kern="100" dirty="0">
                          <a:effectLst/>
                          <a:latin typeface="Times New Roman" pitchFamily="18" charset="0"/>
                          <a:ea typeface="宋体" pitchFamily="2" charset="-122"/>
                          <a:cs typeface="Times New Roman" pitchFamily="18" charset="0"/>
                        </a:rPr>
                        <a:t>2</a:t>
                      </a:r>
                      <a:r>
                        <a:rPr lang="zh-CN" sz="1600" b="1" kern="100" dirty="0">
                          <a:effectLst/>
                          <a:latin typeface="Times New Roman" pitchFamily="18" charset="0"/>
                          <a:ea typeface="宋体" pitchFamily="2" charset="-122"/>
                          <a:cs typeface="Times New Roman" pitchFamily="18" charset="0"/>
                        </a:rPr>
                        <a:t>次。</a:t>
                      </a:r>
                    </a:p>
                  </a:txBody>
                  <a:tcPr marL="54131" marR="54131" marT="0" marB="0" anchor="ctr"/>
                </a:tc>
                <a:extLst>
                  <a:ext uri="{0D108BD9-81ED-4DB2-BD59-A6C34878D82A}">
                    <a16:rowId xmlns:a16="http://schemas.microsoft.com/office/drawing/2014/main" val="10007"/>
                  </a:ext>
                </a:extLst>
              </a:tr>
            </a:tbl>
          </a:graphicData>
        </a:graphic>
      </p:graphicFrame>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9902" y="1880548"/>
            <a:ext cx="2972058" cy="1546994"/>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1960" y="1398167"/>
            <a:ext cx="4343776" cy="2347163"/>
          </a:xfrm>
          <a:prstGeom prst="rect">
            <a:avLst/>
          </a:prstGeom>
        </p:spPr>
      </p:pic>
    </p:spTree>
    <p:extLst>
      <p:ext uri="{BB962C8B-B14F-4D97-AF65-F5344CB8AC3E}">
        <p14:creationId xmlns:p14="http://schemas.microsoft.com/office/powerpoint/2010/main" val="371556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par>
                                <p:cTn id="20" presetID="16" presetClass="entr" presetSubtype="21"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RESOURCELIBID_PRE" val="13076"/>
  <p:tag name="MH_CONTENTSID" val="264"/>
  <p:tag name="MH_SECTIONID" val="265,"/>
</p:tagLst>
</file>

<file path=ppt/theme/theme1.xml><?xml version="1.0" encoding="utf-8"?>
<a:theme xmlns:a="http://schemas.openxmlformats.org/drawingml/2006/main" name="A000120140530A99PPBG">
  <a:themeElements>
    <a:clrScheme name="KSO_BLUE9">
      <a:dk1>
        <a:srgbClr val="47494B"/>
      </a:dk1>
      <a:lt1>
        <a:srgbClr val="FFFFFF"/>
      </a:lt1>
      <a:dk2>
        <a:srgbClr val="454749"/>
      </a:dk2>
      <a:lt2>
        <a:srgbClr val="EAF5FC"/>
      </a:lt2>
      <a:accent1>
        <a:srgbClr val="046FB6"/>
      </a:accent1>
      <a:accent2>
        <a:srgbClr val="22B1DE"/>
      </a:accent2>
      <a:accent3>
        <a:srgbClr val="7B93D7"/>
      </a:accent3>
      <a:accent4>
        <a:srgbClr val="5D76BA"/>
      </a:accent4>
      <a:accent5>
        <a:srgbClr val="3DBFD1"/>
      </a:accent5>
      <a:accent6>
        <a:srgbClr val="FFC000"/>
      </a:accent6>
      <a:hlink>
        <a:srgbClr val="00B0F0"/>
      </a:hlink>
      <a:folHlink>
        <a:srgbClr val="AFB2B4"/>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636869495982041620</Template>
  <TotalTime>6899</TotalTime>
  <Words>1335</Words>
  <Application>Microsoft Office PowerPoint</Application>
  <PresentationFormat>全屏显示(16:9)</PresentationFormat>
  <Paragraphs>79</Paragraphs>
  <Slides>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vt:i4>
      </vt:variant>
    </vt:vector>
  </HeadingPairs>
  <TitlesOfParts>
    <vt:vector size="18" baseType="lpstr">
      <vt:lpstr>黑体</vt:lpstr>
      <vt:lpstr>华文行楷</vt:lpstr>
      <vt:lpstr>微软雅黑</vt:lpstr>
      <vt:lpstr>幼圆</vt:lpstr>
      <vt:lpstr>Arial</vt:lpstr>
      <vt:lpstr>Calibri</vt:lpstr>
      <vt:lpstr>Franklin Gothic Book</vt:lpstr>
      <vt:lpstr>Times New Roman</vt:lpstr>
      <vt:lpstr>Wingdings 2</vt:lpstr>
      <vt:lpstr>A000120140530A99PPBG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795</cp:revision>
  <dcterms:created xsi:type="dcterms:W3CDTF">2019-02-28T02:56:41Z</dcterms:created>
  <dcterms:modified xsi:type="dcterms:W3CDTF">2026-04-07T09:29:16Z</dcterms:modified>
</cp:coreProperties>
</file>