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3" r:id="rId1"/>
  </p:sldMasterIdLst>
  <p:notesMasterIdLst>
    <p:notesMasterId r:id="rId8"/>
  </p:notesMasterIdLst>
  <p:sldIdLst>
    <p:sldId id="645" r:id="rId2"/>
    <p:sldId id="646" r:id="rId3"/>
    <p:sldId id="647" r:id="rId4"/>
    <p:sldId id="648" r:id="rId5"/>
    <p:sldId id="649" r:id="rId6"/>
    <p:sldId id="679" r:id="rId7"/>
  </p:sldIdLst>
  <p:sldSz cx="9144000" cy="5143500" type="screen16x9"/>
  <p:notesSz cx="6858000" cy="9144000"/>
  <p:custDataLst>
    <p:tags r:id="rId9"/>
  </p:custDataLst>
  <p:defaultTextStyle>
    <a:defPPr>
      <a:defRPr lang="zh-CN"/>
    </a:defPPr>
    <a:lvl1pPr marL="0" algn="l" defTabSz="914130" rtl="0" eaLnBrk="1" latinLnBrk="0" hangingPunct="1">
      <a:defRPr sz="1800" kern="1200">
        <a:solidFill>
          <a:schemeClr val="tx1"/>
        </a:solidFill>
        <a:latin typeface="+mn-lt"/>
        <a:ea typeface="+mn-ea"/>
        <a:cs typeface="+mn-cs"/>
      </a:defRPr>
    </a:lvl1pPr>
    <a:lvl2pPr marL="457058" algn="l" defTabSz="914130" rtl="0" eaLnBrk="1" latinLnBrk="0" hangingPunct="1">
      <a:defRPr sz="1800" kern="1200">
        <a:solidFill>
          <a:schemeClr val="tx1"/>
        </a:solidFill>
        <a:latin typeface="+mn-lt"/>
        <a:ea typeface="+mn-ea"/>
        <a:cs typeface="+mn-cs"/>
      </a:defRPr>
    </a:lvl2pPr>
    <a:lvl3pPr marL="914130" algn="l" defTabSz="914130" rtl="0" eaLnBrk="1" latinLnBrk="0" hangingPunct="1">
      <a:defRPr sz="1800" kern="1200">
        <a:solidFill>
          <a:schemeClr val="tx1"/>
        </a:solidFill>
        <a:latin typeface="+mn-lt"/>
        <a:ea typeface="+mn-ea"/>
        <a:cs typeface="+mn-cs"/>
      </a:defRPr>
    </a:lvl3pPr>
    <a:lvl4pPr marL="1371192" algn="l" defTabSz="914130" rtl="0" eaLnBrk="1" latinLnBrk="0" hangingPunct="1">
      <a:defRPr sz="1800" kern="1200">
        <a:solidFill>
          <a:schemeClr val="tx1"/>
        </a:solidFill>
        <a:latin typeface="+mn-lt"/>
        <a:ea typeface="+mn-ea"/>
        <a:cs typeface="+mn-cs"/>
      </a:defRPr>
    </a:lvl4pPr>
    <a:lvl5pPr marL="1828259" algn="l" defTabSz="914130" rtl="0" eaLnBrk="1" latinLnBrk="0" hangingPunct="1">
      <a:defRPr sz="1800" kern="1200">
        <a:solidFill>
          <a:schemeClr val="tx1"/>
        </a:solidFill>
        <a:latin typeface="+mn-lt"/>
        <a:ea typeface="+mn-ea"/>
        <a:cs typeface="+mn-cs"/>
      </a:defRPr>
    </a:lvl5pPr>
    <a:lvl6pPr marL="2285316" algn="l" defTabSz="914130" rtl="0" eaLnBrk="1" latinLnBrk="0" hangingPunct="1">
      <a:defRPr sz="1800" kern="1200">
        <a:solidFill>
          <a:schemeClr val="tx1"/>
        </a:solidFill>
        <a:latin typeface="+mn-lt"/>
        <a:ea typeface="+mn-ea"/>
        <a:cs typeface="+mn-cs"/>
      </a:defRPr>
    </a:lvl6pPr>
    <a:lvl7pPr marL="2742374" algn="l" defTabSz="914130" rtl="0" eaLnBrk="1" latinLnBrk="0" hangingPunct="1">
      <a:defRPr sz="1800" kern="1200">
        <a:solidFill>
          <a:schemeClr val="tx1"/>
        </a:solidFill>
        <a:latin typeface="+mn-lt"/>
        <a:ea typeface="+mn-ea"/>
        <a:cs typeface="+mn-cs"/>
      </a:defRPr>
    </a:lvl7pPr>
    <a:lvl8pPr marL="3199440" algn="l" defTabSz="914130" rtl="0" eaLnBrk="1" latinLnBrk="0" hangingPunct="1">
      <a:defRPr sz="1800" kern="1200">
        <a:solidFill>
          <a:schemeClr val="tx1"/>
        </a:solidFill>
        <a:latin typeface="+mn-lt"/>
        <a:ea typeface="+mn-ea"/>
        <a:cs typeface="+mn-cs"/>
      </a:defRPr>
    </a:lvl8pPr>
    <a:lvl9pPr marL="3656503" algn="l" defTabSz="9141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115" d="100"/>
          <a:sy n="115" d="100"/>
        </p:scale>
        <p:origin x="-514" y="-67"/>
      </p:cViewPr>
      <p:guideLst>
        <p:guide orient="horz" pos="1620"/>
        <p:guide pos="2880"/>
      </p:guideLst>
    </p:cSldViewPr>
  </p:slideViewPr>
  <p:notesTextViewPr>
    <p:cViewPr>
      <p:scale>
        <a:sx n="1" d="1"/>
        <a:sy n="1" d="1"/>
      </p:scale>
      <p:origin x="0" y="0"/>
    </p:cViewPr>
  </p:notesTextViewPr>
  <p:sorterViewPr>
    <p:cViewPr>
      <p:scale>
        <a:sx n="100" d="100"/>
        <a:sy n="100" d="100"/>
      </p:scale>
      <p:origin x="0" y="180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417AAB-FCBD-40B2-B028-268332E93037}" type="datetimeFigureOut">
              <a:rPr lang="zh-CN" altLang="en-US" smtClean="0"/>
              <a:t>2024/11/30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03F446-A760-4077-983F-8A30C4399FE6}" type="slidenum">
              <a:rPr lang="zh-CN" altLang="en-US" smtClean="0"/>
              <a:t>‹#›</a:t>
            </a:fld>
            <a:endParaRPr lang="zh-CN" altLang="en-US"/>
          </a:p>
        </p:txBody>
      </p:sp>
    </p:spTree>
    <p:extLst>
      <p:ext uri="{BB962C8B-B14F-4D97-AF65-F5344CB8AC3E}">
        <p14:creationId xmlns:p14="http://schemas.microsoft.com/office/powerpoint/2010/main" val="1005467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233" t="12301" r="1751" b="16008"/>
          <a:stretch/>
        </p:blipFill>
        <p:spPr>
          <a:xfrm>
            <a:off x="0" y="0"/>
            <a:ext cx="9144000" cy="5143500"/>
          </a:xfrm>
          <a:prstGeom prst="rect">
            <a:avLst/>
          </a:prstGeom>
        </p:spPr>
      </p:pic>
      <p:sp>
        <p:nvSpPr>
          <p:cNvPr id="4" name="KSO_FD"/>
          <p:cNvSpPr>
            <a:spLocks noGrp="1"/>
          </p:cNvSpPr>
          <p:nvPr>
            <p:ph type="dt" sz="half" idx="10"/>
          </p:nvPr>
        </p:nvSpPr>
        <p:spPr/>
        <p:txBody>
          <a:bodyPr/>
          <a:lstStyle/>
          <a:p>
            <a:fld id="{C9E60F58-3108-4415-857A-6D0360DF626E}"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5133793" y="1806593"/>
            <a:ext cx="2945922" cy="303719"/>
          </a:xfrm>
          <a:prstGeom prst="roundRect">
            <a:avLst>
              <a:gd name="adj" fmla="val 50000"/>
            </a:avLst>
          </a:prstGeom>
          <a:noFill/>
          <a:ln>
            <a:noFill/>
          </a:ln>
        </p:spPr>
        <p:txBody>
          <a:bodyPr vert="horz" anchor="ctr">
            <a:noAutofit/>
          </a:bodyPr>
          <a:lstStyle>
            <a:lvl1pPr marL="0" indent="0" algn="ctr">
              <a:buNone/>
              <a:defRPr sz="1400" b="0">
                <a:solidFill>
                  <a:schemeClr val="tx1"/>
                </a:solidFill>
                <a:effectLst/>
                <a:latin typeface="+mn-ea"/>
                <a:ea typeface="+mn-ea"/>
              </a:defRPr>
            </a:lvl1pPr>
            <a:lvl2pPr marL="257175" indent="0" algn="ctr">
              <a:buNone/>
              <a:defRPr sz="1100"/>
            </a:lvl2pPr>
            <a:lvl3pPr marL="514350" indent="0" algn="ctr">
              <a:buNone/>
              <a:defRPr sz="1000"/>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dirty="0"/>
              <a:t>单击此处添加您的副标题</a:t>
            </a:r>
          </a:p>
        </p:txBody>
      </p:sp>
      <p:sp>
        <p:nvSpPr>
          <p:cNvPr id="7" name="KSO_CT1"/>
          <p:cNvSpPr>
            <a:spLocks noGrp="1"/>
          </p:cNvSpPr>
          <p:nvPr>
            <p:ph type="title" hasCustomPrompt="1"/>
          </p:nvPr>
        </p:nvSpPr>
        <p:spPr>
          <a:xfrm>
            <a:off x="4822164" y="983400"/>
            <a:ext cx="3727691" cy="805914"/>
          </a:xfrm>
        </p:spPr>
        <p:txBody>
          <a:bodyPr vert="horz" anchor="b">
            <a:noAutofit/>
          </a:bodyPr>
          <a:lstStyle>
            <a:lvl1pPr algn="ctr">
              <a:lnSpc>
                <a:spcPct val="100000"/>
              </a:lnSpc>
              <a:defRPr sz="2400" b="1" kern="1000" baseline="0">
                <a:solidFill>
                  <a:schemeClr val="accent1"/>
                </a:solidFill>
                <a:effectLst/>
                <a:latin typeface="+mj-ea"/>
                <a:ea typeface="+mj-ea"/>
              </a:defRPr>
            </a:lvl1pPr>
          </a:lstStyle>
          <a:p>
            <a:r>
              <a:rPr lang="zh-CN" altLang="en-US" dirty="0"/>
              <a:t>单击此处添加您的标题文字</a:t>
            </a:r>
          </a:p>
        </p:txBody>
      </p:sp>
    </p:spTree>
    <p:extLst>
      <p:ext uri="{BB962C8B-B14F-4D97-AF65-F5344CB8AC3E}">
        <p14:creationId xmlns:p14="http://schemas.microsoft.com/office/powerpoint/2010/main" val="489679569"/>
      </p:ext>
    </p:extLst>
  </p:cSld>
  <p:clrMapOvr>
    <a:masterClrMapping/>
  </p:clrMapOvr>
  <p:extLst>
    <p:ext uri="{DCECCB84-F9BA-43D5-87BE-67443E8EF086}">
      <p15:sldGuideLst xmlns:p15="http://schemas.microsoft.com/office/powerpoint/2012/main" xmlns="">
        <p15:guide id="1" pos="4967">
          <p15:clr>
            <a:srgbClr val="FBAE40"/>
          </p15:clr>
        </p15:guide>
        <p15:guide id="0" orient="horz" pos="2160" userDrawn="1">
          <p15:clr>
            <a:srgbClr val="FBAE40"/>
          </p15:clr>
        </p15:guide>
        <p15:guide id="2" pos="66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lgn="ctr">
              <a:defRPr sz="3200" b="1">
                <a:latin typeface="+mn-ea"/>
                <a:ea typeface="+mn-ea"/>
              </a:defRPr>
            </a:lvl1pPr>
          </a:lstStyle>
          <a:p>
            <a:r>
              <a:rPr lang="zh-CN" altLang="en-US" dirty="0"/>
              <a:t>单击此处编辑母版标题样式</a:t>
            </a:r>
            <a:endParaRPr lang="en-US" dirty="0"/>
          </a:p>
        </p:txBody>
      </p:sp>
      <p:sp>
        <p:nvSpPr>
          <p:cNvPr id="3" name="KSO_BC1"/>
          <p:cNvSpPr>
            <a:spLocks noGrp="1"/>
          </p:cNvSpPr>
          <p:nvPr>
            <p:ph idx="1"/>
          </p:nvPr>
        </p:nvSpPr>
        <p:spPr/>
        <p:txBody>
          <a:bodyPr>
            <a:normAutofit/>
          </a:bodyPr>
          <a:lstStyle>
            <a:lvl1pPr>
              <a:defRPr sz="2400" b="1">
                <a:solidFill>
                  <a:schemeClr val="tx1">
                    <a:lumMod val="50000"/>
                  </a:schemeClr>
                </a:solidFill>
                <a:latin typeface="+mj-ea"/>
                <a:ea typeface="+mj-ea"/>
              </a:defRPr>
            </a:lvl1pPr>
            <a:lvl2pPr>
              <a:defRPr sz="1400" b="1">
                <a:latin typeface="+mj-ea"/>
                <a:ea typeface="+mj-ea"/>
              </a:defRPr>
            </a:lvl2p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1050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1574008" y="1581152"/>
            <a:ext cx="5995988" cy="926306"/>
          </a:xfrm>
        </p:spPr>
        <p:txBody>
          <a:bodyPr anchor="b">
            <a:normAutofit/>
          </a:bodyPr>
          <a:lstStyle>
            <a:lvl1pPr algn="ctr">
              <a:defRPr sz="2000">
                <a:solidFill>
                  <a:schemeClr val="tx1">
                    <a:lumMod val="50000"/>
                  </a:schemeClr>
                </a:solidFill>
                <a:effectLst/>
              </a:defRPr>
            </a:lvl1pPr>
          </a:lstStyle>
          <a:p>
            <a:r>
              <a:rPr lang="zh-CN" altLang="en-US" dirty="0"/>
              <a:t>此处添加您的标题</a:t>
            </a:r>
            <a:endParaRPr lang="en-US" dirty="0"/>
          </a:p>
        </p:txBody>
      </p:sp>
      <p:sp>
        <p:nvSpPr>
          <p:cNvPr id="3" name="KSO_ST2"/>
          <p:cNvSpPr>
            <a:spLocks noGrp="1"/>
          </p:cNvSpPr>
          <p:nvPr>
            <p:ph type="body" idx="1" hasCustomPrompt="1"/>
          </p:nvPr>
        </p:nvSpPr>
        <p:spPr>
          <a:xfrm>
            <a:off x="3038171" y="2550318"/>
            <a:ext cx="3067663" cy="268109"/>
          </a:xfrm>
          <a:prstGeom prst="roundRect">
            <a:avLst>
              <a:gd name="adj" fmla="val 50000"/>
            </a:avLst>
          </a:prstGeom>
          <a:noFill/>
        </p:spPr>
        <p:txBody>
          <a:bodyPr anchor="ctr">
            <a:normAutofit/>
          </a:bodyPr>
          <a:lstStyle>
            <a:lvl1pPr marL="0" indent="0" algn="ctr">
              <a:buNone/>
              <a:defRPr sz="900">
                <a:solidFill>
                  <a:schemeClr val="tx1"/>
                </a:solidFill>
              </a:defRPr>
            </a:lvl1pPr>
            <a:lvl2pPr marL="257175" indent="0">
              <a:buNone/>
              <a:defRPr sz="1100">
                <a:solidFill>
                  <a:schemeClr val="tx1">
                    <a:tint val="75000"/>
                  </a:schemeClr>
                </a:solidFill>
              </a:defRPr>
            </a:lvl2pPr>
            <a:lvl3pPr marL="514350" indent="0">
              <a:buNone/>
              <a:defRPr sz="1000">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3341061"/>
      </p:ext>
    </p:extLst>
  </p:cSld>
  <p:clrMapOvr>
    <a:masterClrMapping/>
  </p:clrMapOvr>
  <p:extLst>
    <p:ext uri="{DCECCB84-F9BA-43D5-87BE-67443E8EF086}">
      <p15:sldGuideLst xmlns:p15="http://schemas.microsoft.com/office/powerpoint/2012/main" xmlns=""/>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049867" y="933453"/>
            <a:ext cx="3810000"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4" name="KSO_BC2"/>
          <p:cNvSpPr>
            <a:spLocks noGrp="1"/>
          </p:cNvSpPr>
          <p:nvPr>
            <p:ph sz="half" idx="2"/>
          </p:nvPr>
        </p:nvSpPr>
        <p:spPr>
          <a:xfrm>
            <a:off x="4889501" y="933453"/>
            <a:ext cx="3820587"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5"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157290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1727199" y="88899"/>
            <a:ext cx="6984076" cy="53776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4578" y="1032272"/>
            <a:ext cx="3868340"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4" name="KSO_BC1"/>
          <p:cNvSpPr>
            <a:spLocks noGrp="1"/>
          </p:cNvSpPr>
          <p:nvPr>
            <p:ph sz="half" idx="2"/>
          </p:nvPr>
        </p:nvSpPr>
        <p:spPr>
          <a:xfrm>
            <a:off x="824578" y="1650206"/>
            <a:ext cx="3868340" cy="2763441"/>
          </a:xfrm>
        </p:spPr>
        <p:txBody>
          <a:bodyPr/>
          <a:lstStyle/>
          <a:p>
            <a:pPr lvl="0"/>
            <a:r>
              <a:rPr lang="zh-CN" altLang="en-US"/>
              <a:t>单击此处编辑母版文本样式</a:t>
            </a:r>
          </a:p>
          <a:p>
            <a:pPr lvl="1"/>
            <a:r>
              <a:rPr lang="zh-CN" altLang="en-US"/>
              <a:t>第二级</a:t>
            </a:r>
          </a:p>
        </p:txBody>
      </p:sp>
      <p:sp>
        <p:nvSpPr>
          <p:cNvPr id="5" name="Text Placeholder 4"/>
          <p:cNvSpPr>
            <a:spLocks noGrp="1"/>
          </p:cNvSpPr>
          <p:nvPr>
            <p:ph type="body" sz="quarter" idx="3"/>
          </p:nvPr>
        </p:nvSpPr>
        <p:spPr>
          <a:xfrm>
            <a:off x="4823885" y="1032272"/>
            <a:ext cx="3887391"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6" name="KSO_BC2"/>
          <p:cNvSpPr>
            <a:spLocks noGrp="1"/>
          </p:cNvSpPr>
          <p:nvPr>
            <p:ph sz="quarter" idx="4"/>
          </p:nvPr>
        </p:nvSpPr>
        <p:spPr>
          <a:xfrm>
            <a:off x="4823885" y="1650206"/>
            <a:ext cx="3887391" cy="2763441"/>
          </a:xfrm>
        </p:spPr>
        <p:txBody>
          <a:bodyPr/>
          <a:lstStyle/>
          <a:p>
            <a:pPr lvl="0"/>
            <a:r>
              <a:rPr lang="zh-CN" altLang="en-US"/>
              <a:t>单击此处编辑母版文本样式</a:t>
            </a:r>
          </a:p>
          <a:p>
            <a:pPr lvl="1"/>
            <a:r>
              <a:rPr lang="zh-CN" altLang="en-US"/>
              <a:t>第二级</a:t>
            </a:r>
          </a:p>
        </p:txBody>
      </p:sp>
      <p:sp>
        <p:nvSpPr>
          <p:cNvPr id="7"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39508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975767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825798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858444" y="400052"/>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p:cNvSpPr>
          <p:nvPr>
            <p:ph idx="1"/>
          </p:nvPr>
        </p:nvSpPr>
        <p:spPr>
          <a:xfrm>
            <a:off x="4115992" y="797724"/>
            <a:ext cx="4629150" cy="3655219"/>
          </a:xfrm>
        </p:spPr>
        <p:txBody>
          <a:bodyPr>
            <a:normAutofit/>
          </a:bodyPr>
          <a:lstStyle>
            <a:lvl1pPr>
              <a:defRPr sz="1100"/>
            </a:lvl1pPr>
            <a:lvl2pPr>
              <a:defRPr sz="1000"/>
            </a:lvl2pPr>
            <a:lvl3pPr>
              <a:defRPr sz="900"/>
            </a:lvl3pPr>
            <a:lvl4pPr>
              <a:defRPr sz="800"/>
            </a:lvl4pPr>
            <a:lvl5pPr>
              <a:defRPr sz="800"/>
            </a:lvl5pPr>
            <a:lvl6pPr>
              <a:defRPr sz="1100"/>
            </a:lvl6pPr>
            <a:lvl7pPr>
              <a:defRPr sz="1100"/>
            </a:lvl7pPr>
            <a:lvl8pPr>
              <a:defRPr sz="1100"/>
            </a:lvl8pPr>
            <a:lvl9pPr>
              <a:defRPr sz="1100"/>
            </a:lvl9pPr>
          </a:lstStyle>
          <a:p>
            <a:pPr lvl="0"/>
            <a:r>
              <a:rPr lang="zh-CN" altLang="en-US"/>
              <a:t>单击此处编辑母版文本样式</a:t>
            </a:r>
          </a:p>
          <a:p>
            <a:pPr lvl="1"/>
            <a:r>
              <a:rPr lang="zh-CN" altLang="en-US"/>
              <a:t>第二级</a:t>
            </a:r>
          </a:p>
        </p:txBody>
      </p:sp>
      <p:sp>
        <p:nvSpPr>
          <p:cNvPr id="4" name="KSO_BC2"/>
          <p:cNvSpPr>
            <a:spLocks noGrp="1"/>
          </p:cNvSpPr>
          <p:nvPr>
            <p:ph type="body" sz="half" idx="2"/>
          </p:nvPr>
        </p:nvSpPr>
        <p:spPr>
          <a:xfrm>
            <a:off x="858444" y="1600202"/>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70248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934644" y="342900"/>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4082125" y="740572"/>
            <a:ext cx="4629150" cy="3655219"/>
          </a:xfrm>
        </p:spPr>
        <p:txBody>
          <a:bodyPr anchor="t"/>
          <a:lstStyle>
            <a:lvl1pPr marL="0" indent="0">
              <a:buNone/>
              <a:defRPr sz="1800"/>
            </a:lvl1pPr>
            <a:lvl2pPr marL="257175" indent="0">
              <a:buNone/>
              <a:defRPr sz="1600"/>
            </a:lvl2pPr>
            <a:lvl3pPr marL="514350" indent="0">
              <a:buNone/>
              <a:defRPr sz="1400"/>
            </a:lvl3pPr>
            <a:lvl4pPr marL="771525" indent="0">
              <a:buNone/>
              <a:defRPr sz="1100"/>
            </a:lvl4pPr>
            <a:lvl5pPr marL="1028700" indent="0">
              <a:buNone/>
              <a:defRPr sz="1100"/>
            </a:lvl5pPr>
            <a:lvl6pPr marL="1285875" indent="0">
              <a:buNone/>
              <a:defRPr sz="1100"/>
            </a:lvl6pPr>
            <a:lvl7pPr marL="1543050" indent="0">
              <a:buNone/>
              <a:defRPr sz="1100"/>
            </a:lvl7pPr>
            <a:lvl8pPr marL="1800225" indent="0">
              <a:buNone/>
              <a:defRPr sz="1100"/>
            </a:lvl8pPr>
            <a:lvl9pPr marL="2057400" indent="0">
              <a:buNone/>
              <a:defRPr sz="1100"/>
            </a:lvl9pPr>
          </a:lstStyle>
          <a:p>
            <a:r>
              <a:rPr lang="zh-CN" altLang="en-US"/>
              <a:t>单击图标添加图片</a:t>
            </a:r>
            <a:endParaRPr lang="en-US" dirty="0"/>
          </a:p>
        </p:txBody>
      </p:sp>
      <p:sp>
        <p:nvSpPr>
          <p:cNvPr id="4" name="KSO_BC2"/>
          <p:cNvSpPr>
            <a:spLocks noGrp="1"/>
          </p:cNvSpPr>
          <p:nvPr>
            <p:ph type="body" sz="half" idx="2"/>
          </p:nvPr>
        </p:nvSpPr>
        <p:spPr>
          <a:xfrm>
            <a:off x="934644" y="1543050"/>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49400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769067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7628469" y="273844"/>
            <a:ext cx="886883" cy="4358879"/>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1585383" y="273844"/>
            <a:ext cx="5949952" cy="4358879"/>
          </a:xfrm>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2024/11/30</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612963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3">
            <a:extLst>
              <a:ext uri="{28A0092B-C50C-407E-A947-70E740481C1C}">
                <a14:useLocalDpi xmlns:a14="http://schemas.microsoft.com/office/drawing/2010/main" val="0"/>
              </a:ext>
            </a:extLst>
          </a:blip>
          <a:srcRect l="1474" t="26028" r="6166" b="4484"/>
          <a:stretch/>
        </p:blipFill>
        <p:spPr>
          <a:xfrm>
            <a:off x="-2" y="1753372"/>
            <a:ext cx="5924552" cy="3390128"/>
          </a:xfrm>
          <a:prstGeom prst="rect">
            <a:avLst/>
          </a:prstGeom>
        </p:spPr>
      </p:pic>
      <p:sp>
        <p:nvSpPr>
          <p:cNvPr id="4" name="KSO_FD"/>
          <p:cNvSpPr>
            <a:spLocks noGrp="1"/>
          </p:cNvSpPr>
          <p:nvPr>
            <p:ph type="dt" sz="half" idx="2"/>
          </p:nvPr>
        </p:nvSpPr>
        <p:spPr>
          <a:xfrm>
            <a:off x="628650" y="4838703"/>
            <a:ext cx="2057400" cy="273844"/>
          </a:xfrm>
          <a:prstGeom prst="rect">
            <a:avLst/>
          </a:prstGeom>
        </p:spPr>
        <p:txBody>
          <a:bodyPr vert="horz" lIns="68580" tIns="34290" rIns="68580" bIns="34290" rtlCol="0" anchor="ctr"/>
          <a:lstStyle>
            <a:lvl1pPr algn="l">
              <a:defRPr sz="900">
                <a:solidFill>
                  <a:schemeClr val="tx1"/>
                </a:solidFill>
              </a:defRPr>
            </a:lvl1pPr>
          </a:lstStyle>
          <a:p>
            <a:fld id="{1FE7BD1D-B284-4506-85BF-D02BB5BA5E47}" type="datetimeFigureOut">
              <a:rPr lang="zh-CN" altLang="en-US" smtClean="0"/>
              <a:t>2024/11/30</a:t>
            </a:fld>
            <a:endParaRPr lang="zh-CN" altLang="en-US"/>
          </a:p>
        </p:txBody>
      </p:sp>
      <p:sp>
        <p:nvSpPr>
          <p:cNvPr id="5" name="KSO_FT"/>
          <p:cNvSpPr>
            <a:spLocks noGrp="1"/>
          </p:cNvSpPr>
          <p:nvPr>
            <p:ph type="ftr" sz="quarter" idx="3"/>
          </p:nvPr>
        </p:nvSpPr>
        <p:spPr>
          <a:xfrm>
            <a:off x="3028950" y="4838703"/>
            <a:ext cx="3086100" cy="273844"/>
          </a:xfrm>
          <a:prstGeom prst="rect">
            <a:avLst/>
          </a:prstGeom>
        </p:spPr>
        <p:txBody>
          <a:bodyPr vert="horz" lIns="68580" tIns="34290" rIns="68580" bIns="34290" rtlCol="0" anchor="ctr"/>
          <a:lstStyle>
            <a:lvl1pPr algn="ctr">
              <a:defRPr sz="900">
                <a:solidFill>
                  <a:schemeClr val="tx1"/>
                </a:solidFill>
              </a:defRPr>
            </a:lvl1pPr>
          </a:lstStyle>
          <a:p>
            <a:endParaRPr lang="zh-CN" altLang="en-US"/>
          </a:p>
        </p:txBody>
      </p:sp>
      <p:sp>
        <p:nvSpPr>
          <p:cNvPr id="6" name="KSO_FN"/>
          <p:cNvSpPr>
            <a:spLocks noGrp="1"/>
          </p:cNvSpPr>
          <p:nvPr>
            <p:ph type="sldNum" sz="quarter" idx="4"/>
          </p:nvPr>
        </p:nvSpPr>
        <p:spPr>
          <a:xfrm>
            <a:off x="6457950" y="4838703"/>
            <a:ext cx="2057400" cy="273844"/>
          </a:xfrm>
          <a:prstGeom prst="rect">
            <a:avLst/>
          </a:prstGeom>
        </p:spPr>
        <p:txBody>
          <a:bodyPr vert="horz" lIns="68580" tIns="34290" rIns="68580" bIns="34290" rtlCol="0" anchor="ctr"/>
          <a:lstStyle>
            <a:lvl1pPr algn="r">
              <a:defRPr sz="900">
                <a:solidFill>
                  <a:schemeClr val="tx1"/>
                </a:solidFill>
              </a:defRPr>
            </a:lvl1pPr>
          </a:lstStyle>
          <a:p>
            <a:fld id="{B175336B-BC74-4DD6-BD11-FD15792EF55D}" type="slidenum">
              <a:rPr lang="zh-CN" altLang="en-US" smtClean="0"/>
              <a:t>‹#›</a:t>
            </a:fld>
            <a:endParaRPr lang="zh-CN" altLang="en-US"/>
          </a:p>
        </p:txBody>
      </p:sp>
      <p:sp>
        <p:nvSpPr>
          <p:cNvPr id="3" name="KSO_BC1"/>
          <p:cNvSpPr>
            <a:spLocks noGrp="1"/>
          </p:cNvSpPr>
          <p:nvPr>
            <p:ph type="body" idx="1"/>
          </p:nvPr>
        </p:nvSpPr>
        <p:spPr>
          <a:xfrm>
            <a:off x="854015" y="850107"/>
            <a:ext cx="7866654" cy="3825107"/>
          </a:xfrm>
          <a:prstGeom prst="rect">
            <a:avLst/>
          </a:prstGeom>
        </p:spPr>
        <p:txBody>
          <a:bodyPr vert="horz" lIns="68580" tIns="34290" rIns="68580" bIns="34290" rtlCol="0">
            <a:normAutofit/>
          </a:bodyPr>
          <a:lstStyle/>
          <a:p>
            <a:pPr lvl="0"/>
            <a:r>
              <a:rPr lang="zh-CN" altLang="en-US" dirty="0"/>
              <a:t>单击此处编辑母版文本样式</a:t>
            </a:r>
          </a:p>
          <a:p>
            <a:pPr lvl="1"/>
            <a:r>
              <a:rPr lang="zh-CN" altLang="en-US" dirty="0"/>
              <a:t>第二级</a:t>
            </a:r>
          </a:p>
        </p:txBody>
      </p:sp>
      <p:sp>
        <p:nvSpPr>
          <p:cNvPr id="2" name="KSO_BT1"/>
          <p:cNvSpPr>
            <a:spLocks noGrp="1"/>
          </p:cNvSpPr>
          <p:nvPr>
            <p:ph type="title"/>
          </p:nvPr>
        </p:nvSpPr>
        <p:spPr>
          <a:xfrm>
            <a:off x="504826" y="160440"/>
            <a:ext cx="8215844" cy="597008"/>
          </a:xfrm>
          <a:prstGeom prst="rect">
            <a:avLst/>
          </a:prstGeom>
        </p:spPr>
        <p:txBody>
          <a:bodyPr vert="horz" lIns="68580" tIns="34290" rIns="68580" bIns="3429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2821067487"/>
      </p:ext>
    </p:extLst>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xStyles>
    <p:titleStyle>
      <a:lvl1pPr algn="ctr" defTabSz="514350" rtl="0" eaLnBrk="1" latinLnBrk="0" hangingPunct="1">
        <a:lnSpc>
          <a:spcPct val="90000"/>
        </a:lnSpc>
        <a:spcBef>
          <a:spcPct val="0"/>
        </a:spcBef>
        <a:buNone/>
        <a:defRPr sz="2400" b="0" i="0" kern="1200" baseline="0">
          <a:solidFill>
            <a:schemeClr val="tx1">
              <a:lumMod val="50000"/>
            </a:schemeClr>
          </a:solidFill>
          <a:effectLst/>
          <a:latin typeface="+mj-ea"/>
          <a:ea typeface="+mj-ea"/>
          <a:cs typeface="+mj-cs"/>
        </a:defRPr>
      </a:lvl1pPr>
    </p:titleStyle>
    <p:bodyStyle>
      <a:lvl1pPr marL="271463" indent="-271463" algn="just" defTabSz="514350" rtl="0" eaLnBrk="1" latinLnBrk="0" hangingPunct="1">
        <a:lnSpc>
          <a:spcPct val="110000"/>
        </a:lnSpc>
        <a:spcBef>
          <a:spcPts val="900"/>
        </a:spcBef>
        <a:spcAft>
          <a:spcPts val="0"/>
        </a:spcAft>
        <a:buClr>
          <a:schemeClr val="accent2"/>
        </a:buClr>
        <a:buSzPct val="50000"/>
        <a:buFont typeface="Wingdings 2" panose="05020102010507070707" pitchFamily="18" charset="2"/>
        <a:buChar char=""/>
        <a:defRPr lang="zh-CN" altLang="en-US" sz="1800" b="1" kern="1200" baseline="0" dirty="0" smtClean="0">
          <a:solidFill>
            <a:schemeClr val="accent1"/>
          </a:solidFill>
          <a:latin typeface="+mn-ea"/>
          <a:ea typeface="+mn-ea"/>
          <a:cs typeface="+mn-cs"/>
        </a:defRPr>
      </a:lvl1pPr>
      <a:lvl2pPr marL="271463" indent="-271463" algn="just" defTabSz="514350"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Char char=" "/>
        <a:defRPr sz="1400" b="0" kern="1200" baseline="0">
          <a:solidFill>
            <a:schemeClr val="tx1"/>
          </a:solidFill>
          <a:latin typeface="+mn-ea"/>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00"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514350" rtl="0" eaLnBrk="1" latinLnBrk="0" hangingPunct="1">
        <a:defRPr sz="1000" kern="1200">
          <a:solidFill>
            <a:schemeClr val="tx1"/>
          </a:solidFill>
          <a:latin typeface="+mn-lt"/>
          <a:ea typeface="+mn-ea"/>
          <a:cs typeface="+mn-cs"/>
        </a:defRPr>
      </a:lvl1pPr>
      <a:lvl2pPr marL="257175" algn="l" defTabSz="514350" rtl="0" eaLnBrk="1" latinLnBrk="0" hangingPunct="1">
        <a:defRPr sz="1000" kern="1200">
          <a:solidFill>
            <a:schemeClr val="tx1"/>
          </a:solidFill>
          <a:latin typeface="+mn-lt"/>
          <a:ea typeface="+mn-ea"/>
          <a:cs typeface="+mn-cs"/>
        </a:defRPr>
      </a:lvl2pPr>
      <a:lvl3pPr marL="514350" algn="l" defTabSz="514350" rtl="0" eaLnBrk="1" latinLnBrk="0" hangingPunct="1">
        <a:defRPr sz="1000" kern="1200">
          <a:solidFill>
            <a:schemeClr val="tx1"/>
          </a:solidFill>
          <a:latin typeface="+mn-lt"/>
          <a:ea typeface="+mn-ea"/>
          <a:cs typeface="+mn-cs"/>
        </a:defRPr>
      </a:lvl3pPr>
      <a:lvl4pPr marL="771525" algn="l" defTabSz="514350" rtl="0" eaLnBrk="1" latinLnBrk="0" hangingPunct="1">
        <a:defRPr sz="1000" kern="1200">
          <a:solidFill>
            <a:schemeClr val="tx1"/>
          </a:solidFill>
          <a:latin typeface="+mn-lt"/>
          <a:ea typeface="+mn-ea"/>
          <a:cs typeface="+mn-cs"/>
        </a:defRPr>
      </a:lvl4pPr>
      <a:lvl5pPr marL="1028700" algn="l" defTabSz="514350" rtl="0" eaLnBrk="1" latinLnBrk="0" hangingPunct="1">
        <a:defRPr sz="1000" kern="1200">
          <a:solidFill>
            <a:schemeClr val="tx1"/>
          </a:solidFill>
          <a:latin typeface="+mn-lt"/>
          <a:ea typeface="+mn-ea"/>
          <a:cs typeface="+mn-cs"/>
        </a:defRPr>
      </a:lvl5pPr>
      <a:lvl6pPr marL="1285875" algn="l" defTabSz="514350" rtl="0" eaLnBrk="1" latinLnBrk="0" hangingPunct="1">
        <a:defRPr sz="1000" kern="1200">
          <a:solidFill>
            <a:schemeClr val="tx1"/>
          </a:solidFill>
          <a:latin typeface="+mn-lt"/>
          <a:ea typeface="+mn-ea"/>
          <a:cs typeface="+mn-cs"/>
        </a:defRPr>
      </a:lvl6pPr>
      <a:lvl7pPr marL="1543050" algn="l" defTabSz="514350" rtl="0" eaLnBrk="1" latinLnBrk="0" hangingPunct="1">
        <a:defRPr sz="1000" kern="1200">
          <a:solidFill>
            <a:schemeClr val="tx1"/>
          </a:solidFill>
          <a:latin typeface="+mn-lt"/>
          <a:ea typeface="+mn-ea"/>
          <a:cs typeface="+mn-cs"/>
        </a:defRPr>
      </a:lvl7pPr>
      <a:lvl8pPr marL="1800225" algn="l" defTabSz="514350" rtl="0" eaLnBrk="1" latinLnBrk="0" hangingPunct="1">
        <a:defRPr sz="1000" kern="1200">
          <a:solidFill>
            <a:schemeClr val="tx1"/>
          </a:solidFill>
          <a:latin typeface="+mn-lt"/>
          <a:ea typeface="+mn-ea"/>
          <a:cs typeface="+mn-cs"/>
        </a:defRPr>
      </a:lvl8pPr>
      <a:lvl9pPr marL="2057400" algn="l" defTabSz="51435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5463" y="368964"/>
            <a:ext cx="8928992" cy="523220"/>
          </a:xfrm>
          <a:prstGeom prst="rect">
            <a:avLst/>
          </a:prstGeom>
          <a:noFill/>
        </p:spPr>
        <p:txBody>
          <a:bodyPr wrap="square" rtlCol="0">
            <a:spAutoFit/>
          </a:bodyPr>
          <a:lstStyle/>
          <a:p>
            <a:r>
              <a:rPr lang="zh-CN" altLang="en-US" sz="2800" b="1" dirty="0">
                <a:latin typeface="Times New Roman" pitchFamily="18" charset="0"/>
                <a:ea typeface="宋体" pitchFamily="2" charset="-122"/>
                <a:cs typeface="Times New Roman" pitchFamily="18" charset="0"/>
              </a:rPr>
              <a:t>一、砌筑砂浆</a:t>
            </a:r>
          </a:p>
        </p:txBody>
      </p:sp>
      <p:sp>
        <p:nvSpPr>
          <p:cNvPr id="5" name="TextBox 4"/>
          <p:cNvSpPr txBox="1"/>
          <p:nvPr/>
        </p:nvSpPr>
        <p:spPr>
          <a:xfrm>
            <a:off x="115463" y="89218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（一）原材料要求</a:t>
            </a:r>
          </a:p>
        </p:txBody>
      </p:sp>
      <p:graphicFrame>
        <p:nvGraphicFramePr>
          <p:cNvPr id="6" name="表格 5"/>
          <p:cNvGraphicFramePr>
            <a:graphicFrameLocks noGrp="1"/>
          </p:cNvGraphicFramePr>
          <p:nvPr>
            <p:extLst>
              <p:ext uri="{D42A27DB-BD31-4B8C-83A1-F6EECF244321}">
                <p14:modId xmlns:p14="http://schemas.microsoft.com/office/powerpoint/2010/main" val="2420745103"/>
              </p:ext>
            </p:extLst>
          </p:nvPr>
        </p:nvGraphicFramePr>
        <p:xfrm>
          <a:off x="1115615" y="1419620"/>
          <a:ext cx="7928839" cy="3672408"/>
        </p:xfrm>
        <a:graphic>
          <a:graphicData uri="http://schemas.openxmlformats.org/drawingml/2006/table">
            <a:tbl>
              <a:tblPr firstRow="1" firstCol="1" bandRow="1">
                <a:tableStyleId>{69CF1AB2-1976-4502-BF36-3FF5EA218861}</a:tableStyleId>
              </a:tblPr>
              <a:tblGrid>
                <a:gridCol w="336211">
                  <a:extLst>
                    <a:ext uri="{9D8B030D-6E8A-4147-A177-3AD203B41FA5}">
                      <a16:colId xmlns:a16="http://schemas.microsoft.com/office/drawing/2014/main" xmlns="" val="20000"/>
                    </a:ext>
                  </a:extLst>
                </a:gridCol>
                <a:gridCol w="653244">
                  <a:extLst>
                    <a:ext uri="{9D8B030D-6E8A-4147-A177-3AD203B41FA5}">
                      <a16:colId xmlns:a16="http://schemas.microsoft.com/office/drawing/2014/main" xmlns="" val="20001"/>
                    </a:ext>
                  </a:extLst>
                </a:gridCol>
                <a:gridCol w="6939384">
                  <a:extLst>
                    <a:ext uri="{9D8B030D-6E8A-4147-A177-3AD203B41FA5}">
                      <a16:colId xmlns:a16="http://schemas.microsoft.com/office/drawing/2014/main" xmlns="" val="20002"/>
                    </a:ext>
                  </a:extLst>
                </a:gridCol>
              </a:tblGrid>
              <a:tr h="459051">
                <a:tc rowSpan="8">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原材料要求</a:t>
                      </a:r>
                    </a:p>
                  </a:txBody>
                  <a:tcPr marL="39672" marR="39672" marT="0" marB="0" anchor="ctr"/>
                </a:tc>
                <a:tc rowSpan="4">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水泥</a:t>
                      </a:r>
                    </a:p>
                  </a:txBody>
                  <a:tcPr marL="39672" marR="39672"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）进场使用前应有出厂合格证和复试合格报告；</a:t>
                      </a:r>
                    </a:p>
                  </a:txBody>
                  <a:tcPr marL="39672" marR="39672" marT="0" marB="0" anchor="ctr"/>
                </a:tc>
                <a:extLst>
                  <a:ext uri="{0D108BD9-81ED-4DB2-BD59-A6C34878D82A}">
                    <a16:rowId xmlns:a16="http://schemas.microsoft.com/office/drawing/2014/main" xmlns="" val="10000"/>
                  </a:ext>
                </a:extLst>
              </a:tr>
              <a:tr h="459051">
                <a:tc vMerge="1">
                  <a:txBody>
                    <a:bodyPr/>
                    <a:lstStyle/>
                    <a:p>
                      <a:endParaRPr lang="zh-CN" altLang="en-US"/>
                    </a:p>
                  </a:txBody>
                  <a:tcPr/>
                </a:tc>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）强度等级——根据砂浆品种及强度等级要求选择；</a:t>
                      </a:r>
                    </a:p>
                  </a:txBody>
                  <a:tcPr marL="39672" marR="39672" marT="0" marB="0" anchor="ctr"/>
                </a:tc>
                <a:extLst>
                  <a:ext uri="{0D108BD9-81ED-4DB2-BD59-A6C34878D82A}">
                    <a16:rowId xmlns:a16="http://schemas.microsoft.com/office/drawing/2014/main" xmlns="" val="10001"/>
                  </a:ext>
                </a:extLst>
              </a:tr>
              <a:tr h="459051">
                <a:tc vMerge="1">
                  <a:txBody>
                    <a:bodyPr/>
                    <a:lstStyle/>
                    <a:p>
                      <a:endParaRPr lang="zh-CN" altLang="en-US"/>
                    </a:p>
                  </a:txBody>
                  <a:tcPr/>
                </a:tc>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M15</a:t>
                      </a:r>
                      <a:r>
                        <a:rPr lang="zh-CN" sz="1600" b="1" kern="100">
                          <a:effectLst/>
                          <a:latin typeface="Times New Roman" pitchFamily="18" charset="0"/>
                          <a:ea typeface="宋体" pitchFamily="2" charset="-122"/>
                          <a:cs typeface="Times New Roman" pitchFamily="18" charset="0"/>
                        </a:rPr>
                        <a:t>——宜用</a:t>
                      </a:r>
                      <a:r>
                        <a:rPr lang="en-US" sz="1600" b="1" kern="100">
                          <a:effectLst/>
                          <a:latin typeface="Times New Roman" pitchFamily="18" charset="0"/>
                          <a:ea typeface="宋体" pitchFamily="2" charset="-122"/>
                          <a:cs typeface="Times New Roman" pitchFamily="18" charset="0"/>
                        </a:rPr>
                        <a:t>32.5</a:t>
                      </a:r>
                      <a:r>
                        <a:rPr lang="zh-CN" sz="1600" b="1" kern="100">
                          <a:effectLst/>
                          <a:latin typeface="Times New Roman" pitchFamily="18" charset="0"/>
                          <a:ea typeface="宋体" pitchFamily="2" charset="-122"/>
                          <a:cs typeface="Times New Roman" pitchFamily="18" charset="0"/>
                        </a:rPr>
                        <a:t>级的通用硅酸盐水泥或砌筑水泥；</a:t>
                      </a:r>
                    </a:p>
                  </a:txBody>
                  <a:tcPr marL="39672" marR="39672" marT="0" marB="0" anchor="ctr"/>
                </a:tc>
                <a:extLst>
                  <a:ext uri="{0D108BD9-81ED-4DB2-BD59-A6C34878D82A}">
                    <a16:rowId xmlns:a16="http://schemas.microsoft.com/office/drawing/2014/main" xmlns="" val="10002"/>
                  </a:ext>
                </a:extLst>
              </a:tr>
              <a:tr h="459051">
                <a:tc vMerge="1">
                  <a:txBody>
                    <a:bodyPr/>
                    <a:lstStyle/>
                    <a:p>
                      <a:endParaRPr lang="zh-CN" altLang="en-US"/>
                    </a:p>
                  </a:txBody>
                  <a:tcPr/>
                </a:tc>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M15</a:t>
                      </a:r>
                      <a:r>
                        <a:rPr lang="zh-CN" sz="1600" b="1" kern="100">
                          <a:effectLst/>
                          <a:latin typeface="Times New Roman" pitchFamily="18" charset="0"/>
                          <a:ea typeface="宋体" pitchFamily="2" charset="-122"/>
                          <a:cs typeface="Times New Roman" pitchFamily="18" charset="0"/>
                        </a:rPr>
                        <a:t>——宜用</a:t>
                      </a:r>
                      <a:r>
                        <a:rPr lang="en-US" sz="1600" b="1" kern="100">
                          <a:effectLst/>
                          <a:latin typeface="Times New Roman" pitchFamily="18" charset="0"/>
                          <a:ea typeface="宋体" pitchFamily="2" charset="-122"/>
                          <a:cs typeface="Times New Roman" pitchFamily="18" charset="0"/>
                        </a:rPr>
                        <a:t>42.5</a:t>
                      </a:r>
                      <a:r>
                        <a:rPr lang="zh-CN" sz="1600" b="1" kern="100">
                          <a:effectLst/>
                          <a:latin typeface="Times New Roman" pitchFamily="18" charset="0"/>
                          <a:ea typeface="宋体" pitchFamily="2" charset="-122"/>
                          <a:cs typeface="Times New Roman" pitchFamily="18" charset="0"/>
                        </a:rPr>
                        <a:t>级普通硅酸盐水泥。</a:t>
                      </a:r>
                    </a:p>
                  </a:txBody>
                  <a:tcPr marL="39672" marR="39672" marT="0" marB="0" anchor="ctr"/>
                </a:tc>
                <a:extLst>
                  <a:ext uri="{0D108BD9-81ED-4DB2-BD59-A6C34878D82A}">
                    <a16:rowId xmlns:a16="http://schemas.microsoft.com/office/drawing/2014/main" xmlns="" val="10003"/>
                  </a:ext>
                </a:extLst>
              </a:tr>
              <a:tr h="459051">
                <a:tc vMerge="1">
                  <a:txBody>
                    <a:bodyPr/>
                    <a:lstStyle/>
                    <a:p>
                      <a:endParaRPr lang="zh-CN" altLang="en-US"/>
                    </a:p>
                  </a:txBody>
                  <a:tcPr/>
                </a:tc>
                <a:tc>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砂</a:t>
                      </a:r>
                    </a:p>
                  </a:txBody>
                  <a:tcPr marL="39672" marR="39672"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宜用中砂，其中毛石砌体宜用粗砂。</a:t>
                      </a:r>
                    </a:p>
                  </a:txBody>
                  <a:tcPr marL="39672" marR="39672" marT="0" marB="0" anchor="ctr"/>
                </a:tc>
                <a:extLst>
                  <a:ext uri="{0D108BD9-81ED-4DB2-BD59-A6C34878D82A}">
                    <a16:rowId xmlns:a16="http://schemas.microsoft.com/office/drawing/2014/main" xmlns="" val="10004"/>
                  </a:ext>
                </a:extLst>
              </a:tr>
              <a:tr h="459051">
                <a:tc vMerge="1">
                  <a:txBody>
                    <a:bodyPr/>
                    <a:lstStyle/>
                    <a:p>
                      <a:endParaRPr lang="zh-CN" altLang="en-US"/>
                    </a:p>
                  </a:txBody>
                  <a:tcPr/>
                </a:tc>
                <a:tc rowSpan="3">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石灰膏</a:t>
                      </a:r>
                    </a:p>
                  </a:txBody>
                  <a:tcPr marL="39672" marR="39672"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）熟化时间——至少</a:t>
                      </a:r>
                      <a:r>
                        <a:rPr lang="en-US" sz="1600" b="1" kern="100">
                          <a:effectLst/>
                          <a:latin typeface="Times New Roman" pitchFamily="18" charset="0"/>
                          <a:ea typeface="宋体" pitchFamily="2" charset="-122"/>
                          <a:cs typeface="Times New Roman" pitchFamily="18" charset="0"/>
                        </a:rPr>
                        <a:t>7d</a:t>
                      </a:r>
                      <a:r>
                        <a:rPr lang="zh-CN" sz="1600" b="1" kern="100">
                          <a:effectLst/>
                          <a:latin typeface="Times New Roman" pitchFamily="18" charset="0"/>
                          <a:ea typeface="宋体" pitchFamily="2" charset="-122"/>
                          <a:cs typeface="Times New Roman" pitchFamily="18" charset="0"/>
                        </a:rPr>
                        <a:t>（磨细——不少于</a:t>
                      </a:r>
                      <a:r>
                        <a:rPr lang="en-US" sz="1600" b="1" kern="100">
                          <a:effectLst/>
                          <a:latin typeface="Times New Roman" pitchFamily="18" charset="0"/>
                          <a:ea typeface="宋体" pitchFamily="2" charset="-122"/>
                          <a:cs typeface="Times New Roman" pitchFamily="18" charset="0"/>
                        </a:rPr>
                        <a:t>2d</a:t>
                      </a:r>
                      <a:r>
                        <a:rPr lang="zh-CN" sz="1600" b="1" kern="100">
                          <a:effectLst/>
                          <a:latin typeface="Times New Roman" pitchFamily="18" charset="0"/>
                          <a:ea typeface="宋体" pitchFamily="2" charset="-122"/>
                          <a:cs typeface="Times New Roman" pitchFamily="18" charset="0"/>
                        </a:rPr>
                        <a:t>）；</a:t>
                      </a:r>
                    </a:p>
                  </a:txBody>
                  <a:tcPr marL="39672" marR="39672" marT="0" marB="0" anchor="ctr"/>
                </a:tc>
                <a:extLst>
                  <a:ext uri="{0D108BD9-81ED-4DB2-BD59-A6C34878D82A}">
                    <a16:rowId xmlns:a16="http://schemas.microsoft.com/office/drawing/2014/main" xmlns="" val="10005"/>
                  </a:ext>
                </a:extLst>
              </a:tr>
              <a:tr h="459051">
                <a:tc vMerge="1">
                  <a:txBody>
                    <a:bodyPr/>
                    <a:lstStyle/>
                    <a:p>
                      <a:endParaRPr lang="zh-CN" altLang="en-US"/>
                    </a:p>
                  </a:txBody>
                  <a:tcPr/>
                </a:tc>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）水泥石灰砂浆——不得采用脱水硬化的石灰膏。</a:t>
                      </a:r>
                    </a:p>
                  </a:txBody>
                  <a:tcPr marL="39672" marR="39672" marT="0" marB="0" anchor="ctr"/>
                </a:tc>
                <a:extLst>
                  <a:ext uri="{0D108BD9-81ED-4DB2-BD59-A6C34878D82A}">
                    <a16:rowId xmlns:a16="http://schemas.microsoft.com/office/drawing/2014/main" xmlns="" val="10006"/>
                  </a:ext>
                </a:extLst>
              </a:tr>
              <a:tr h="459051">
                <a:tc vMerge="1">
                  <a:txBody>
                    <a:bodyPr/>
                    <a:lstStyle/>
                    <a:p>
                      <a:endParaRPr lang="zh-CN" altLang="en-US"/>
                    </a:p>
                  </a:txBody>
                  <a:tcPr/>
                </a:tc>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）消石灰粉——不得直接使用于砌筑砂浆中。</a:t>
                      </a:r>
                    </a:p>
                  </a:txBody>
                  <a:tcPr marL="39672" marR="39672" marT="0" marB="0" anchor="ct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209538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6331"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（二）砂浆配合比</a:t>
            </a:r>
          </a:p>
        </p:txBody>
      </p:sp>
      <p:graphicFrame>
        <p:nvGraphicFramePr>
          <p:cNvPr id="2" name="表格 1"/>
          <p:cNvGraphicFramePr>
            <a:graphicFrameLocks noGrp="1"/>
          </p:cNvGraphicFramePr>
          <p:nvPr>
            <p:extLst>
              <p:ext uri="{D42A27DB-BD31-4B8C-83A1-F6EECF244321}">
                <p14:modId xmlns:p14="http://schemas.microsoft.com/office/powerpoint/2010/main" val="2293271678"/>
              </p:ext>
            </p:extLst>
          </p:nvPr>
        </p:nvGraphicFramePr>
        <p:xfrm>
          <a:off x="1043607" y="830629"/>
          <a:ext cx="8001716" cy="4261400"/>
        </p:xfrm>
        <a:graphic>
          <a:graphicData uri="http://schemas.openxmlformats.org/drawingml/2006/table">
            <a:tbl>
              <a:tblPr firstRow="1" firstCol="1" bandRow="1">
                <a:tableStyleId>{8A107856-5554-42FB-B03E-39F5DBC370BA}</a:tableStyleId>
              </a:tblPr>
              <a:tblGrid>
                <a:gridCol w="632300">
                  <a:extLst>
                    <a:ext uri="{9D8B030D-6E8A-4147-A177-3AD203B41FA5}">
                      <a16:colId xmlns:a16="http://schemas.microsoft.com/office/drawing/2014/main" xmlns="" val="20000"/>
                    </a:ext>
                  </a:extLst>
                </a:gridCol>
                <a:gridCol w="7369416">
                  <a:extLst>
                    <a:ext uri="{9D8B030D-6E8A-4147-A177-3AD203B41FA5}">
                      <a16:colId xmlns:a16="http://schemas.microsoft.com/office/drawing/2014/main" xmlns="" val="20001"/>
                    </a:ext>
                  </a:extLst>
                </a:gridCol>
              </a:tblGrid>
              <a:tr h="1217543">
                <a:tc rowSpan="4">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砂浆配合比</a:t>
                      </a:r>
                    </a:p>
                  </a:txBody>
                  <a:tcPr marL="55129" marR="55129" marT="0" marB="0" anchor="ct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a:t>
                      </a:r>
                      <a:r>
                        <a:rPr lang="zh-CN" sz="1600" b="1" kern="100" dirty="0">
                          <a:effectLst/>
                          <a:latin typeface="Times New Roman" pitchFamily="18" charset="0"/>
                          <a:ea typeface="宋体" pitchFamily="2" charset="-122"/>
                          <a:cs typeface="Times New Roman" pitchFamily="18" charset="0"/>
                        </a:rPr>
                        <a:t>）砌筑砂浆配合比——有资质的试验室根据现场的实际情况进行计算和试配确定，并同时满足稠度、保水率和抗压强度的要求。</a:t>
                      </a:r>
                    </a:p>
                  </a:txBody>
                  <a:tcPr marL="55129" marR="55129" marT="0" marB="0" anchor="ctr"/>
                </a:tc>
                <a:extLst>
                  <a:ext uri="{0D108BD9-81ED-4DB2-BD59-A6C34878D82A}">
                    <a16:rowId xmlns:a16="http://schemas.microsoft.com/office/drawing/2014/main" xmlns="" val="10000"/>
                  </a:ext>
                </a:extLst>
              </a:tr>
              <a:tr h="1217543">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）稠度值——当砌筑材料为粗糙多孔且吸水较大或在干热条件下砌筑时，应选用较大稠度值的砂浆；反之，应选用较小稠度值的砂浆。</a:t>
                      </a:r>
                    </a:p>
                  </a:txBody>
                  <a:tcPr marL="55129" marR="55129" marT="0" marB="0" anchor="ctr"/>
                </a:tc>
                <a:extLst>
                  <a:ext uri="{0D108BD9-81ED-4DB2-BD59-A6C34878D82A}">
                    <a16:rowId xmlns:a16="http://schemas.microsoft.com/office/drawing/2014/main" xmlns="" val="10001"/>
                  </a:ext>
                </a:extLst>
              </a:tr>
              <a:tr h="608771">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）分层度——不得＞</a:t>
                      </a:r>
                      <a:r>
                        <a:rPr lang="en-US" sz="1600" b="1" kern="100">
                          <a:effectLst/>
                          <a:latin typeface="Times New Roman" pitchFamily="18" charset="0"/>
                          <a:ea typeface="宋体" pitchFamily="2" charset="-122"/>
                          <a:cs typeface="Times New Roman" pitchFamily="18" charset="0"/>
                        </a:rPr>
                        <a:t>30mm</a:t>
                      </a:r>
                      <a:r>
                        <a:rPr lang="zh-CN" sz="1600" b="1" kern="100">
                          <a:effectLst/>
                          <a:latin typeface="Times New Roman" pitchFamily="18" charset="0"/>
                          <a:ea typeface="宋体" pitchFamily="2" charset="-122"/>
                          <a:cs typeface="Times New Roman" pitchFamily="18" charset="0"/>
                        </a:rPr>
                        <a:t>；</a:t>
                      </a:r>
                    </a:p>
                  </a:txBody>
                  <a:tcPr marL="55129" marR="55129" marT="0" marB="0" anchor="ctr"/>
                </a:tc>
                <a:extLst>
                  <a:ext uri="{0D108BD9-81ED-4DB2-BD59-A6C34878D82A}">
                    <a16:rowId xmlns:a16="http://schemas.microsoft.com/office/drawing/2014/main" xmlns="" val="10002"/>
                  </a:ext>
                </a:extLst>
              </a:tr>
              <a:tr h="1217543">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4</a:t>
                      </a:r>
                      <a:r>
                        <a:rPr lang="zh-CN" sz="1600" b="1" kern="100" dirty="0">
                          <a:effectLst/>
                          <a:latin typeface="Times New Roman" pitchFamily="18" charset="0"/>
                          <a:ea typeface="宋体" pitchFamily="2" charset="-122"/>
                          <a:cs typeface="Times New Roman" pitchFamily="18" charset="0"/>
                        </a:rPr>
                        <a:t>）砂浆代换——施工中不应采用强度等级＜</a:t>
                      </a:r>
                      <a:r>
                        <a:rPr lang="en-US" sz="1600" b="1" kern="100" dirty="0">
                          <a:effectLst/>
                          <a:latin typeface="Times New Roman" pitchFamily="18" charset="0"/>
                          <a:ea typeface="宋体" pitchFamily="2" charset="-122"/>
                          <a:cs typeface="Times New Roman" pitchFamily="18" charset="0"/>
                        </a:rPr>
                        <a:t>M5</a:t>
                      </a:r>
                      <a:r>
                        <a:rPr lang="zh-CN" sz="1600" b="1" kern="100" dirty="0">
                          <a:effectLst/>
                          <a:latin typeface="Times New Roman" pitchFamily="18" charset="0"/>
                          <a:ea typeface="宋体" pitchFamily="2" charset="-122"/>
                          <a:cs typeface="Times New Roman" pitchFamily="18" charset="0"/>
                        </a:rPr>
                        <a:t>的水泥砂浆替代同强度等级水泥混合砂浆，如需替代，应将水泥砂浆提高一个强度等级。</a:t>
                      </a:r>
                    </a:p>
                  </a:txBody>
                  <a:tcPr marL="55129" marR="55129" marT="0" marB="0" anchor="ctr"/>
                </a:tc>
                <a:extLst>
                  <a:ext uri="{0D108BD9-81ED-4DB2-BD59-A6C34878D82A}">
                    <a16:rowId xmlns:a16="http://schemas.microsoft.com/office/drawing/2014/main" xmlns="" val="10003"/>
                  </a:ext>
                </a:extLst>
              </a:tr>
            </a:tbl>
          </a:graphicData>
        </a:graphic>
      </p:graphicFrame>
      <p:pic>
        <p:nvPicPr>
          <p:cNvPr id="2049" name="Picture 1"/>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699791" y="838569"/>
            <a:ext cx="4352925" cy="369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319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049"/>
                                        </p:tgtEl>
                                        <p:attrNameLst>
                                          <p:attrName>style.visibility</p:attrName>
                                        </p:attrNameLst>
                                      </p:cBhvr>
                                      <p:to>
                                        <p:strVal val="visible"/>
                                      </p:to>
                                    </p:set>
                                    <p:animEffect transition="in" filter="barn(inVertical)">
                                      <p:cBhvr>
                                        <p:cTn id="19" dur="500"/>
                                        <p:tgtEl>
                                          <p:spTgt spid="2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6331"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（三）砂浆的拌制及使用</a:t>
            </a:r>
          </a:p>
        </p:txBody>
      </p:sp>
      <p:graphicFrame>
        <p:nvGraphicFramePr>
          <p:cNvPr id="2" name="表格 1"/>
          <p:cNvGraphicFramePr>
            <a:graphicFrameLocks noGrp="1"/>
          </p:cNvGraphicFramePr>
          <p:nvPr>
            <p:extLst>
              <p:ext uri="{D42A27DB-BD31-4B8C-83A1-F6EECF244321}">
                <p14:modId xmlns:p14="http://schemas.microsoft.com/office/powerpoint/2010/main" val="2271640718"/>
              </p:ext>
            </p:extLst>
          </p:nvPr>
        </p:nvGraphicFramePr>
        <p:xfrm>
          <a:off x="1043609" y="915567"/>
          <a:ext cx="8001714" cy="4176464"/>
        </p:xfrm>
        <a:graphic>
          <a:graphicData uri="http://schemas.openxmlformats.org/drawingml/2006/table">
            <a:tbl>
              <a:tblPr firstRow="1" firstCol="1" bandRow="1">
                <a:tableStyleId>{0505E3EF-67EA-436B-97B2-0124C06EBD24}</a:tableStyleId>
              </a:tblPr>
              <a:tblGrid>
                <a:gridCol w="559051">
                  <a:extLst>
                    <a:ext uri="{9D8B030D-6E8A-4147-A177-3AD203B41FA5}">
                      <a16:colId xmlns:a16="http://schemas.microsoft.com/office/drawing/2014/main" xmlns="" val="20000"/>
                    </a:ext>
                  </a:extLst>
                </a:gridCol>
                <a:gridCol w="7442663">
                  <a:extLst>
                    <a:ext uri="{9D8B030D-6E8A-4147-A177-3AD203B41FA5}">
                      <a16:colId xmlns:a16="http://schemas.microsoft.com/office/drawing/2014/main" xmlns="" val="20001"/>
                    </a:ext>
                  </a:extLst>
                </a:gridCol>
              </a:tblGrid>
              <a:tr h="417647">
                <a:tc rowSpan="7">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砂浆的拌制及使用</a:t>
                      </a:r>
                    </a:p>
                  </a:txBody>
                  <a:tcPr marL="55129" marR="55129"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）搅拌时间——自投料完算起；</a:t>
                      </a:r>
                    </a:p>
                  </a:txBody>
                  <a:tcPr marL="55129" marR="55129" marT="0" marB="0" anchor="ctr"/>
                </a:tc>
                <a:extLst>
                  <a:ext uri="{0D108BD9-81ED-4DB2-BD59-A6C34878D82A}">
                    <a16:rowId xmlns:a16="http://schemas.microsoft.com/office/drawing/2014/main" xmlns="" val="10000"/>
                  </a:ext>
                </a:extLst>
              </a:tr>
              <a:tr h="417647">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）水泥砂浆、水泥 混合砂浆，不得少于</a:t>
                      </a:r>
                      <a:r>
                        <a:rPr lang="en-US" sz="1600" b="1" kern="100">
                          <a:effectLst/>
                          <a:latin typeface="Times New Roman" pitchFamily="18" charset="0"/>
                          <a:ea typeface="宋体" pitchFamily="2" charset="-122"/>
                          <a:cs typeface="Times New Roman" pitchFamily="18" charset="0"/>
                        </a:rPr>
                        <a:t>2min</a:t>
                      </a:r>
                      <a:r>
                        <a:rPr lang="zh-CN" sz="1600" b="1" kern="100">
                          <a:effectLst/>
                          <a:latin typeface="Times New Roman" pitchFamily="18" charset="0"/>
                          <a:ea typeface="宋体" pitchFamily="2" charset="-122"/>
                          <a:cs typeface="Times New Roman" pitchFamily="18" charset="0"/>
                        </a:rPr>
                        <a:t>；</a:t>
                      </a:r>
                    </a:p>
                  </a:txBody>
                  <a:tcPr marL="55129" marR="55129" marT="0" marB="0" anchor="ctr"/>
                </a:tc>
                <a:extLst>
                  <a:ext uri="{0D108BD9-81ED-4DB2-BD59-A6C34878D82A}">
                    <a16:rowId xmlns:a16="http://schemas.microsoft.com/office/drawing/2014/main" xmlns="" val="10001"/>
                  </a:ext>
                </a:extLst>
              </a:tr>
              <a:tr h="417647">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）水泥粉煤灰砂浆、掺用外加剂的砂浆，不得少于</a:t>
                      </a:r>
                      <a:r>
                        <a:rPr lang="en-US" sz="1600" b="1" kern="100">
                          <a:effectLst/>
                          <a:latin typeface="Times New Roman" pitchFamily="18" charset="0"/>
                          <a:ea typeface="宋体" pitchFamily="2" charset="-122"/>
                          <a:cs typeface="Times New Roman" pitchFamily="18" charset="0"/>
                        </a:rPr>
                        <a:t>3min</a:t>
                      </a:r>
                      <a:r>
                        <a:rPr lang="zh-CN" sz="1600" b="1" kern="100">
                          <a:effectLst/>
                          <a:latin typeface="Times New Roman" pitchFamily="18" charset="0"/>
                          <a:ea typeface="宋体" pitchFamily="2" charset="-122"/>
                          <a:cs typeface="Times New Roman" pitchFamily="18" charset="0"/>
                        </a:rPr>
                        <a:t>；</a:t>
                      </a:r>
                    </a:p>
                  </a:txBody>
                  <a:tcPr marL="55129" marR="55129" marT="0" marB="0" anchor="ctr"/>
                </a:tc>
                <a:extLst>
                  <a:ext uri="{0D108BD9-81ED-4DB2-BD59-A6C34878D82A}">
                    <a16:rowId xmlns:a16="http://schemas.microsoft.com/office/drawing/2014/main" xmlns="" val="10002"/>
                  </a:ext>
                </a:extLst>
              </a:tr>
              <a:tr h="835292">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）预拌砂浆、加气混凝土砌块专用砂浆的搅拌时间应符合相关技术标准或按产品说明书釆用。</a:t>
                      </a:r>
                    </a:p>
                  </a:txBody>
                  <a:tcPr marL="55129" marR="55129" marT="0" marB="0" anchor="ctr"/>
                </a:tc>
                <a:extLst>
                  <a:ext uri="{0D108BD9-81ED-4DB2-BD59-A6C34878D82A}">
                    <a16:rowId xmlns:a16="http://schemas.microsoft.com/office/drawing/2014/main" xmlns="" val="10003"/>
                  </a:ext>
                </a:extLst>
              </a:tr>
              <a:tr h="417647">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）使用时间：</a:t>
                      </a:r>
                    </a:p>
                  </a:txBody>
                  <a:tcPr marL="55129" marR="55129" marT="0" marB="0" anchor="ctr"/>
                </a:tc>
                <a:extLst>
                  <a:ext uri="{0D108BD9-81ED-4DB2-BD59-A6C34878D82A}">
                    <a16:rowId xmlns:a16="http://schemas.microsoft.com/office/drawing/2014/main" xmlns="" val="10004"/>
                  </a:ext>
                </a:extLst>
              </a:tr>
              <a:tr h="835292">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）现场拌制的砂浆——随拌随用，</a:t>
                      </a:r>
                      <a:r>
                        <a:rPr lang="en-US" sz="1600" b="1" kern="100">
                          <a:effectLst/>
                          <a:latin typeface="Times New Roman" pitchFamily="18" charset="0"/>
                          <a:ea typeface="宋体" pitchFamily="2" charset="-122"/>
                          <a:cs typeface="Times New Roman" pitchFamily="18" charset="0"/>
                        </a:rPr>
                        <a:t>3h</a:t>
                      </a:r>
                      <a:r>
                        <a:rPr lang="zh-CN" sz="1600" b="1" kern="100">
                          <a:effectLst/>
                          <a:latin typeface="Times New Roman" pitchFamily="18" charset="0"/>
                          <a:ea typeface="宋体" pitchFamily="2" charset="-122"/>
                          <a:cs typeface="Times New Roman" pitchFamily="18" charset="0"/>
                        </a:rPr>
                        <a:t>内使用完毕；最高气温超过</a:t>
                      </a:r>
                      <a:r>
                        <a:rPr lang="en-US" sz="1600" b="1" kern="100">
                          <a:effectLst/>
                          <a:latin typeface="Times New Roman" pitchFamily="18" charset="0"/>
                          <a:ea typeface="宋体" pitchFamily="2" charset="-122"/>
                          <a:cs typeface="Times New Roman" pitchFamily="18" charset="0"/>
                        </a:rPr>
                        <a:t>30</a:t>
                      </a:r>
                      <a:r>
                        <a:rPr lang="zh-CN" sz="1600" b="1" kern="100">
                          <a:effectLst/>
                          <a:latin typeface="Times New Roman" pitchFamily="18" charset="0"/>
                          <a:ea typeface="宋体" pitchFamily="2" charset="-122"/>
                          <a:cs typeface="Times New Roman" pitchFamily="18" charset="0"/>
                        </a:rPr>
                        <a:t>℃时，应在</a:t>
                      </a:r>
                      <a:r>
                        <a:rPr lang="en-US" sz="1600" b="1" kern="100">
                          <a:effectLst/>
                          <a:latin typeface="Times New Roman" pitchFamily="18" charset="0"/>
                          <a:ea typeface="宋体" pitchFamily="2" charset="-122"/>
                          <a:cs typeface="Times New Roman" pitchFamily="18" charset="0"/>
                        </a:rPr>
                        <a:t>2h</a:t>
                      </a:r>
                      <a:r>
                        <a:rPr lang="zh-CN" sz="1600" b="1" kern="100">
                          <a:effectLst/>
                          <a:latin typeface="Times New Roman" pitchFamily="18" charset="0"/>
                          <a:ea typeface="宋体" pitchFamily="2" charset="-122"/>
                          <a:cs typeface="Times New Roman" pitchFamily="18" charset="0"/>
                        </a:rPr>
                        <a:t>内使用完毕。</a:t>
                      </a:r>
                    </a:p>
                  </a:txBody>
                  <a:tcPr marL="55129" marR="55129" marT="0" marB="0" anchor="ctr"/>
                </a:tc>
                <a:extLst>
                  <a:ext uri="{0D108BD9-81ED-4DB2-BD59-A6C34878D82A}">
                    <a16:rowId xmlns:a16="http://schemas.microsoft.com/office/drawing/2014/main" xmlns="" val="10005"/>
                  </a:ext>
                </a:extLst>
              </a:tr>
              <a:tr h="835292">
                <a:tc vMerge="1">
                  <a:txBody>
                    <a:bodyPr/>
                    <a:lstStyle/>
                    <a:p>
                      <a:endParaRPr lang="zh-CN" altLang="en-US"/>
                    </a:p>
                  </a:txBody>
                  <a:tcPr/>
                </a:tc>
                <a:tc>
                  <a:txBody>
                    <a:bodyPr/>
                    <a:lstStyle/>
                    <a:p>
                      <a:pPr algn="just">
                        <a:lnSpc>
                          <a:spcPct val="150000"/>
                        </a:lnSpc>
                        <a:spcAft>
                          <a:spcPts val="0"/>
                        </a:spcAft>
                      </a:pP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）预拌砂浆、蒸压加气混凝土砌块专用砂浆的使用时间应按照厂家提供的说明书确定。</a:t>
                      </a:r>
                    </a:p>
                  </a:txBody>
                  <a:tcPr marL="55129" marR="55129" marT="0" marB="0" anchor="ct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59319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6331"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（四）砂浆强度</a:t>
            </a:r>
          </a:p>
        </p:txBody>
      </p:sp>
      <p:graphicFrame>
        <p:nvGraphicFramePr>
          <p:cNvPr id="5" name="表格 4"/>
          <p:cNvGraphicFramePr>
            <a:graphicFrameLocks noGrp="1"/>
          </p:cNvGraphicFramePr>
          <p:nvPr>
            <p:extLst>
              <p:ext uri="{D42A27DB-BD31-4B8C-83A1-F6EECF244321}">
                <p14:modId xmlns:p14="http://schemas.microsoft.com/office/powerpoint/2010/main" val="3319176937"/>
              </p:ext>
            </p:extLst>
          </p:nvPr>
        </p:nvGraphicFramePr>
        <p:xfrm>
          <a:off x="1043607" y="830628"/>
          <a:ext cx="8064896" cy="4261402"/>
        </p:xfrm>
        <a:graphic>
          <a:graphicData uri="http://schemas.openxmlformats.org/drawingml/2006/table">
            <a:tbl>
              <a:tblPr firstRow="1" firstCol="1" bandRow="1">
                <a:tableStyleId>{C4B1156A-380E-4F78-BDF5-A606A8083BF9}</a:tableStyleId>
              </a:tblPr>
              <a:tblGrid>
                <a:gridCol w="1008113">
                  <a:extLst>
                    <a:ext uri="{9D8B030D-6E8A-4147-A177-3AD203B41FA5}">
                      <a16:colId xmlns:a16="http://schemas.microsoft.com/office/drawing/2014/main" xmlns="" val="20000"/>
                    </a:ext>
                  </a:extLst>
                </a:gridCol>
                <a:gridCol w="7056783">
                  <a:extLst>
                    <a:ext uri="{9D8B030D-6E8A-4147-A177-3AD203B41FA5}">
                      <a16:colId xmlns:a16="http://schemas.microsoft.com/office/drawing/2014/main" xmlns="" val="20001"/>
                    </a:ext>
                  </a:extLst>
                </a:gridCol>
              </a:tblGrid>
              <a:tr h="394946">
                <a:tc>
                  <a:txBody>
                    <a:bodyPr/>
                    <a:lstStyle/>
                    <a:p>
                      <a:pPr algn="ctr">
                        <a:spcAft>
                          <a:spcPts val="0"/>
                        </a:spcAft>
                      </a:pPr>
                      <a:r>
                        <a:rPr lang="zh-CN" sz="1600" b="1" kern="100">
                          <a:effectLst/>
                          <a:latin typeface="Times New Roman" pitchFamily="18" charset="0"/>
                          <a:ea typeface="宋体" pitchFamily="2" charset="-122"/>
                          <a:cs typeface="Times New Roman" pitchFamily="18" charset="0"/>
                        </a:rPr>
                        <a:t>试块尺寸</a:t>
                      </a:r>
                    </a:p>
                  </a:txBody>
                  <a:tcPr marL="57239" marR="57239" marT="0" marB="0" anchor="ct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70.7mm</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70.7mm</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70.7mm </a:t>
                      </a:r>
                      <a:r>
                        <a:rPr lang="zh-CN" sz="1600" b="1" kern="100">
                          <a:effectLst/>
                          <a:latin typeface="Times New Roman" pitchFamily="18" charset="0"/>
                          <a:ea typeface="宋体" pitchFamily="2" charset="-122"/>
                          <a:cs typeface="Times New Roman" pitchFamily="18" charset="0"/>
                        </a:rPr>
                        <a:t>的立方体试块，每组三块；</a:t>
                      </a:r>
                    </a:p>
                  </a:txBody>
                  <a:tcPr marL="57239" marR="57239" marT="0" marB="0" anchor="ctr"/>
                </a:tc>
                <a:extLst>
                  <a:ext uri="{0D108BD9-81ED-4DB2-BD59-A6C34878D82A}">
                    <a16:rowId xmlns:a16="http://schemas.microsoft.com/office/drawing/2014/main" xmlns="" val="10000"/>
                  </a:ext>
                </a:extLst>
              </a:tr>
              <a:tr h="394946">
                <a:tc>
                  <a:txBody>
                    <a:bodyPr/>
                    <a:lstStyle/>
                    <a:p>
                      <a:pPr algn="ctr">
                        <a:spcAft>
                          <a:spcPts val="0"/>
                        </a:spcAft>
                      </a:pPr>
                      <a:r>
                        <a:rPr lang="zh-CN" sz="1600" b="1" kern="100">
                          <a:effectLst/>
                          <a:latin typeface="Times New Roman" pitchFamily="18" charset="0"/>
                          <a:ea typeface="宋体" pitchFamily="2" charset="-122"/>
                          <a:cs typeface="Times New Roman" pitchFamily="18" charset="0"/>
                        </a:rPr>
                        <a:t>标养条件</a:t>
                      </a:r>
                    </a:p>
                  </a:txBody>
                  <a:tcPr marL="57239" marR="57239"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标准养护</a:t>
                      </a:r>
                      <a:r>
                        <a:rPr lang="en-US" sz="1600" b="1" kern="100">
                          <a:effectLst/>
                          <a:latin typeface="Times New Roman" pitchFamily="18" charset="0"/>
                          <a:ea typeface="宋体" pitchFamily="2" charset="-122"/>
                          <a:cs typeface="Times New Roman" pitchFamily="18" charset="0"/>
                        </a:rPr>
                        <a:t>28</a:t>
                      </a:r>
                      <a:r>
                        <a:rPr lang="zh-CN" sz="1600" b="1" kern="100">
                          <a:effectLst/>
                          <a:latin typeface="Times New Roman" pitchFamily="18" charset="0"/>
                          <a:ea typeface="宋体" pitchFamily="2" charset="-122"/>
                          <a:cs typeface="Times New Roman" pitchFamily="18" charset="0"/>
                        </a:rPr>
                        <a:t>天（温度</a:t>
                      </a:r>
                      <a:r>
                        <a:rPr lang="en-US" sz="1600" b="1" kern="100">
                          <a:effectLst/>
                          <a:latin typeface="Times New Roman" pitchFamily="18" charset="0"/>
                          <a:ea typeface="宋体" pitchFamily="2" charset="-122"/>
                          <a:cs typeface="Times New Roman" pitchFamily="18" charset="0"/>
                        </a:rPr>
                        <a:t>20</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℃，相对湿度</a:t>
                      </a:r>
                      <a:r>
                        <a:rPr lang="en-US" sz="1600" b="1" kern="100">
                          <a:effectLst/>
                          <a:latin typeface="Times New Roman" pitchFamily="18" charset="0"/>
                          <a:ea typeface="宋体" pitchFamily="2" charset="-122"/>
                          <a:cs typeface="Times New Roman" pitchFamily="18" charset="0"/>
                        </a:rPr>
                        <a:t>90%</a:t>
                      </a:r>
                      <a:r>
                        <a:rPr lang="zh-CN" sz="1600" b="1" kern="100">
                          <a:effectLst/>
                          <a:latin typeface="Times New Roman" pitchFamily="18" charset="0"/>
                          <a:ea typeface="宋体" pitchFamily="2" charset="-122"/>
                          <a:cs typeface="Times New Roman" pitchFamily="18" charset="0"/>
                        </a:rPr>
                        <a:t>以上）；</a:t>
                      </a:r>
                    </a:p>
                  </a:txBody>
                  <a:tcPr marL="57239" marR="57239" marT="0" marB="0" anchor="ctr"/>
                </a:tc>
                <a:extLst>
                  <a:ext uri="{0D108BD9-81ED-4DB2-BD59-A6C34878D82A}">
                    <a16:rowId xmlns:a16="http://schemas.microsoft.com/office/drawing/2014/main" xmlns="" val="10001"/>
                  </a:ext>
                </a:extLst>
              </a:tr>
              <a:tr h="394946">
                <a:tc rowSpan="3">
                  <a:txBody>
                    <a:bodyPr/>
                    <a:lstStyle/>
                    <a:p>
                      <a:pPr algn="ctr">
                        <a:spcAft>
                          <a:spcPts val="0"/>
                        </a:spcAft>
                      </a:pPr>
                      <a:r>
                        <a:rPr lang="zh-CN" sz="1600" b="1" kern="100">
                          <a:effectLst/>
                          <a:latin typeface="Times New Roman" pitchFamily="18" charset="0"/>
                          <a:ea typeface="宋体" pitchFamily="2" charset="-122"/>
                          <a:cs typeface="Times New Roman" pitchFamily="18" charset="0"/>
                        </a:rPr>
                        <a:t>强度评定</a:t>
                      </a:r>
                    </a:p>
                  </a:txBody>
                  <a:tcPr marL="57239" marR="57239"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）立方体试件以</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个为一组取算术平均值（精确至</a:t>
                      </a:r>
                      <a:r>
                        <a:rPr lang="en-US" sz="1600" b="1" kern="100">
                          <a:effectLst/>
                          <a:latin typeface="Times New Roman" pitchFamily="18" charset="0"/>
                          <a:ea typeface="宋体" pitchFamily="2" charset="-122"/>
                          <a:cs typeface="Times New Roman" pitchFamily="18" charset="0"/>
                        </a:rPr>
                        <a:t>0.1MPa</a:t>
                      </a:r>
                      <a:r>
                        <a:rPr lang="zh-CN" sz="1600" b="1" kern="100">
                          <a:effectLst/>
                          <a:latin typeface="Times New Roman" pitchFamily="18" charset="0"/>
                          <a:ea typeface="宋体" pitchFamily="2" charset="-122"/>
                          <a:cs typeface="Times New Roman" pitchFamily="18" charset="0"/>
                        </a:rPr>
                        <a:t>）。</a:t>
                      </a:r>
                    </a:p>
                  </a:txBody>
                  <a:tcPr marL="57239" marR="57239" marT="0" marB="0" anchor="ctr"/>
                </a:tc>
                <a:extLst>
                  <a:ext uri="{0D108BD9-81ED-4DB2-BD59-A6C34878D82A}">
                    <a16:rowId xmlns:a16="http://schemas.microsoft.com/office/drawing/2014/main" xmlns="" val="10002"/>
                  </a:ext>
                </a:extLst>
              </a:tr>
              <a:tr h="769141">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）当其中最大值或最小值超过中间值的</a:t>
                      </a:r>
                      <a:r>
                        <a:rPr lang="en-US" sz="1600" b="1" kern="100">
                          <a:effectLst/>
                          <a:latin typeface="Times New Roman" pitchFamily="18" charset="0"/>
                          <a:ea typeface="宋体" pitchFamily="2" charset="-122"/>
                          <a:cs typeface="Times New Roman" pitchFamily="18" charset="0"/>
                        </a:rPr>
                        <a:t>15</a:t>
                      </a:r>
                      <a:r>
                        <a:rPr lang="zh-CN" sz="1600" b="1" kern="100">
                          <a:effectLst/>
                          <a:latin typeface="Times New Roman" pitchFamily="18" charset="0"/>
                          <a:ea typeface="宋体" pitchFamily="2" charset="-122"/>
                          <a:cs typeface="Times New Roman" pitchFamily="18" charset="0"/>
                        </a:rPr>
                        <a:t>％时，取中间值作为该组试件的抗压强度值；</a:t>
                      </a:r>
                    </a:p>
                  </a:txBody>
                  <a:tcPr marL="57239" marR="57239" marT="0" marB="0" anchor="ctr"/>
                </a:tc>
                <a:extLst>
                  <a:ext uri="{0D108BD9-81ED-4DB2-BD59-A6C34878D82A}">
                    <a16:rowId xmlns:a16="http://schemas.microsoft.com/office/drawing/2014/main" xmlns="" val="10003"/>
                  </a:ext>
                </a:extLst>
              </a:tr>
              <a:tr h="769141">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）如有两个测值与中间值的差值均超过中间值的</a:t>
                      </a:r>
                      <a:r>
                        <a:rPr lang="en-US" sz="1600" b="1" kern="100">
                          <a:effectLst/>
                          <a:latin typeface="Times New Roman" pitchFamily="18" charset="0"/>
                          <a:ea typeface="宋体" pitchFamily="2" charset="-122"/>
                          <a:cs typeface="Times New Roman" pitchFamily="18" charset="0"/>
                        </a:rPr>
                        <a:t>15</a:t>
                      </a:r>
                      <a:r>
                        <a:rPr lang="zh-CN" sz="1600" b="1" kern="100">
                          <a:effectLst/>
                          <a:latin typeface="Times New Roman" pitchFamily="18" charset="0"/>
                          <a:ea typeface="宋体" pitchFamily="2" charset="-122"/>
                          <a:cs typeface="Times New Roman" pitchFamily="18" charset="0"/>
                        </a:rPr>
                        <a:t>％时，则该组试件的试验结果无效。</a:t>
                      </a:r>
                    </a:p>
                  </a:txBody>
                  <a:tcPr marL="57239" marR="57239" marT="0" marB="0" anchor="ctr"/>
                </a:tc>
                <a:extLst>
                  <a:ext uri="{0D108BD9-81ED-4DB2-BD59-A6C34878D82A}">
                    <a16:rowId xmlns:a16="http://schemas.microsoft.com/office/drawing/2014/main" xmlns="" val="10004"/>
                  </a:ext>
                </a:extLst>
              </a:tr>
              <a:tr h="769141">
                <a:tc rowSpan="2">
                  <a:txBody>
                    <a:bodyPr/>
                    <a:lstStyle/>
                    <a:p>
                      <a:pPr algn="ctr">
                        <a:spcAft>
                          <a:spcPts val="0"/>
                        </a:spcAft>
                      </a:pPr>
                      <a:r>
                        <a:rPr lang="zh-CN" sz="1600" b="1" kern="100">
                          <a:effectLst/>
                          <a:latin typeface="Times New Roman" pitchFamily="18" charset="0"/>
                          <a:ea typeface="宋体" pitchFamily="2" charset="-122"/>
                          <a:cs typeface="Times New Roman" pitchFamily="18" charset="0"/>
                        </a:rPr>
                        <a:t>见证取样要求</a:t>
                      </a:r>
                    </a:p>
                  </a:txBody>
                  <a:tcPr marL="57239" marR="57239"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）砂浆试块应在卸料过程中的中间部位随机取样、现场制作，同盘砂浆只应制作一组试块。</a:t>
                      </a:r>
                    </a:p>
                  </a:txBody>
                  <a:tcPr marL="57239" marR="57239" marT="0" marB="0" anchor="ctr"/>
                </a:tc>
                <a:extLst>
                  <a:ext uri="{0D108BD9-81ED-4DB2-BD59-A6C34878D82A}">
                    <a16:rowId xmlns:a16="http://schemas.microsoft.com/office/drawing/2014/main" xmlns="" val="10005"/>
                  </a:ext>
                </a:extLst>
              </a:tr>
              <a:tr h="769141">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）每一检验批且不超过</a:t>
                      </a:r>
                      <a:r>
                        <a:rPr lang="en-US" sz="1600" b="1" kern="100" dirty="0">
                          <a:effectLst/>
                          <a:latin typeface="Times New Roman" pitchFamily="18" charset="0"/>
                          <a:ea typeface="宋体" pitchFamily="2" charset="-122"/>
                          <a:cs typeface="Times New Roman" pitchFamily="18" charset="0"/>
                        </a:rPr>
                        <a:t>250m</a:t>
                      </a:r>
                      <a:r>
                        <a:rPr lang="en-US" sz="1600" b="1" kern="100" baseline="300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砌体的各种类型及强度等级的砌筑砂浆，每台搅拌机应至少抽验一次。</a:t>
                      </a:r>
                    </a:p>
                  </a:txBody>
                  <a:tcPr marL="57239" marR="57239" marT="0" marB="0" anchor="ct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59319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16331"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（五）砂浆的种类及强度等级</a:t>
            </a:r>
          </a:p>
        </p:txBody>
      </p:sp>
      <p:graphicFrame>
        <p:nvGraphicFramePr>
          <p:cNvPr id="2" name="表格 1"/>
          <p:cNvGraphicFramePr>
            <a:graphicFrameLocks noGrp="1"/>
          </p:cNvGraphicFramePr>
          <p:nvPr>
            <p:extLst>
              <p:ext uri="{D42A27DB-BD31-4B8C-83A1-F6EECF244321}">
                <p14:modId xmlns:p14="http://schemas.microsoft.com/office/powerpoint/2010/main" val="1265707756"/>
              </p:ext>
            </p:extLst>
          </p:nvPr>
        </p:nvGraphicFramePr>
        <p:xfrm>
          <a:off x="1043607" y="830629"/>
          <a:ext cx="8001715" cy="4261400"/>
        </p:xfrm>
        <a:graphic>
          <a:graphicData uri="http://schemas.openxmlformats.org/drawingml/2006/table">
            <a:tbl>
              <a:tblPr firstRow="1" firstCol="1" bandRow="1">
                <a:tableStyleId>{22838BEF-8BB2-4498-84A7-C5851F593DF1}</a:tableStyleId>
              </a:tblPr>
              <a:tblGrid>
                <a:gridCol w="535672">
                  <a:extLst>
                    <a:ext uri="{9D8B030D-6E8A-4147-A177-3AD203B41FA5}">
                      <a16:colId xmlns:a16="http://schemas.microsoft.com/office/drawing/2014/main" xmlns="" val="20000"/>
                    </a:ext>
                  </a:extLst>
                </a:gridCol>
                <a:gridCol w="616457">
                  <a:extLst>
                    <a:ext uri="{9D8B030D-6E8A-4147-A177-3AD203B41FA5}">
                      <a16:colId xmlns:a16="http://schemas.microsoft.com/office/drawing/2014/main" xmlns="" val="20001"/>
                    </a:ext>
                  </a:extLst>
                </a:gridCol>
                <a:gridCol w="4248472">
                  <a:extLst>
                    <a:ext uri="{9D8B030D-6E8A-4147-A177-3AD203B41FA5}">
                      <a16:colId xmlns:a16="http://schemas.microsoft.com/office/drawing/2014/main" xmlns="" val="20002"/>
                    </a:ext>
                  </a:extLst>
                </a:gridCol>
                <a:gridCol w="2601114">
                  <a:extLst>
                    <a:ext uri="{9D8B030D-6E8A-4147-A177-3AD203B41FA5}">
                      <a16:colId xmlns:a16="http://schemas.microsoft.com/office/drawing/2014/main" xmlns="" val="20003"/>
                    </a:ext>
                  </a:extLst>
                </a:gridCol>
              </a:tblGrid>
              <a:tr h="327799">
                <a:tc gridSpan="4">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强度、流动性和保水性是衡量砂浆质量的三大指标；</a:t>
                      </a:r>
                    </a:p>
                  </a:txBody>
                  <a:tcPr marL="66829" marR="66829"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0"/>
                  </a:ext>
                </a:extLst>
              </a:tr>
              <a:tr h="327799">
                <a:tc gridSpan="2">
                  <a:txBody>
                    <a:bodyPr/>
                    <a:lstStyle/>
                    <a:p>
                      <a:pPr algn="ctr">
                        <a:spcAft>
                          <a:spcPts val="0"/>
                        </a:spcAft>
                      </a:pPr>
                      <a:r>
                        <a:rPr lang="zh-CN" sz="1600" b="1" kern="100">
                          <a:effectLst/>
                          <a:latin typeface="Times New Roman" pitchFamily="18" charset="0"/>
                          <a:ea typeface="宋体" pitchFamily="2" charset="-122"/>
                          <a:cs typeface="Times New Roman" pitchFamily="18" charset="0"/>
                        </a:rPr>
                        <a:t>砂浆种类</a:t>
                      </a:r>
                    </a:p>
                  </a:txBody>
                  <a:tcPr marL="66829" marR="66829" marT="0" marB="0" anchor="ctr"/>
                </a:tc>
                <a:tc hMerge="1">
                  <a:txBody>
                    <a:bodyPr/>
                    <a:lstStyle/>
                    <a:p>
                      <a:endParaRPr lang="zh-CN" altLang="en-US"/>
                    </a:p>
                  </a:txBody>
                  <a:tcPr/>
                </a:tc>
                <a:tc>
                  <a:txBody>
                    <a:bodyPr/>
                    <a:lstStyle/>
                    <a:p>
                      <a:pPr algn="ctr">
                        <a:spcAft>
                          <a:spcPts val="0"/>
                        </a:spcAft>
                      </a:pPr>
                      <a:r>
                        <a:rPr lang="zh-CN" sz="1600" b="1" kern="100">
                          <a:effectLst/>
                          <a:latin typeface="Times New Roman" pitchFamily="18" charset="0"/>
                          <a:ea typeface="宋体" pitchFamily="2" charset="-122"/>
                          <a:cs typeface="Times New Roman" pitchFamily="18" charset="0"/>
                        </a:rPr>
                        <a:t>特点与用途</a:t>
                      </a:r>
                    </a:p>
                  </a:txBody>
                  <a:tcPr marL="66829" marR="66829" marT="0" marB="0" anchor="ctr"/>
                </a:tc>
                <a:tc>
                  <a:txBody>
                    <a:bodyPr/>
                    <a:lstStyle/>
                    <a:p>
                      <a:pPr algn="ctr">
                        <a:spcAft>
                          <a:spcPts val="0"/>
                        </a:spcAft>
                      </a:pPr>
                      <a:r>
                        <a:rPr lang="zh-CN" sz="1600" b="1" kern="100">
                          <a:effectLst/>
                          <a:latin typeface="Times New Roman" pitchFamily="18" charset="0"/>
                          <a:ea typeface="宋体" pitchFamily="2" charset="-122"/>
                          <a:cs typeface="Times New Roman" pitchFamily="18" charset="0"/>
                        </a:rPr>
                        <a:t>强度等级</a:t>
                      </a:r>
                    </a:p>
                  </a:txBody>
                  <a:tcPr marL="66829" marR="66829" marT="0" marB="0" anchor="ctr"/>
                </a:tc>
                <a:extLst>
                  <a:ext uri="{0D108BD9-81ED-4DB2-BD59-A6C34878D82A}">
                    <a16:rowId xmlns:a16="http://schemas.microsoft.com/office/drawing/2014/main" xmlns="" val="10001"/>
                  </a:ext>
                </a:extLst>
              </a:tr>
              <a:tr h="983401">
                <a:tc rowSpan="2">
                  <a:txBody>
                    <a:bodyPr/>
                    <a:lstStyle/>
                    <a:p>
                      <a:pPr algn="ctr">
                        <a:spcAft>
                          <a:spcPts val="0"/>
                        </a:spcAft>
                      </a:pPr>
                      <a:r>
                        <a:rPr lang="zh-CN" sz="1600" b="1" kern="100">
                          <a:effectLst/>
                          <a:latin typeface="Times New Roman" pitchFamily="18" charset="0"/>
                          <a:ea typeface="宋体" pitchFamily="2" charset="-122"/>
                          <a:cs typeface="Times New Roman" pitchFamily="18" charset="0"/>
                        </a:rPr>
                        <a:t>普通砂浆</a:t>
                      </a:r>
                    </a:p>
                  </a:txBody>
                  <a:tcPr marL="66829" marR="66829" marT="0" marB="0" anchor="ctr"/>
                </a:tc>
                <a:tc>
                  <a:txBody>
                    <a:bodyPr/>
                    <a:lstStyle/>
                    <a:p>
                      <a:pPr algn="ctr">
                        <a:spcAft>
                          <a:spcPts val="0"/>
                        </a:spcAft>
                      </a:pPr>
                      <a:r>
                        <a:rPr lang="zh-CN" sz="1600" b="1" kern="100">
                          <a:effectLst/>
                          <a:latin typeface="Times New Roman" pitchFamily="18" charset="0"/>
                          <a:ea typeface="宋体" pitchFamily="2" charset="-122"/>
                          <a:cs typeface="Times New Roman" pitchFamily="18" charset="0"/>
                        </a:rPr>
                        <a:t>水泥砂浆</a:t>
                      </a:r>
                    </a:p>
                  </a:txBody>
                  <a:tcPr marL="66829" marR="66829" marT="0" marB="0" anchor="ct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强度高、耐久性好，但流动性、保水性均稍差，一般用于房屋防潮层以下的砌体或对强度有较高要求的砌体。</a:t>
                      </a:r>
                    </a:p>
                  </a:txBody>
                  <a:tcPr marL="66829" marR="66829" marT="0" marB="0" anchor="ctr"/>
                </a:tc>
                <a:tc rowSpan="2">
                  <a:txBody>
                    <a:bodyPr/>
                    <a:lstStyle/>
                    <a:p>
                      <a:pPr algn="ctr">
                        <a:spcAft>
                          <a:spcPts val="0"/>
                        </a:spcAft>
                      </a:pPr>
                      <a:r>
                        <a:rPr lang="en-US" sz="1600" b="1" kern="100" dirty="0">
                          <a:effectLst/>
                          <a:latin typeface="Times New Roman" pitchFamily="18" charset="0"/>
                          <a:ea typeface="宋体" pitchFamily="2" charset="-122"/>
                          <a:cs typeface="Times New Roman" pitchFamily="18" charset="0"/>
                        </a:rPr>
                        <a:t>M15</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M10</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M7.5</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M5</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M2.5</a:t>
                      </a:r>
                      <a:endParaRPr lang="zh-CN" sz="1600" b="1" kern="100" dirty="0">
                        <a:effectLst/>
                        <a:latin typeface="Times New Roman" pitchFamily="18" charset="0"/>
                        <a:ea typeface="宋体" pitchFamily="2" charset="-122"/>
                        <a:cs typeface="Times New Roman" pitchFamily="18" charset="0"/>
                      </a:endParaRPr>
                    </a:p>
                  </a:txBody>
                  <a:tcPr marL="66829" marR="66829" marT="0" marB="0" anchor="ctr"/>
                </a:tc>
                <a:extLst>
                  <a:ext uri="{0D108BD9-81ED-4DB2-BD59-A6C34878D82A}">
                    <a16:rowId xmlns:a16="http://schemas.microsoft.com/office/drawing/2014/main" xmlns="" val="10002"/>
                  </a:ext>
                </a:extLst>
              </a:tr>
              <a:tr h="983401">
                <a:tc vMerge="1">
                  <a:txBody>
                    <a:bodyPr/>
                    <a:lstStyle/>
                    <a:p>
                      <a:endParaRPr lang="zh-CN" altLang="en-US"/>
                    </a:p>
                  </a:txBody>
                  <a:tcPr/>
                </a:tc>
                <a:tc>
                  <a:txBody>
                    <a:bodyPr/>
                    <a:lstStyle/>
                    <a:p>
                      <a:pPr algn="ctr">
                        <a:spcAft>
                          <a:spcPts val="0"/>
                        </a:spcAft>
                      </a:pPr>
                      <a:r>
                        <a:rPr lang="zh-CN" sz="1600" b="1" kern="100">
                          <a:effectLst/>
                          <a:latin typeface="Times New Roman" pitchFamily="18" charset="0"/>
                          <a:ea typeface="宋体" pitchFamily="2" charset="-122"/>
                          <a:cs typeface="Times New Roman" pitchFamily="18" charset="0"/>
                        </a:rPr>
                        <a:t>混合砂浆</a:t>
                      </a:r>
                    </a:p>
                  </a:txBody>
                  <a:tcPr marL="66829" marR="66829" marT="0" marB="0" anchor="ct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以水泥、砂和水为主材，并加入石灰膏、电石膏、黏土膏；具有一定的强度和耐久性，且流动性、保水性均较好，易于砌筑，是一般墙体中常用的砂浆。</a:t>
                      </a:r>
                    </a:p>
                  </a:txBody>
                  <a:tcPr marL="66829" marR="66829" marT="0" marB="0" anchor="ctr"/>
                </a:tc>
                <a:tc vMerge="1">
                  <a:txBody>
                    <a:bodyPr/>
                    <a:lstStyle/>
                    <a:p>
                      <a:endParaRPr lang="zh-CN" altLang="en-US"/>
                    </a:p>
                  </a:txBody>
                  <a:tcPr/>
                </a:tc>
                <a:extLst>
                  <a:ext uri="{0D108BD9-81ED-4DB2-BD59-A6C34878D82A}">
                    <a16:rowId xmlns:a16="http://schemas.microsoft.com/office/drawing/2014/main" xmlns="" val="10003"/>
                  </a:ext>
                </a:extLst>
              </a:tr>
              <a:tr h="655599">
                <a:tc gridSpan="2">
                  <a:txBody>
                    <a:bodyPr/>
                    <a:lstStyle/>
                    <a:p>
                      <a:pPr algn="ctr">
                        <a:spcAft>
                          <a:spcPts val="0"/>
                        </a:spcAft>
                      </a:pPr>
                      <a:r>
                        <a:rPr lang="zh-CN" sz="1600" b="1" kern="100">
                          <a:effectLst/>
                          <a:latin typeface="Times New Roman" pitchFamily="18" charset="0"/>
                          <a:ea typeface="宋体" pitchFamily="2" charset="-122"/>
                          <a:cs typeface="Times New Roman" pitchFamily="18" charset="0"/>
                        </a:rPr>
                        <a:t>砌块专用砂浆</a:t>
                      </a:r>
                    </a:p>
                  </a:txBody>
                  <a:tcPr marL="66829" marR="66829" marT="0" marB="0" anchor="ctr"/>
                </a:tc>
                <a:tc h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由水泥、砂、水以及掺合料和外加剂等组分；专门用于砌筑混凝土砌块的砌筑砂浆。</a:t>
                      </a:r>
                    </a:p>
                  </a:txBody>
                  <a:tcPr marL="66829" marR="66829" marT="0" marB="0" anchor="ctr"/>
                </a:tc>
                <a:tc>
                  <a:txBody>
                    <a:bodyPr/>
                    <a:lstStyle/>
                    <a:p>
                      <a:pPr algn="ctr">
                        <a:spcAft>
                          <a:spcPts val="0"/>
                        </a:spcAft>
                      </a:pPr>
                      <a:r>
                        <a:rPr lang="en-US" sz="1600" b="1" kern="100" dirty="0">
                          <a:effectLst/>
                          <a:latin typeface="Times New Roman" pitchFamily="18" charset="0"/>
                          <a:ea typeface="宋体" pitchFamily="2" charset="-122"/>
                          <a:cs typeface="Times New Roman" pitchFamily="18" charset="0"/>
                        </a:rPr>
                        <a:t>Mb20</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Mb15</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Mb10</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Mb7.5</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Mb5</a:t>
                      </a:r>
                      <a:endParaRPr lang="zh-CN" sz="1600" b="1" kern="100" dirty="0">
                        <a:effectLst/>
                        <a:latin typeface="Times New Roman" pitchFamily="18" charset="0"/>
                        <a:ea typeface="宋体" pitchFamily="2" charset="-122"/>
                        <a:cs typeface="Times New Roman" pitchFamily="18" charset="0"/>
                      </a:endParaRPr>
                    </a:p>
                  </a:txBody>
                  <a:tcPr marL="66829" marR="66829" marT="0" marB="0" anchor="ctr"/>
                </a:tc>
                <a:extLst>
                  <a:ext uri="{0D108BD9-81ED-4DB2-BD59-A6C34878D82A}">
                    <a16:rowId xmlns:a16="http://schemas.microsoft.com/office/drawing/2014/main" xmlns="" val="10004"/>
                  </a:ext>
                </a:extLst>
              </a:tr>
              <a:tr h="983401">
                <a:tc gridSpan="2">
                  <a:txBody>
                    <a:bodyPr/>
                    <a:lstStyle/>
                    <a:p>
                      <a:pPr algn="ctr">
                        <a:spcAft>
                          <a:spcPts val="0"/>
                        </a:spcAft>
                      </a:pPr>
                      <a:r>
                        <a:rPr lang="zh-CN" sz="1600" b="1" kern="100">
                          <a:effectLst/>
                          <a:latin typeface="Times New Roman" pitchFamily="18" charset="0"/>
                          <a:ea typeface="宋体" pitchFamily="2" charset="-122"/>
                          <a:cs typeface="Times New Roman" pitchFamily="18" charset="0"/>
                        </a:rPr>
                        <a:t>蒸压砖专用砂浆</a:t>
                      </a:r>
                    </a:p>
                  </a:txBody>
                  <a:tcPr marL="66829" marR="66829" marT="0" marB="0" anchor="ctr"/>
                </a:tc>
                <a:tc h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由水泥、砂、水以及掺合料和外加剂等组分；专门用于砌筑蒸压灰砂砖砌体或蒸压粉煤灰砖砌体，且砌体抗剪强度不应低于烧结普通砖砌体取值的砂浆。</a:t>
                      </a:r>
                    </a:p>
                  </a:txBody>
                  <a:tcPr marL="66829" marR="66829" marT="0" marB="0" anchor="ctr"/>
                </a:tc>
                <a:tc>
                  <a:txBody>
                    <a:bodyPr/>
                    <a:lstStyle/>
                    <a:p>
                      <a:pPr algn="ctr">
                        <a:spcAft>
                          <a:spcPts val="0"/>
                        </a:spcAft>
                      </a:pPr>
                      <a:r>
                        <a:rPr lang="en-US" sz="1600" b="1" kern="100" dirty="0">
                          <a:effectLst/>
                          <a:latin typeface="Times New Roman" pitchFamily="18" charset="0"/>
                          <a:ea typeface="宋体" pitchFamily="2" charset="-122"/>
                          <a:cs typeface="Times New Roman" pitchFamily="18" charset="0"/>
                        </a:rPr>
                        <a:t>Ms15</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Ms10</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Ms7.5</a:t>
                      </a: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Ms5</a:t>
                      </a:r>
                      <a:endParaRPr lang="zh-CN" sz="1600" b="1" kern="100" dirty="0">
                        <a:effectLst/>
                        <a:latin typeface="Times New Roman" pitchFamily="18" charset="0"/>
                        <a:ea typeface="宋体" pitchFamily="2" charset="-122"/>
                        <a:cs typeface="Times New Roman" pitchFamily="18" charset="0"/>
                      </a:endParaRPr>
                    </a:p>
                  </a:txBody>
                  <a:tcPr marL="66829" marR="66829" marT="0" marB="0" anchor="ct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359319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
            <a:extLst>
              <a:ext uri="{FF2B5EF4-FFF2-40B4-BE49-F238E27FC236}">
                <a16:creationId xmlns:a16="http://schemas.microsoft.com/office/drawing/2014/main" xmlns=""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dirty="0">
                <a:latin typeface="华文行楷" panose="02010800040101010101" pitchFamily="2" charset="-122"/>
                <a:ea typeface="华文行楷" panose="02010800040101010101" pitchFamily="2" charset="-122"/>
              </a:rPr>
              <a:t>如切如磋  如琢如磨</a:t>
            </a:r>
          </a:p>
        </p:txBody>
      </p:sp>
      <p:graphicFrame>
        <p:nvGraphicFramePr>
          <p:cNvPr id="5" name="表格 4">
            <a:extLst>
              <a:ext uri="{FF2B5EF4-FFF2-40B4-BE49-F238E27FC236}">
                <a16:creationId xmlns:a16="http://schemas.microsoft.com/office/drawing/2014/main" xmlns="" id="{A18320B0-CC13-4D05-A7CF-0BF39595FEB7}"/>
              </a:ext>
            </a:extLst>
          </p:cNvPr>
          <p:cNvGraphicFramePr>
            <a:graphicFrameLocks noGrp="1"/>
          </p:cNvGraphicFramePr>
          <p:nvPr>
            <p:extLst>
              <p:ext uri="{D42A27DB-BD31-4B8C-83A1-F6EECF244321}">
                <p14:modId xmlns:p14="http://schemas.microsoft.com/office/powerpoint/2010/main" val="1901091113"/>
              </p:ext>
            </p:extLst>
          </p:nvPr>
        </p:nvGraphicFramePr>
        <p:xfrm>
          <a:off x="1043608" y="368964"/>
          <a:ext cx="7920879" cy="4579050"/>
        </p:xfrm>
        <a:graphic>
          <a:graphicData uri="http://schemas.openxmlformats.org/drawingml/2006/table">
            <a:tbl>
              <a:tblPr firstRow="1" firstCol="1" bandRow="1">
                <a:tableStyleId>{69CF1AB2-1976-4502-BF36-3FF5EA218861}</a:tableStyleId>
              </a:tblPr>
              <a:tblGrid>
                <a:gridCol w="2639975">
                  <a:extLst>
                    <a:ext uri="{9D8B030D-6E8A-4147-A177-3AD203B41FA5}">
                      <a16:colId xmlns:a16="http://schemas.microsoft.com/office/drawing/2014/main" xmlns="" val="1041557124"/>
                    </a:ext>
                  </a:extLst>
                </a:gridCol>
                <a:gridCol w="2639975">
                  <a:extLst>
                    <a:ext uri="{9D8B030D-6E8A-4147-A177-3AD203B41FA5}">
                      <a16:colId xmlns:a16="http://schemas.microsoft.com/office/drawing/2014/main" xmlns="" val="3768658030"/>
                    </a:ext>
                  </a:extLst>
                </a:gridCol>
                <a:gridCol w="2640929">
                  <a:extLst>
                    <a:ext uri="{9D8B030D-6E8A-4147-A177-3AD203B41FA5}">
                      <a16:colId xmlns:a16="http://schemas.microsoft.com/office/drawing/2014/main" xmlns="" val="1224192755"/>
                    </a:ext>
                  </a:extLst>
                </a:gridCol>
              </a:tblGrid>
              <a:tr h="915810">
                <a:tc>
                  <a:txBody>
                    <a:bodyPr/>
                    <a:lstStyle/>
                    <a:p>
                      <a:pPr algn="ctr">
                        <a:lnSpc>
                          <a:spcPct val="20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砂浆种类</a:t>
                      </a:r>
                    </a:p>
                  </a:txBody>
                  <a:tcPr marL="68580" marR="68580" marT="0" marB="0" anchor="ctr"/>
                </a:tc>
                <a:tc>
                  <a:txBody>
                    <a:bodyPr/>
                    <a:lstStyle/>
                    <a:p>
                      <a:pPr algn="ctr">
                        <a:lnSpc>
                          <a:spcPct val="20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强度等级</a:t>
                      </a:r>
                    </a:p>
                  </a:txBody>
                  <a:tcPr marL="68580" marR="68580" marT="0" marB="0" anchor="ctr"/>
                </a:tc>
                <a:tc>
                  <a:txBody>
                    <a:bodyPr/>
                    <a:lstStyle/>
                    <a:p>
                      <a:pPr algn="ctr">
                        <a:lnSpc>
                          <a:spcPct val="20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适用场景</a:t>
                      </a:r>
                    </a:p>
                  </a:txBody>
                  <a:tcPr marL="68580" marR="68580" marT="0" marB="0" anchor="ctr"/>
                </a:tc>
                <a:extLst>
                  <a:ext uri="{0D108BD9-81ED-4DB2-BD59-A6C34878D82A}">
                    <a16:rowId xmlns:a16="http://schemas.microsoft.com/office/drawing/2014/main" xmlns="" val="727004247"/>
                  </a:ext>
                </a:extLst>
              </a:tr>
              <a:tr h="1831620">
                <a:tc>
                  <a:txBody>
                    <a:bodyPr/>
                    <a:lstStyle/>
                    <a:p>
                      <a:pPr algn="ctr">
                        <a:lnSpc>
                          <a:spcPct val="20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轻骨料砌块专用砂浆</a:t>
                      </a:r>
                    </a:p>
                  </a:txBody>
                  <a:tcPr marL="68580" marR="68580" marT="0" marB="0" anchor="ctr"/>
                </a:tc>
                <a:tc>
                  <a:txBody>
                    <a:bodyPr/>
                    <a:lstStyle/>
                    <a:p>
                      <a:pPr algn="ctr">
                        <a:lnSpc>
                          <a:spcPct val="200000"/>
                        </a:lnSpc>
                        <a:spcAft>
                          <a:spcPts val="0"/>
                        </a:spcAft>
                      </a:pPr>
                      <a:r>
                        <a:rPr lang="en-US" sz="2000" b="1" kern="100">
                          <a:effectLst/>
                          <a:latin typeface="Times New Roman" panose="02020603050405020304" pitchFamily="18" charset="0"/>
                          <a:ea typeface="宋体" panose="02010600030101010101" pitchFamily="2" charset="-122"/>
                          <a:cs typeface="Times New Roman" panose="02020603050405020304" pitchFamily="18" charset="0"/>
                        </a:rPr>
                        <a:t>Mb10</a:t>
                      </a: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2000" b="1" kern="100">
                          <a:effectLst/>
                          <a:latin typeface="Times New Roman" panose="02020603050405020304" pitchFamily="18" charset="0"/>
                          <a:ea typeface="宋体" panose="02010600030101010101" pitchFamily="2" charset="-122"/>
                          <a:cs typeface="Times New Roman" panose="02020603050405020304" pitchFamily="18" charset="0"/>
                        </a:rPr>
                        <a:t>Mb7.5</a:t>
                      </a: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2000" b="1" kern="100">
                          <a:effectLst/>
                          <a:latin typeface="Times New Roman" panose="02020603050405020304" pitchFamily="18" charset="0"/>
                          <a:ea typeface="宋体" panose="02010600030101010101" pitchFamily="2" charset="-122"/>
                          <a:cs typeface="Times New Roman" panose="02020603050405020304" pitchFamily="18" charset="0"/>
                        </a:rPr>
                        <a:t>Mb5</a:t>
                      </a:r>
                      <a:endParaRPr lang="zh-CN" sz="20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20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双排孔或多排孔轻骨料混凝土砌块砌体</a:t>
                      </a:r>
                    </a:p>
                  </a:txBody>
                  <a:tcPr marL="68580" marR="68580" marT="0" marB="0" anchor="ctr"/>
                </a:tc>
                <a:extLst>
                  <a:ext uri="{0D108BD9-81ED-4DB2-BD59-A6C34878D82A}">
                    <a16:rowId xmlns:a16="http://schemas.microsoft.com/office/drawing/2014/main" xmlns="" val="88726302"/>
                  </a:ext>
                </a:extLst>
              </a:tr>
              <a:tr h="1831620">
                <a:tc>
                  <a:txBody>
                    <a:bodyPr/>
                    <a:lstStyle/>
                    <a:p>
                      <a:pPr algn="ctr">
                        <a:lnSpc>
                          <a:spcPct val="200000"/>
                        </a:lnSpc>
                        <a:spcAft>
                          <a:spcPts val="0"/>
                        </a:spcAft>
                      </a:pP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蒸压加气混凝土砌块专用砌筑砂浆</a:t>
                      </a:r>
                    </a:p>
                  </a:txBody>
                  <a:tcPr marL="68580" marR="68580" marT="0" marB="0" anchor="ctr"/>
                </a:tc>
                <a:tc>
                  <a:txBody>
                    <a:bodyPr/>
                    <a:lstStyle/>
                    <a:p>
                      <a:pPr algn="ctr">
                        <a:lnSpc>
                          <a:spcPct val="200000"/>
                        </a:lnSpc>
                        <a:spcAft>
                          <a:spcPts val="0"/>
                        </a:spcAft>
                      </a:pPr>
                      <a:r>
                        <a:rPr lang="en-US" sz="2000" b="1" kern="100">
                          <a:effectLst/>
                          <a:latin typeface="Times New Roman" panose="02020603050405020304" pitchFamily="18" charset="0"/>
                          <a:ea typeface="宋体" panose="02010600030101010101" pitchFamily="2" charset="-122"/>
                          <a:cs typeface="Times New Roman" panose="02020603050405020304" pitchFamily="18" charset="0"/>
                        </a:rPr>
                        <a:t>Ma7.5</a:t>
                      </a: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2000" b="1" kern="100">
                          <a:effectLst/>
                          <a:latin typeface="Times New Roman" panose="02020603050405020304" pitchFamily="18" charset="0"/>
                          <a:ea typeface="宋体" panose="02010600030101010101" pitchFamily="2" charset="-122"/>
                          <a:cs typeface="Times New Roman" panose="02020603050405020304" pitchFamily="18" charset="0"/>
                        </a:rPr>
                        <a:t>Ma5.0</a:t>
                      </a:r>
                      <a:r>
                        <a:rPr lang="zh-CN" sz="2000" b="1" kern="100">
                          <a:effectLst/>
                          <a:latin typeface="Times New Roman" panose="02020603050405020304" pitchFamily="18" charset="0"/>
                          <a:ea typeface="宋体" panose="02010600030101010101" pitchFamily="2" charset="-122"/>
                          <a:cs typeface="Times New Roman" panose="02020603050405020304" pitchFamily="18" charset="0"/>
                        </a:rPr>
                        <a:t>、</a:t>
                      </a:r>
                      <a:r>
                        <a:rPr lang="en-US" sz="2000" b="1" kern="100">
                          <a:effectLst/>
                          <a:latin typeface="Times New Roman" panose="02020603050405020304" pitchFamily="18" charset="0"/>
                          <a:ea typeface="宋体" panose="02010600030101010101" pitchFamily="2" charset="-122"/>
                          <a:cs typeface="Times New Roman" panose="02020603050405020304" pitchFamily="18" charset="0"/>
                        </a:rPr>
                        <a:t>Ma2.5</a:t>
                      </a:r>
                      <a:endParaRPr lang="zh-CN" sz="2000" b="1"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200000"/>
                        </a:lnSpc>
                        <a:spcAft>
                          <a:spcPts val="0"/>
                        </a:spcAft>
                      </a:pPr>
                      <a:r>
                        <a:rPr 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蒸压加气混凝土砌块砌体</a:t>
                      </a:r>
                    </a:p>
                  </a:txBody>
                  <a:tcPr marL="68580" marR="68580" marT="0" marB="0" anchor="ctr"/>
                </a:tc>
                <a:extLst>
                  <a:ext uri="{0D108BD9-81ED-4DB2-BD59-A6C34878D82A}">
                    <a16:rowId xmlns:a16="http://schemas.microsoft.com/office/drawing/2014/main" xmlns="" val="3066060401"/>
                  </a:ext>
                </a:extLst>
              </a:tr>
            </a:tbl>
          </a:graphicData>
        </a:graphic>
      </p:graphicFrame>
    </p:spTree>
    <p:extLst>
      <p:ext uri="{BB962C8B-B14F-4D97-AF65-F5344CB8AC3E}">
        <p14:creationId xmlns:p14="http://schemas.microsoft.com/office/powerpoint/2010/main" val="371873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ESOURCELIBID_PRE" val="13076"/>
  <p:tag name="MH_CONTENTSID" val="264"/>
  <p:tag name="MH_SECTIONID" val="265,"/>
</p:tagLst>
</file>

<file path=ppt/theme/theme1.xml><?xml version="1.0" encoding="utf-8"?>
<a:theme xmlns:a="http://schemas.openxmlformats.org/drawingml/2006/main" name="A000120140530A99PPBG">
  <a:themeElements>
    <a:clrScheme name="KSO_BLUE9">
      <a:dk1>
        <a:srgbClr val="47494B"/>
      </a:dk1>
      <a:lt1>
        <a:srgbClr val="FFFFFF"/>
      </a:lt1>
      <a:dk2>
        <a:srgbClr val="454749"/>
      </a:dk2>
      <a:lt2>
        <a:srgbClr val="EAF5FC"/>
      </a:lt2>
      <a:accent1>
        <a:srgbClr val="046FB6"/>
      </a:accent1>
      <a:accent2>
        <a:srgbClr val="22B1DE"/>
      </a:accent2>
      <a:accent3>
        <a:srgbClr val="7B93D7"/>
      </a:accent3>
      <a:accent4>
        <a:srgbClr val="5D76BA"/>
      </a:accent4>
      <a:accent5>
        <a:srgbClr val="3DBFD1"/>
      </a:accent5>
      <a:accent6>
        <a:srgbClr val="FFC000"/>
      </a:accent6>
      <a:hlink>
        <a:srgbClr val="00B0F0"/>
      </a:hlink>
      <a:folHlink>
        <a:srgbClr val="AFB2B4"/>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636869495982041620</Template>
  <TotalTime>7752</TotalTime>
  <Words>909</Words>
  <Application>Microsoft Office PowerPoint</Application>
  <PresentationFormat>全屏显示(16:9)</PresentationFormat>
  <Paragraphs>73</Paragraphs>
  <Slides>6</Slides>
  <Notes>0</Notes>
  <HiddenSlides>0</HiddenSlides>
  <MMClips>0</MMClips>
  <ScaleCrop>false</ScaleCrop>
  <HeadingPairs>
    <vt:vector size="4" baseType="variant">
      <vt:variant>
        <vt:lpstr>主题</vt:lpstr>
      </vt:variant>
      <vt:variant>
        <vt:i4>1</vt:i4>
      </vt:variant>
      <vt:variant>
        <vt:lpstr>幻灯片标题</vt:lpstr>
      </vt:variant>
      <vt:variant>
        <vt:i4>6</vt:i4>
      </vt:variant>
    </vt:vector>
  </HeadingPairs>
  <TitlesOfParts>
    <vt:vector size="7" baseType="lpstr">
      <vt:lpstr>A000120140530A99PPBG</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Lenovo</cp:lastModifiedBy>
  <cp:revision>882</cp:revision>
  <dcterms:created xsi:type="dcterms:W3CDTF">2019-02-28T02:56:41Z</dcterms:created>
  <dcterms:modified xsi:type="dcterms:W3CDTF">2024-11-30T08:19:16Z</dcterms:modified>
</cp:coreProperties>
</file>