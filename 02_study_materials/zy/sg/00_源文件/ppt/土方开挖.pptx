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93" r:id="rId1"/>
  </p:sldMasterIdLst>
  <p:notesMasterIdLst>
    <p:notesMasterId r:id="rId10"/>
  </p:notesMasterIdLst>
  <p:sldIdLst>
    <p:sldId id="381" r:id="rId2"/>
    <p:sldId id="382" r:id="rId3"/>
    <p:sldId id="383" r:id="rId4"/>
    <p:sldId id="394" r:id="rId5"/>
    <p:sldId id="384" r:id="rId6"/>
    <p:sldId id="395" r:id="rId7"/>
    <p:sldId id="396" r:id="rId8"/>
    <p:sldId id="397" r:id="rId9"/>
  </p:sldIdLst>
  <p:sldSz cx="9144000" cy="5143500" type="screen16x9"/>
  <p:notesSz cx="6858000" cy="9144000"/>
  <p:custDataLst>
    <p:tags r:id="rId11"/>
  </p:custDataLst>
  <p:defaultTextStyle>
    <a:defPPr>
      <a:defRPr lang="zh-CN"/>
    </a:defPPr>
    <a:lvl1pPr marL="0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058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130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192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259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316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374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440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503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118" d="100"/>
          <a:sy n="118" d="100"/>
        </p:scale>
        <p:origin x="594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8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17AAB-FCBD-40B2-B028-268332E93037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03F446-A760-4077-983F-8A30C4399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467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" t="12301" r="1751" b="16008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0F58-3108-4415-857A-6D0360DF626E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85CE2-CEAD-46BB-861E-7D62265DC96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5133793" y="1806593"/>
            <a:ext cx="2945922" cy="303719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vert="horz" anchor="ctr">
            <a:noAutofit/>
          </a:bodyPr>
          <a:lstStyle>
            <a:lvl1pPr marL="0" indent="0" algn="ctr">
              <a:buNone/>
              <a:defRPr sz="1400" b="0">
                <a:solidFill>
                  <a:schemeClr val="tx1"/>
                </a:solidFill>
                <a:effectLst/>
                <a:latin typeface="+mn-ea"/>
                <a:ea typeface="+mn-ea"/>
              </a:defRPr>
            </a:lvl1pPr>
            <a:lvl2pPr marL="257175" indent="0" algn="ctr">
              <a:buNone/>
              <a:defRPr sz="1100"/>
            </a:lvl2pPr>
            <a:lvl3pPr marL="514350" indent="0" algn="ctr">
              <a:buNone/>
              <a:defRPr sz="1000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 dirty="0"/>
              <a:t>单击此处添加您的副标题</a:t>
            </a:r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4822164" y="983400"/>
            <a:ext cx="3727691" cy="805914"/>
          </a:xfrm>
        </p:spPr>
        <p:txBody>
          <a:bodyPr vert="horz" anchor="b">
            <a:noAutofit/>
          </a:bodyPr>
          <a:lstStyle>
            <a:lvl1pPr algn="ctr">
              <a:lnSpc>
                <a:spcPct val="100000"/>
              </a:lnSpc>
              <a:defRPr sz="2400" b="1" kern="1000" baseline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单击此处添加您的标题文字</a:t>
            </a:r>
          </a:p>
        </p:txBody>
      </p:sp>
    </p:spTree>
    <p:extLst>
      <p:ext uri="{BB962C8B-B14F-4D97-AF65-F5344CB8AC3E}">
        <p14:creationId xmlns:p14="http://schemas.microsoft.com/office/powerpoint/2010/main" val="489679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67">
          <p15:clr>
            <a:srgbClr val="FBAE40"/>
          </p15:clr>
        </p15:guide>
        <p15:guide id="0" orient="horz" pos="2160" userDrawn="1">
          <p15:clr>
            <a:srgbClr val="FBAE40"/>
          </p15:clr>
        </p15:guide>
        <p15:guide id="2" pos="662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200" b="1"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defRPr>
            </a:lvl1pPr>
            <a:lvl2pPr>
              <a:defRPr sz="1400" b="1">
                <a:latin typeface="+mj-ea"/>
                <a:ea typeface="+mj-ea"/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1050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1574008" y="1581152"/>
            <a:ext cx="5995988" cy="926306"/>
          </a:xfrm>
        </p:spPr>
        <p:txBody>
          <a:bodyPr anchor="b">
            <a:normAutofit/>
          </a:bodyPr>
          <a:lstStyle>
            <a:lvl1pPr algn="ctr">
              <a:defRPr sz="2000">
                <a:solidFill>
                  <a:schemeClr val="tx1">
                    <a:lumMod val="50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此处添加您的标题</a:t>
            </a:r>
            <a:endParaRPr lang="en-US" dirty="0"/>
          </a:p>
        </p:txBody>
      </p:sp>
      <p:sp>
        <p:nvSpPr>
          <p:cNvPr id="3" name="KSO_ST2"/>
          <p:cNvSpPr>
            <a:spLocks noGrp="1"/>
          </p:cNvSpPr>
          <p:nvPr>
            <p:ph type="body" idx="1" hasCustomPrompt="1"/>
          </p:nvPr>
        </p:nvSpPr>
        <p:spPr>
          <a:xfrm>
            <a:off x="3038171" y="2550318"/>
            <a:ext cx="3067663" cy="268109"/>
          </a:xfrm>
          <a:prstGeom prst="roundRect">
            <a:avLst>
              <a:gd name="adj" fmla="val 50000"/>
            </a:avLst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900">
                <a:solidFill>
                  <a:schemeClr val="tx1"/>
                </a:solidFill>
              </a:defRPr>
            </a:lvl1pPr>
            <a:lvl2pPr marL="25717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单击此处添加您的副标题</a:t>
            </a:r>
            <a:endParaRPr lang="en-US" altLang="zh-CN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3410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049867" y="933453"/>
            <a:ext cx="3810000" cy="369927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4889501" y="933453"/>
            <a:ext cx="3820587" cy="369927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907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727199" y="88899"/>
            <a:ext cx="6984076" cy="5377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4578" y="1032272"/>
            <a:ext cx="3868340" cy="617934"/>
          </a:xfrm>
        </p:spPr>
        <p:txBody>
          <a:bodyPr anchor="b">
            <a:normAutofit/>
          </a:bodyPr>
          <a:lstStyle>
            <a:lvl1pPr marL="0" indent="0">
              <a:buNone/>
              <a:defRPr sz="1000" b="1"/>
            </a:lvl1pPr>
            <a:lvl2pPr marL="257175" indent="0">
              <a:buNone/>
              <a:defRPr sz="1100" b="1"/>
            </a:lvl2pPr>
            <a:lvl3pPr marL="514350" indent="0">
              <a:buNone/>
              <a:defRPr sz="1000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824578" y="16502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3885" y="1032272"/>
            <a:ext cx="3887391" cy="617934"/>
          </a:xfrm>
        </p:spPr>
        <p:txBody>
          <a:bodyPr anchor="b">
            <a:normAutofit/>
          </a:bodyPr>
          <a:lstStyle>
            <a:lvl1pPr marL="0" indent="0">
              <a:buNone/>
              <a:defRPr sz="1000" b="1"/>
            </a:lvl1pPr>
            <a:lvl2pPr marL="257175" indent="0">
              <a:buNone/>
              <a:defRPr sz="1100" b="1"/>
            </a:lvl2pPr>
            <a:lvl3pPr marL="514350" indent="0">
              <a:buNone/>
              <a:defRPr sz="1000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4823885" y="16502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7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8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5082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4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767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3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798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858444" y="400052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4115992" y="797724"/>
            <a:ext cx="4629150" cy="3655219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858444" y="1600202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800"/>
            </a:lvl2pPr>
            <a:lvl3pPr marL="514350" indent="0">
              <a:buNone/>
              <a:defRPr sz="700"/>
            </a:lvl3pPr>
            <a:lvl4pPr marL="771525" indent="0">
              <a:buNone/>
              <a:defRPr sz="600"/>
            </a:lvl4pPr>
            <a:lvl5pPr marL="1028700" indent="0">
              <a:buNone/>
              <a:defRPr sz="600"/>
            </a:lvl5pPr>
            <a:lvl6pPr marL="1285875" indent="0">
              <a:buNone/>
              <a:defRPr sz="600"/>
            </a:lvl6pPr>
            <a:lvl7pPr marL="1543050" indent="0">
              <a:buNone/>
              <a:defRPr sz="600"/>
            </a:lvl7pPr>
            <a:lvl8pPr marL="1800225" indent="0">
              <a:buNone/>
              <a:defRPr sz="600"/>
            </a:lvl8pPr>
            <a:lvl9pPr marL="205740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2485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934644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 noChangeAspect="1"/>
          </p:cNvSpPr>
          <p:nvPr>
            <p:ph type="pic" idx="1"/>
          </p:nvPr>
        </p:nvSpPr>
        <p:spPr>
          <a:xfrm>
            <a:off x="4082125" y="740572"/>
            <a:ext cx="4629150" cy="3655219"/>
          </a:xfrm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600"/>
            </a:lvl2pPr>
            <a:lvl3pPr marL="514350" indent="0">
              <a:buNone/>
              <a:defRPr sz="1400"/>
            </a:lvl3pPr>
            <a:lvl4pPr marL="771525" indent="0">
              <a:buNone/>
              <a:defRPr sz="1100"/>
            </a:lvl4pPr>
            <a:lvl5pPr marL="1028700" indent="0">
              <a:buNone/>
              <a:defRPr sz="1100"/>
            </a:lvl5pPr>
            <a:lvl6pPr marL="1285875" indent="0">
              <a:buNone/>
              <a:defRPr sz="1100"/>
            </a:lvl6pPr>
            <a:lvl7pPr marL="1543050" indent="0">
              <a:buNone/>
              <a:defRPr sz="1100"/>
            </a:lvl7pPr>
            <a:lvl8pPr marL="1800225" indent="0">
              <a:buNone/>
              <a:defRPr sz="1100"/>
            </a:lvl8pPr>
            <a:lvl9pPr marL="2057400" indent="0">
              <a:buNone/>
              <a:defRPr sz="11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934644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800"/>
            </a:lvl2pPr>
            <a:lvl3pPr marL="514350" indent="0">
              <a:buNone/>
              <a:defRPr sz="700"/>
            </a:lvl3pPr>
            <a:lvl4pPr marL="771525" indent="0">
              <a:buNone/>
              <a:defRPr sz="600"/>
            </a:lvl4pPr>
            <a:lvl5pPr marL="1028700" indent="0">
              <a:buNone/>
              <a:defRPr sz="600"/>
            </a:lvl5pPr>
            <a:lvl6pPr marL="1285875" indent="0">
              <a:buNone/>
              <a:defRPr sz="600"/>
            </a:lvl6pPr>
            <a:lvl7pPr marL="1543050" indent="0">
              <a:buNone/>
              <a:defRPr sz="600"/>
            </a:lvl7pPr>
            <a:lvl8pPr marL="1800225" indent="0">
              <a:buNone/>
              <a:defRPr sz="600"/>
            </a:lvl8pPr>
            <a:lvl9pPr marL="205740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004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067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7628469" y="273844"/>
            <a:ext cx="886883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1585383" y="273844"/>
            <a:ext cx="5949952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963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4" t="26028" r="6166" b="4484"/>
          <a:stretch/>
        </p:blipFill>
        <p:spPr>
          <a:xfrm>
            <a:off x="-2" y="1753372"/>
            <a:ext cx="5924552" cy="3390128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2"/>
          </p:nvPr>
        </p:nvSpPr>
        <p:spPr>
          <a:xfrm>
            <a:off x="628650" y="483870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1FE7BD1D-B284-4506-85BF-D02BB5BA5E47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3"/>
          </p:nvPr>
        </p:nvSpPr>
        <p:spPr>
          <a:xfrm>
            <a:off x="3028950" y="483870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4"/>
          </p:nvPr>
        </p:nvSpPr>
        <p:spPr>
          <a:xfrm>
            <a:off x="6457950" y="483870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BC1"/>
          <p:cNvSpPr>
            <a:spLocks noGrp="1"/>
          </p:cNvSpPr>
          <p:nvPr>
            <p:ph type="body" idx="1"/>
          </p:nvPr>
        </p:nvSpPr>
        <p:spPr>
          <a:xfrm>
            <a:off x="854015" y="850107"/>
            <a:ext cx="7866654" cy="3825107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504826" y="160440"/>
            <a:ext cx="8215844" cy="597008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067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4" r:id="rId1"/>
    <p:sldLayoutId id="2147484095" r:id="rId2"/>
    <p:sldLayoutId id="2147484096" r:id="rId3"/>
    <p:sldLayoutId id="2147484097" r:id="rId4"/>
    <p:sldLayoutId id="2147484098" r:id="rId5"/>
    <p:sldLayoutId id="2147484099" r:id="rId6"/>
    <p:sldLayoutId id="2147484100" r:id="rId7"/>
    <p:sldLayoutId id="2147484101" r:id="rId8"/>
    <p:sldLayoutId id="2147484102" r:id="rId9"/>
    <p:sldLayoutId id="2147484103" r:id="rId10"/>
    <p:sldLayoutId id="2147484104" r:id="rId11"/>
  </p:sldLayoutIdLst>
  <p:txStyles>
    <p:titleStyle>
      <a:lvl1pPr algn="ctr" defTabSz="514350" rtl="0" eaLnBrk="1" latinLnBrk="0" hangingPunct="1">
        <a:lnSpc>
          <a:spcPct val="90000"/>
        </a:lnSpc>
        <a:spcBef>
          <a:spcPct val="0"/>
        </a:spcBef>
        <a:buNone/>
        <a:defRPr sz="2400" b="0" i="0" kern="1200" baseline="0">
          <a:solidFill>
            <a:schemeClr val="tx1">
              <a:lumMod val="50000"/>
            </a:schemeClr>
          </a:solidFill>
          <a:effectLst/>
          <a:latin typeface="+mj-ea"/>
          <a:ea typeface="+mj-ea"/>
          <a:cs typeface="+mj-cs"/>
        </a:defRPr>
      </a:lvl1pPr>
    </p:titleStyle>
    <p:bodyStyle>
      <a:lvl1pPr marL="271463" indent="-271463" algn="just" defTabSz="51435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accent2"/>
        </a:buClr>
        <a:buSzPct val="50000"/>
        <a:buFont typeface="Wingdings 2" panose="05020102010507070707" pitchFamily="18" charset="2"/>
        <a:buChar char=""/>
        <a:defRPr lang="zh-CN" altLang="en-US" sz="1800" b="1" kern="1200" baseline="0" dirty="0" smtClean="0">
          <a:solidFill>
            <a:schemeClr val="accent1"/>
          </a:solidFill>
          <a:latin typeface="+mn-ea"/>
          <a:ea typeface="+mn-ea"/>
          <a:cs typeface="+mn-cs"/>
        </a:defRPr>
      </a:lvl1pPr>
      <a:lvl2pPr marL="271463" indent="-271463" algn="just" defTabSz="514350" rtl="0" eaLnBrk="1" latinLnBrk="0" hangingPunct="1">
        <a:lnSpc>
          <a:spcPct val="120000"/>
        </a:lnSpc>
        <a:spcBef>
          <a:spcPts val="0"/>
        </a:spcBef>
        <a:spcAft>
          <a:spcPts val="9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400" b="0" kern="1200" baseline="0">
          <a:solidFill>
            <a:schemeClr val="tx1"/>
          </a:solidFill>
          <a:latin typeface="+mn-ea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23629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504" y="368964"/>
            <a:ext cx="89289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三、土方开挖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666155"/>
              </p:ext>
            </p:extLst>
          </p:nvPr>
        </p:nvGraphicFramePr>
        <p:xfrm>
          <a:off x="1043607" y="987575"/>
          <a:ext cx="7920881" cy="4032448"/>
        </p:xfrm>
        <a:graphic>
          <a:graphicData uri="http://schemas.openxmlformats.org/drawingml/2006/table">
            <a:tbl>
              <a:tblPr firstRow="1" firstCol="1" bandRow="1">
                <a:tableStyleId>{22838BEF-8BB2-4498-84A7-C5851F593DF1}</a:tableStyleId>
              </a:tblPr>
              <a:tblGrid>
                <a:gridCol w="770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6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12984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土方开挖</a:t>
                      </a:r>
                    </a:p>
                  </a:txBody>
                  <a:tcPr marL="42184" marR="4218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方案确定</a:t>
                      </a:r>
                    </a:p>
                  </a:txBody>
                  <a:tcPr marL="42184" marR="4218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应考虑</a:t>
                      </a: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土方量、土方运距、土方施工顺序、地质条件等因素，进行土方平衡和调配。</a:t>
                      </a:r>
                    </a:p>
                  </a:txBody>
                  <a:tcPr marL="42184" marR="42184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64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原则</a:t>
                      </a:r>
                    </a:p>
                  </a:txBody>
                  <a:tcPr marL="42184" marR="4218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开槽支撑，先撑后挖，分层开挖，严禁超挖</a:t>
                      </a: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。</a:t>
                      </a:r>
                    </a:p>
                  </a:txBody>
                  <a:tcPr marL="42184" marR="42184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64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基本要求</a:t>
                      </a:r>
                    </a:p>
                  </a:txBody>
                  <a:tcPr marL="42184" marR="4218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严禁</a:t>
                      </a: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在基坑（槽）及建（构）筑物周边</a:t>
                      </a:r>
                      <a:r>
                        <a:rPr lang="zh-CN" sz="2000" b="1" kern="1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影响范围内</a:t>
                      </a: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堆放土方。</a:t>
                      </a:r>
                    </a:p>
                  </a:txBody>
                  <a:tcPr marL="42184" marR="42184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64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基坑边界周围地面应设排水沟，对坡顶、坡面、坡脚</a:t>
                      </a:r>
                      <a:r>
                        <a:rPr lang="zh-CN" sz="2000" b="1" kern="1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采取降排水措施</a:t>
                      </a: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。</a:t>
                      </a:r>
                    </a:p>
                  </a:txBody>
                  <a:tcPr marL="42184" marR="42184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3219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23629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504" y="368964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（一）浅基坑的开挖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54867"/>
              </p:ext>
            </p:extLst>
          </p:nvPr>
        </p:nvGraphicFramePr>
        <p:xfrm>
          <a:off x="1043607" y="915564"/>
          <a:ext cx="7992889" cy="4104460"/>
        </p:xfrm>
        <a:graphic>
          <a:graphicData uri="http://schemas.openxmlformats.org/drawingml/2006/table">
            <a:tbl>
              <a:tblPr firstRow="1" firstCol="1" bandRow="1">
                <a:tableStyleId>{16D9F66E-5EB9-4882-86FB-DCBF35E3C3E4}</a:tableStyleId>
              </a:tblPr>
              <a:tblGrid>
                <a:gridCol w="338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3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4076">
                <a:tc rowSpan="8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浅基坑开挖</a:t>
                      </a:r>
                    </a:p>
                  </a:txBody>
                  <a:tcPr marL="54131" marR="54131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）相邻基坑开挖时，应遵循</a:t>
                      </a:r>
                      <a:r>
                        <a:rPr lang="zh-CN" sz="2000" b="1" kern="1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先深后浅或同时进行</a:t>
                      </a: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的施工程序；挖土应</a:t>
                      </a:r>
                      <a:r>
                        <a:rPr lang="zh-CN" sz="2000" b="1" kern="1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自上而下、水平分段分层</a:t>
                      </a: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进行；</a:t>
                      </a:r>
                    </a:p>
                  </a:txBody>
                  <a:tcPr marL="54131" marR="54131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3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）基坑开挖应尽量</a:t>
                      </a:r>
                      <a:r>
                        <a:rPr lang="zh-CN" sz="2000" b="1" kern="1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防止对地基土的扰动</a:t>
                      </a: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。</a:t>
                      </a:r>
                    </a:p>
                  </a:txBody>
                  <a:tcPr marL="54131" marR="54131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3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人工挖土：</a:t>
                      </a:r>
                      <a:r>
                        <a:rPr lang="zh-CN" sz="2000" b="1" kern="1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应预留</a:t>
                      </a: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150</a:t>
                      </a:r>
                      <a:r>
                        <a:rPr lang="zh-CN" sz="2000" b="1" kern="1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300mm</a:t>
                      </a: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，待下道工序开始再挖至设计标高。</a:t>
                      </a:r>
                    </a:p>
                  </a:txBody>
                  <a:tcPr marL="54131" marR="54131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3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机械开挖：应预留</a:t>
                      </a:r>
                      <a:r>
                        <a:rPr lang="en-US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200</a:t>
                      </a:r>
                      <a:r>
                        <a:rPr lang="zh-CN" sz="2000" b="1" kern="1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300mm </a:t>
                      </a:r>
                      <a:r>
                        <a:rPr lang="zh-CN" sz="2000" b="1" kern="1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厚土层人工挖除</a:t>
                      </a: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。</a:t>
                      </a:r>
                    </a:p>
                  </a:txBody>
                  <a:tcPr marL="54131" marR="54131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03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）在地下水位以下挖土，将水位降低至</a:t>
                      </a:r>
                      <a:r>
                        <a:rPr lang="zh-CN" sz="2000" b="1" kern="1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坑底以下</a:t>
                      </a: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500mm</a:t>
                      </a: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。</a:t>
                      </a:r>
                    </a:p>
                  </a:txBody>
                  <a:tcPr marL="54131" marR="54131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407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）雨期施工时，基坑应分段开挖，采取有效的截排水措施；</a:t>
                      </a:r>
                      <a:r>
                        <a:rPr lang="zh-CN" sz="2000" b="1" kern="1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防止坑壁受水浸泡</a:t>
                      </a: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，造成塌方。</a:t>
                      </a:r>
                    </a:p>
                  </a:txBody>
                  <a:tcPr marL="54131" marR="54131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407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）应对平面控制桩、水准点、平面位置、水平标高、边坡坡度、排水、降水系统等经常</a:t>
                      </a:r>
                      <a:r>
                        <a:rPr lang="zh-CN" sz="2000" b="1" kern="1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复测检查</a:t>
                      </a: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。</a:t>
                      </a:r>
                    </a:p>
                  </a:txBody>
                  <a:tcPr marL="54131" marR="54131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407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）基坑挖完后应进行</a:t>
                      </a:r>
                      <a:r>
                        <a:rPr lang="zh-CN" sz="2000" b="1" kern="1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验槽</a:t>
                      </a: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，如发现地基土质与地质勘察报告、设计要求不符时，应与有关人员研究及时处理。</a:t>
                      </a:r>
                    </a:p>
                  </a:txBody>
                  <a:tcPr marL="54131" marR="54131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3219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23629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504" y="368964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（二）深基坑的土方开挖（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专家论证</a:t>
            </a:r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710809"/>
              </p:ext>
            </p:extLst>
          </p:nvPr>
        </p:nvGraphicFramePr>
        <p:xfrm>
          <a:off x="1043607" y="915567"/>
          <a:ext cx="7992889" cy="4104454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485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7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12102">
                <a:tc rowSpan="7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深基坑开挖</a:t>
                      </a:r>
                    </a:p>
                  </a:txBody>
                  <a:tcPr marL="54131" marR="54131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）主要有</a:t>
                      </a:r>
                      <a:r>
                        <a:rPr lang="zh-CN" sz="1700" b="1" kern="1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放坡挖土、中心岛式（也称墩式）挖土、盆式挖土和逆作法挖土。后三种皆有支护结构</a:t>
                      </a: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。</a:t>
                      </a:r>
                    </a:p>
                  </a:txBody>
                  <a:tcPr marL="54131" marR="54131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05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）分层厚度宜控制在</a:t>
                      </a:r>
                      <a:r>
                        <a:rPr lang="en-US" sz="1700" b="1" kern="1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3m</a:t>
                      </a: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以内。</a:t>
                      </a:r>
                    </a:p>
                  </a:txBody>
                  <a:tcPr marL="54131" marR="54131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05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）多级放坡开挖时，坡间平台宽度</a:t>
                      </a:r>
                      <a:r>
                        <a:rPr lang="zh-CN" sz="1700" b="1" kern="1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≥</a:t>
                      </a:r>
                      <a:r>
                        <a:rPr lang="en-US" sz="1700" b="1" kern="1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3m</a:t>
                      </a: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。</a:t>
                      </a:r>
                    </a:p>
                  </a:txBody>
                  <a:tcPr marL="54131" marR="54131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05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）边坡防护可用</a:t>
                      </a:r>
                      <a:r>
                        <a:rPr lang="zh-CN" sz="1700" b="1" kern="1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水泥砂浆、挂网砂浆、混凝土、钢筋砼</a:t>
                      </a: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等。</a:t>
                      </a:r>
                    </a:p>
                  </a:txBody>
                  <a:tcPr marL="54131" marR="54131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05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7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7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r>
                        <a:rPr lang="zh-CN" sz="17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）防止桩位移和倾斜。</a:t>
                      </a:r>
                    </a:p>
                  </a:txBody>
                  <a:tcPr marL="54131" marR="54131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05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）采用土钉墙支护的基坑开挖应分层分段进行，每层分段长度</a:t>
                      </a:r>
                      <a:r>
                        <a:rPr lang="zh-CN" sz="1700" b="1" kern="1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不宜</a:t>
                      </a:r>
                      <a:r>
                        <a:rPr lang="en-US" sz="1700" b="1" kern="1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&gt;30m</a:t>
                      </a: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。</a:t>
                      </a:r>
                    </a:p>
                  </a:txBody>
                  <a:tcPr marL="54131" marR="54131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1210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</a:t>
                      </a: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）采用</a:t>
                      </a:r>
                      <a:r>
                        <a:rPr lang="zh-CN" sz="1700" b="1" kern="1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逆作法的开挖</a:t>
                      </a: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时，宜采用盆式开挖，先形成中部结构，再分块、对称、限时开挖周边土方和施工主体结构。</a:t>
                      </a:r>
                    </a:p>
                  </a:txBody>
                  <a:tcPr marL="54131" marR="54131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3219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23629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948" y="30410"/>
            <a:ext cx="6180356" cy="2491956"/>
          </a:xfrm>
          <a:prstGeom prst="rect">
            <a:avLst/>
          </a:prstGeo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522366"/>
            <a:ext cx="3384376" cy="2569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2523214"/>
            <a:ext cx="4680520" cy="2568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2098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23629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504" y="368964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（三）岩石基坑开挖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737144"/>
              </p:ext>
            </p:extLst>
          </p:nvPr>
        </p:nvGraphicFramePr>
        <p:xfrm>
          <a:off x="1043607" y="915567"/>
          <a:ext cx="7992889" cy="4104454"/>
        </p:xfrm>
        <a:graphic>
          <a:graphicData uri="http://schemas.openxmlformats.org/drawingml/2006/table">
            <a:tbl>
              <a:tblPr firstRow="1" firstCol="1" bandRow="1">
                <a:tableStyleId>{8A107856-5554-42FB-B03E-39F5DBC370BA}</a:tableStyleId>
              </a:tblPr>
              <a:tblGrid>
                <a:gridCol w="558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34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12101">
                <a:tc rowSpan="5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岩石基坑开挖</a:t>
                      </a:r>
                    </a:p>
                  </a:txBody>
                  <a:tcPr marL="54131" marR="54131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</a:t>
                      </a:r>
                      <a:r>
                        <a:rPr lang="zh-CN" sz="1700" b="1" kern="1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根据工程地质与水文地质条件、周边环境保护要求、支护形式等情况，选择合理的开挖顺序和开挖方式</a:t>
                      </a: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。</a:t>
                      </a:r>
                    </a:p>
                  </a:txBody>
                  <a:tcPr marL="54131" marR="54131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10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7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7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zh-CN" sz="17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）应采取分层分段的开挖方法，遇不良地质、不稳定或欠稳定的基坑，应采取分层分段间隔开挖的方法，并限时完成支护。</a:t>
                      </a:r>
                    </a:p>
                  </a:txBody>
                  <a:tcPr marL="54131" marR="54131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210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7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7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lang="zh-CN" sz="17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）宜采用爆破法，强风化的硬质岩石和中风化的软质岩石，在现场试验满足的条件下，也可采用机械开挖方式。</a:t>
                      </a:r>
                    </a:p>
                  </a:txBody>
                  <a:tcPr marL="54131" marR="54131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05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7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7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r>
                        <a:rPr lang="zh-CN" sz="17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）爆破开挖宜先在基坑中间开槽爆破，再向基坑周边进行台阶式爆破开挖。</a:t>
                      </a:r>
                    </a:p>
                  </a:txBody>
                  <a:tcPr marL="54131" marR="54131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210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）周边环境保护要求较高的基坑，基坑爆破开挖应采取静力爆破等控制振动、冲击波、飞石的爆破方式。</a:t>
                      </a:r>
                    </a:p>
                  </a:txBody>
                  <a:tcPr marL="54131" marR="54131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4567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23629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504" y="368964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（四）土方开挖工程质量检验标准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830629"/>
            <a:ext cx="8928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u="sng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《</a:t>
            </a:r>
            <a:r>
              <a:rPr lang="zh-CN" altLang="en-US" sz="2000" b="1" u="sng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建筑地基基础工程施工质量验收标准</a:t>
            </a:r>
            <a:r>
              <a:rPr lang="en-US" altLang="zh-CN" sz="2000" b="1" u="sng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》</a:t>
            </a:r>
            <a:r>
              <a:rPr lang="zh-CN" altLang="en-US" sz="2000" b="1" u="sng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</a:t>
            </a:r>
            <a:r>
              <a:rPr lang="en-US" altLang="zh-CN" sz="2000" b="1" u="sng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GB 50202-2018</a:t>
            </a:r>
            <a:r>
              <a:rPr lang="zh-CN" altLang="en-US" sz="2000" b="1" u="sng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020" y="1230739"/>
            <a:ext cx="7975476" cy="386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097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23629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30410"/>
            <a:ext cx="7992888" cy="5061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751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23629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579" y="368964"/>
            <a:ext cx="7776863" cy="472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339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LIBID_PRE" val="13076"/>
  <p:tag name="MH_CONTENTSID" val="264"/>
  <p:tag name="MH_SECTIONID" val="265,"/>
</p:tagLst>
</file>

<file path=ppt/theme/theme1.xml><?xml version="1.0" encoding="utf-8"?>
<a:theme xmlns:a="http://schemas.openxmlformats.org/drawingml/2006/main" name="A000120140530A99PPBG">
  <a:themeElements>
    <a:clrScheme name="KSO_BLUE9">
      <a:dk1>
        <a:srgbClr val="47494B"/>
      </a:dk1>
      <a:lt1>
        <a:srgbClr val="FFFFFF"/>
      </a:lt1>
      <a:dk2>
        <a:srgbClr val="454749"/>
      </a:dk2>
      <a:lt2>
        <a:srgbClr val="EAF5FC"/>
      </a:lt2>
      <a:accent1>
        <a:srgbClr val="046FB6"/>
      </a:accent1>
      <a:accent2>
        <a:srgbClr val="22B1DE"/>
      </a:accent2>
      <a:accent3>
        <a:srgbClr val="7B93D7"/>
      </a:accent3>
      <a:accent4>
        <a:srgbClr val="5D76BA"/>
      </a:accent4>
      <a:accent5>
        <a:srgbClr val="3DBFD1"/>
      </a:accent5>
      <a:accent6>
        <a:srgbClr val="FFC000"/>
      </a:accent6>
      <a:hlink>
        <a:srgbClr val="00B0F0"/>
      </a:hlink>
      <a:folHlink>
        <a:srgbClr val="AFB2B4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636869495982041620</Template>
  <TotalTime>3354</TotalTime>
  <Words>681</Words>
  <Application>Microsoft Office PowerPoint</Application>
  <PresentationFormat>全屏显示(16:9)</PresentationFormat>
  <Paragraphs>45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黑体</vt:lpstr>
      <vt:lpstr>华文行楷</vt:lpstr>
      <vt:lpstr>微软雅黑</vt:lpstr>
      <vt:lpstr>幼圆</vt:lpstr>
      <vt:lpstr>Arial</vt:lpstr>
      <vt:lpstr>Calibri</vt:lpstr>
      <vt:lpstr>Franklin Gothic Book</vt:lpstr>
      <vt:lpstr>Times New Roman</vt:lpstr>
      <vt:lpstr>Wingdings 2</vt:lpstr>
      <vt:lpstr>A000120140530A99PPBG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509</cp:revision>
  <dcterms:created xsi:type="dcterms:W3CDTF">2019-02-28T02:56:41Z</dcterms:created>
  <dcterms:modified xsi:type="dcterms:W3CDTF">2026-02-28T07:14:10Z</dcterms:modified>
</cp:coreProperties>
</file>